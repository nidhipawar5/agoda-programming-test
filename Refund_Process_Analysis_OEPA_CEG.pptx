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Good morning everyone. I'm going to walk you through a 10-minute analysis of our refund process — specifically, where it's losing us time and customer satisfaction, and the three changes that will fix the majority of it. I want to be direct: this is not a problem statement presentation. It's a decision presentation. By the end I'll ask for your approval on one specific action.</a:t>
            </a:r>
            <a:endParaRPr/>
          </a:p>
        </p:txBody>
      </p:sp>
      <p:sp>
        <p:nvSpPr>
          <p:cNvPr id="83" name="Google Shape;8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en-US"/>
              <a:t>Here is the full picture in one slide so you can see where I'm going. I looked at 5,000 refund cases. I found 12 process gaps. But only three of them are worth acting on right now.</a:t>
            </a:r>
            <a:endParaRPr/>
          </a:p>
          <a:p>
            <a:pPr indent="0" lvl="0" marL="381000" marR="381000" rtl="0" algn="l">
              <a:lnSpc>
                <a:spcPct val="115000"/>
              </a:lnSpc>
              <a:spcBef>
                <a:spcPts val="1200"/>
              </a:spcBef>
              <a:spcAft>
                <a:spcPts val="0"/>
              </a:spcAft>
              <a:buClr>
                <a:schemeClr val="dk1"/>
              </a:buClr>
              <a:buSzPts val="1100"/>
              <a:buFont typeface="Arial"/>
              <a:buNone/>
            </a:pPr>
            <a:r>
              <a:rPr lang="en-US"/>
              <a:t>The most striking number is this: $771,000 in booking value is being processed through a non-refundable exception path that has no rules, no governance, and no audit trail. Every one of those 763 approvals is an agent making a judgment call with no framework.</a:t>
            </a:r>
            <a:endParaRPr/>
          </a:p>
          <a:p>
            <a:pPr indent="0" lvl="0" marL="381000" marR="381000" rtl="0" algn="l">
              <a:lnSpc>
                <a:spcPct val="115000"/>
              </a:lnSpc>
              <a:spcBef>
                <a:spcPts val="1200"/>
              </a:spcBef>
              <a:spcAft>
                <a:spcPts val="0"/>
              </a:spcAft>
              <a:buClr>
                <a:schemeClr val="dk1"/>
              </a:buClr>
              <a:buSzPts val="1100"/>
              <a:buFont typeface="Arial"/>
              <a:buNone/>
            </a:pPr>
            <a:r>
              <a:rPr lang="en-US"/>
              <a:t>The three optimizations I'll recommend today would collectively save around 167,000 agent-minutes per year — that's equivalent to roughly one full-time agent freed from manual work — while eliminating every single SLA breach we currently have.</a:t>
            </a:r>
            <a:endParaRPr/>
          </a:p>
          <a:p>
            <a:pPr indent="0" lvl="0" marL="0" rtl="0" algn="l">
              <a:spcBef>
                <a:spcPts val="1200"/>
              </a:spcBef>
              <a:spcAft>
                <a:spcPts val="0"/>
              </a:spcAft>
              <a:buNone/>
            </a:pPr>
            <a:r>
              <a:t/>
            </a:r>
            <a:endParaRPr/>
          </a:p>
        </p:txBody>
      </p:sp>
      <p:sp>
        <p:nvSpPr>
          <p:cNvPr id="93" name="Google Shape;9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en-US"/>
              <a:t>There are actually two completely different refund journeys happening inside the same process. The left side — refundable bookings — is simple. Every case is approved, customers are happy at 4.22 out of 5, and cases close in about 25 minutes. The right side — non-refundable — is the problem. Three-quarters are denied, CSAT drops to 2.41, and average resolution takes 73 minutes.</a:t>
            </a:r>
            <a:endParaRPr/>
          </a:p>
          <a:p>
            <a:pPr indent="0" lvl="0" marL="381000" marR="381000" rtl="0" algn="l">
              <a:lnSpc>
                <a:spcPct val="115000"/>
              </a:lnSpc>
              <a:spcBef>
                <a:spcPts val="1200"/>
              </a:spcBef>
              <a:spcAft>
                <a:spcPts val="0"/>
              </a:spcAft>
              <a:buClr>
                <a:schemeClr val="dk1"/>
              </a:buClr>
              <a:buSzPts val="1100"/>
              <a:buFont typeface="Arial"/>
              <a:buNone/>
            </a:pPr>
            <a:r>
              <a:rPr lang="en-US"/>
              <a:t>The channel table at the bottom tells the second half of the story. Chat resolves a case in 10 minutes. Email takes 90 minutes — nine times longer. And critically, every single SLA breach we have — all 403 of them — are email cases. Zero SLA breaches on chat, voice, or messaging.</a:t>
            </a:r>
            <a:endParaRPr/>
          </a:p>
          <a:p>
            <a:pPr indent="0" lvl="0" marL="0" rtl="0" algn="l">
              <a:spcBef>
                <a:spcPts val="1200"/>
              </a:spcBef>
              <a:spcAft>
                <a:spcPts val="0"/>
              </a:spcAft>
              <a:buNone/>
            </a:pPr>
            <a:r>
              <a:t/>
            </a:r>
            <a:endParaRPr/>
          </a:p>
        </p:txBody>
      </p:sp>
      <p:sp>
        <p:nvSpPr>
          <p:cNvPr id="128" name="Google Shape;12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en-US"/>
              <a:t>There are four high-criticality problems and I want to call out two specifically.</a:t>
            </a:r>
            <a:endParaRPr/>
          </a:p>
          <a:p>
            <a:pPr indent="0" lvl="0" marL="381000" marR="381000" rtl="0" algn="l">
              <a:lnSpc>
                <a:spcPct val="115000"/>
              </a:lnSpc>
              <a:spcBef>
                <a:spcPts val="1200"/>
              </a:spcBef>
              <a:spcAft>
                <a:spcPts val="0"/>
              </a:spcAft>
              <a:buClr>
                <a:schemeClr val="dk1"/>
              </a:buClr>
              <a:buSzPts val="1100"/>
              <a:buFont typeface="Arial"/>
              <a:buNone/>
            </a:pPr>
            <a:r>
              <a:rPr lang="en-US"/>
              <a:t>H1: We have 1,762 refundable cases that are manually reviewed by an agent. Every single one is approved. Every. Single. One. That's 35% of our total volume consuming 43,500 agent-minutes per year to rubber-stamp something the system already knows the answer to.</a:t>
            </a:r>
            <a:endParaRPr/>
          </a:p>
          <a:p>
            <a:pPr indent="0" lvl="0" marL="381000" marR="381000" rtl="0" algn="l">
              <a:lnSpc>
                <a:spcPct val="115000"/>
              </a:lnSpc>
              <a:spcBef>
                <a:spcPts val="1200"/>
              </a:spcBef>
              <a:spcAft>
                <a:spcPts val="0"/>
              </a:spcAft>
              <a:buClr>
                <a:schemeClr val="dk1"/>
              </a:buClr>
              <a:buSzPts val="1100"/>
              <a:buFont typeface="Arial"/>
              <a:buNone/>
            </a:pPr>
            <a:r>
              <a:rPr lang="en-US"/>
              <a:t>H3: We have 763 non-refundable exceptions approved with no rule engine. That's $122,000 in margin governed by individual agent judgment. Some agents approve family emergencies 75% of the time. Others approve the same reason 50% of the time. There is no consistency, and there is no audit trail.</a:t>
            </a:r>
            <a:endParaRPr/>
          </a:p>
          <a:p>
            <a:pPr indent="0" lvl="0" marL="381000" marR="381000" rtl="0" algn="l">
              <a:lnSpc>
                <a:spcPct val="115000"/>
              </a:lnSpc>
              <a:spcBef>
                <a:spcPts val="1200"/>
              </a:spcBef>
              <a:spcAft>
                <a:spcPts val="0"/>
              </a:spcAft>
              <a:buClr>
                <a:schemeClr val="dk1"/>
              </a:buClr>
              <a:buSzPts val="1100"/>
              <a:buFont typeface="Arial"/>
              <a:buNone/>
            </a:pPr>
            <a:r>
              <a:rPr lang="en-US"/>
              <a:t>H4 is why this matters to the customer: denied cases score 2.23 out of 5. Approved cases score 3.84. That's a 1.6-point gap. Customers who hit the refund process and get denied are among our most dissatisfied. That's a churn risk.</a:t>
            </a:r>
            <a:endParaRPr/>
          </a:p>
          <a:p>
            <a:pPr indent="0" lvl="0" marL="0" rtl="0" algn="l">
              <a:spcBef>
                <a:spcPts val="1200"/>
              </a:spcBef>
              <a:spcAft>
                <a:spcPts val="0"/>
              </a:spcAft>
              <a:buNone/>
            </a:pPr>
            <a:r>
              <a:t/>
            </a:r>
            <a:endParaRPr/>
          </a:p>
        </p:txBody>
      </p:sp>
      <p:sp>
        <p:nvSpPr>
          <p:cNvPr id="216" name="Google Shape;21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The medium criticality issues are worth acknowledging briefly. M4 is perhaps the most revealing: our FCRT has ranged between 53 and 61 minutes over the entire 12-month dataset with no downward trend. The process is stable — but it is stably broken. Nothing we're currently doing is improving it. That is the baseline we're trying to move.</a:t>
            </a:r>
            <a:endParaRPr/>
          </a:p>
        </p:txBody>
      </p:sp>
      <p:sp>
        <p:nvSpPr>
          <p:cNvPr id="243" name="Google Shape;24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For completeness: our regions, shifts, and loyalty tiers all perform within a 3-minute FCRT range of each other. These are not process bottlenecks. I'm flagging them so you know we looked — and so I can come back to loyalty in a moment with a different angle.</a:t>
            </a:r>
            <a:endParaRPr/>
          </a:p>
        </p:txBody>
      </p:sp>
      <p:sp>
        <p:nvSpPr>
          <p:cNvPr id="270" name="Google Shape;27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en-US"/>
              <a:t>The first optimization is the simplest thing we could possibly do: a single rule. If the cancellation policy is refundable, approve and process. No agent needed. This eliminates 43,500 agent-minutes per year on day one. No new technology, no training, no risk. Current CSAT for these cases is 4.22 — instant resolution will push that above 4.8. Estimated agent cost savings are around $36,000 annually at standard fully-loaded rates.</a:t>
            </a:r>
            <a:endParaRPr/>
          </a:p>
          <a:p>
            <a:pPr indent="0" lvl="0" marL="381000" marR="381000" rtl="0" algn="l">
              <a:lnSpc>
                <a:spcPct val="115000"/>
              </a:lnSpc>
              <a:spcBef>
                <a:spcPts val="1200"/>
              </a:spcBef>
              <a:spcAft>
                <a:spcPts val="0"/>
              </a:spcAft>
              <a:buClr>
                <a:schemeClr val="dk1"/>
              </a:buClr>
              <a:buSzPts val="1100"/>
              <a:buFont typeface="Arial"/>
              <a:buNone/>
            </a:pPr>
            <a:r>
              <a:rPr lang="en-US"/>
              <a:t>Optimization two is the structural fix for email. Our 838 email non-refundable cases take 119 minutes on average to resolve. The benchmark from our own chat channel is 10 minutes. Migrating these to a chat-based decision-tree bot saves approximately 87,000 agent-minutes per year and eliminates all 403 SLA breaches — 100% of them. Every breach we have today is an email non-refundable case. Fix the channel, fix the SLA.</a:t>
            </a:r>
            <a:endParaRPr/>
          </a:p>
          <a:p>
            <a:pPr indent="0" lvl="0" marL="0" rtl="0" algn="l">
              <a:spcBef>
                <a:spcPts val="1200"/>
              </a:spcBef>
              <a:spcAft>
                <a:spcPts val="0"/>
              </a:spcAft>
              <a:buNone/>
            </a:pPr>
            <a:r>
              <a:t/>
            </a:r>
            <a:endParaRPr/>
          </a:p>
        </p:txBody>
      </p:sp>
      <p:sp>
        <p:nvSpPr>
          <p:cNvPr id="298" name="Google Shape;29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en-US"/>
              <a:t>The third optimization is the most complex but also the most strategically important. Of the 763 non-refundable exception approvals we process manually, 575 of them — about 75% — follow completely predictable patterns. Medical emergencies, family emergencies, illness, weather cancellations, and hotel closures. These five reasons account for the vast majority of our exception approvals.</a:t>
            </a:r>
            <a:endParaRPr/>
          </a:p>
          <a:p>
            <a:pPr indent="0" lvl="0" marL="381000" marR="381000" rtl="0" algn="l">
              <a:lnSpc>
                <a:spcPct val="115000"/>
              </a:lnSpc>
              <a:spcBef>
                <a:spcPts val="1200"/>
              </a:spcBef>
              <a:spcAft>
                <a:spcPts val="0"/>
              </a:spcAft>
              <a:buClr>
                <a:schemeClr val="dk1"/>
              </a:buClr>
              <a:buSzPts val="1100"/>
              <a:buFont typeface="Arial"/>
              <a:buNone/>
            </a:pPr>
            <a:r>
              <a:rPr lang="en-US"/>
              <a:t>The solution is a decision engine: if a customer provides a verified document that matches one of these five categories, the system approves automatically. No agent, 15-minute resolution instead of 74. The remaining 268 edge cases go to an agent with full context pre-loaded.</a:t>
            </a:r>
            <a:endParaRPr/>
          </a:p>
          <a:p>
            <a:pPr indent="0" lvl="0" marL="381000" marR="381000" rtl="0" algn="l">
              <a:lnSpc>
                <a:spcPct val="115000"/>
              </a:lnSpc>
              <a:spcBef>
                <a:spcPts val="1200"/>
              </a:spcBef>
              <a:spcAft>
                <a:spcPts val="0"/>
              </a:spcAft>
              <a:buClr>
                <a:schemeClr val="dk1"/>
              </a:buClr>
              <a:buSzPts val="1100"/>
              <a:buFont typeface="Arial"/>
              <a:buNone/>
            </a:pPr>
            <a:r>
              <a:rPr lang="en-US"/>
              <a:t>The table here shows exactly what documents each rule requires. Family and medical cases need certificates. Weather is cross-referenced against government advisories. Hotel closures require supplier confirmation. This is not guesswork — it is codifying what good agents are already doing, but consistently, every time.</a:t>
            </a:r>
            <a:endParaRPr/>
          </a:p>
          <a:p>
            <a:pPr indent="0" lvl="0" marL="0" rtl="0" algn="l">
              <a:spcBef>
                <a:spcPts val="1200"/>
              </a:spcBef>
              <a:spcAft>
                <a:spcPts val="0"/>
              </a:spcAft>
              <a:buNone/>
            </a:pPr>
            <a:r>
              <a:t/>
            </a:r>
            <a:endParaRPr/>
          </a:p>
        </p:txBody>
      </p:sp>
      <p:sp>
        <p:nvSpPr>
          <p:cNvPr id="335" name="Google Shape;33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I want to address why these three and not others. The matrix here plots every option on impact versus implementation effort. Our three selections sit in the top half — high impact — with moderate or low effort. </a:t>
            </a:r>
            <a:br>
              <a:rPr lang="en-US"/>
            </a:br>
            <a:br>
              <a:rPr lang="en-US"/>
            </a:br>
            <a:r>
              <a:rPr lang="en-US"/>
              <a:t>The things we are explicitly not doing: loyalty SLA differentiation has less than a 3-minute FCRT gap between tiers — the engineering cost exceeds the benefit. Voice deflection we are not pursuing because voice actually has strong CSAT at 3.26 — customers who call prefer to call. We should not force them out of a channel they're satisfied with.</a:t>
            </a:r>
            <a:endParaRPr/>
          </a:p>
        </p:txBody>
      </p:sp>
      <p:sp>
        <p:nvSpPr>
          <p:cNvPr id="431" name="Google Shape;43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I want to be transparent about the risks.</a:t>
            </a:r>
            <a:br>
              <a:rPr lang="en-US"/>
            </a:br>
            <a:r>
              <a:rPr lang="en-US">
                <a:solidFill>
                  <a:schemeClr val="dk1"/>
                </a:solidFill>
              </a:rPr>
              <a:t>Three things I anticipate as questions.</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US">
                <a:solidFill>
                  <a:schemeClr val="dk1"/>
                </a:solidFill>
              </a:rPr>
              <a:t>One: fraud on the NR engine. If we auto-approve anyone who uploads a document, people will upload fake documents. Our mitigation: third-party document verification via OCR, cross-reference weather claims against government APIs, and a velocity cap — no customer gets more than three compassionate approvals in a year. Plus a 5% random audit that auto-pauses the engine if it detects anomalies.</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US">
                <a:solidFill>
                  <a:schemeClr val="dk1"/>
                </a:solidFill>
              </a:rPr>
              <a:t>Two: why is email slow? The data tells us clearly — email agents work </a:t>
            </a:r>
            <a:r>
              <a:rPr i="1" lang="en-US">
                <a:solidFill>
                  <a:schemeClr val="dk1"/>
                </a:solidFill>
              </a:rPr>
              <a:t>less</a:t>
            </a:r>
            <a:r>
              <a:rPr lang="en-US">
                <a:solidFill>
                  <a:schemeClr val="dk1"/>
                </a:solidFill>
              </a:rPr>
              <a:t> time per case than voice agents do (13.9 min vs 18.1 min AHT). The delay is structural: it's the time between messages, not agent performance. Before full migration, I'd recommend a 2-week tooling audit to confirm this is async, not a system issue.</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US">
                <a:solidFill>
                  <a:schemeClr val="dk1"/>
                </a:solidFill>
              </a:rPr>
              <a:t>Three: CSAT ceiling. Even with instant approval, the money takes 5–7 days to reach the customer's bank. Our CSAT measures the interaction, not the funds arrival. We should add proactive refund status SMS at day 1, 3, and 7. Industry data suggests this adds 0.3 CSAT points.</a:t>
            </a:r>
            <a:endParaRPr>
              <a:solidFill>
                <a:schemeClr val="dk1"/>
              </a:solidFill>
            </a:endParaRPr>
          </a:p>
          <a:p>
            <a:pPr indent="0" lvl="0" marL="0" rtl="0" algn="l">
              <a:spcBef>
                <a:spcPts val="1200"/>
              </a:spcBef>
              <a:spcAft>
                <a:spcPts val="0"/>
              </a:spcAft>
              <a:buNone/>
            </a:pPr>
            <a:r>
              <a:t/>
            </a:r>
            <a:endParaRPr/>
          </a:p>
        </p:txBody>
      </p:sp>
      <p:sp>
        <p:nvSpPr>
          <p:cNvPr id="539" name="Google Shape;53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en-US"/>
              <a:t>One more reframe before I close. Loyalty differentiation was rated low criticality because the FCRT gap between tiers is only 2–3 minutes. But consider what's actually at stake. A Platinum member isn't just risking a $200 booking — they're at risk of walking away from an estimated $10,000 in annual spend. The cost of a bad experience is 50 times higher for a Platinum customer than for a Bronze one.</a:t>
            </a:r>
            <a:endParaRPr/>
          </a:p>
          <a:p>
            <a:pPr indent="0" lvl="0" marL="381000" marR="381000" rtl="0" algn="l">
              <a:lnSpc>
                <a:spcPct val="115000"/>
              </a:lnSpc>
              <a:spcBef>
                <a:spcPts val="1200"/>
              </a:spcBef>
              <a:spcAft>
                <a:spcPts val="0"/>
              </a:spcAft>
              <a:buClr>
                <a:schemeClr val="dk1"/>
              </a:buClr>
              <a:buSzPts val="1100"/>
              <a:buFont typeface="Arial"/>
              <a:buNone/>
            </a:pPr>
            <a:r>
              <a:rPr lang="en-US"/>
              <a:t>My recommendation: before we go live with any automation, configure Platinum and Gold members to go first. Two weeks before general rollout. Let our highest-value customers be the first to experience the improved process. Zero additional engineering. Maximum relationship protection.</a:t>
            </a:r>
            <a:endParaRPr/>
          </a:p>
          <a:p>
            <a:pPr indent="0" lvl="0" marL="0" rtl="0" algn="l">
              <a:spcBef>
                <a:spcPts val="1200"/>
              </a:spcBef>
              <a:spcAft>
                <a:spcPts val="0"/>
              </a:spcAft>
              <a:buNone/>
            </a:pPr>
            <a:r>
              <a:t/>
            </a:r>
            <a:endParaRPr/>
          </a:p>
        </p:txBody>
      </p:sp>
      <p:sp>
        <p:nvSpPr>
          <p:cNvPr id="587" name="Google Shape;58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g3db7850438d_2_1:notes"/>
          <p:cNvSpPr/>
          <p:nvPr>
            <p:ph idx="2" type="sldImg"/>
          </p:nvPr>
        </p:nvSpPr>
        <p:spPr>
          <a:xfrm>
            <a:off x="914497" y="1143000"/>
            <a:ext cx="73149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8" name="Google Shape;678;g3db7850438d_2_1: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 be clear: the status quo isn't just stagnant—it's expensive. As you can see from the trend line, our resolution times haven't improved in 12 months; they are actually creeping up.</a:t>
            </a:r>
            <a:endParaRPr/>
          </a:p>
        </p:txBody>
      </p:sp>
      <p:sp>
        <p:nvSpPr>
          <p:cNvPr id="679" name="Google Shape;679;g3db7850438d_2_1: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g3e6f4aa8fe7_3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28" name="Google Shape;728;g3e6f4aa8fe7_3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This is the transformation in summary. Today: 100% manual, 403 SLA breaches, CSAT at 3.05, $122K of margin ungoverned. In 90 days: automation handling the majority, zero SLA breaches, CSAT targeting 3.5+, and every exception decision on record with a documented rationale.</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Three phases, 90 days. Phase 1 in weeks 1–4 is the auto-approval rule for refundables — this is a config change, not an engineering project. We could go live inside a month and immediately see the impact. </a:t>
            </a:r>
            <a:endParaRPr/>
          </a:p>
        </p:txBody>
      </p:sp>
      <p:sp>
        <p:nvSpPr>
          <p:cNvPr id="745" name="Google Shape;74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g3db7850438d_2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Thank You! </a:t>
            </a:r>
            <a:endParaRPr/>
          </a:p>
        </p:txBody>
      </p:sp>
      <p:sp>
        <p:nvSpPr>
          <p:cNvPr id="775" name="Google Shape;775;g3db7850438d_2_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80" name="Shape 8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docs.google.com/spreadsheets/d/1t20F3-OfCa-3Rp85_bJyqgMNaPzr2wuStysgmhSA8Vo/edit?usp=sharing"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5.png"/><Relationship Id="rId7" Type="http://schemas.openxmlformats.org/officeDocument/2006/relationships/image" Target="../media/image2.png"/><Relationship Id="rId8"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84" name="Shape 84"/>
        <p:cNvGrpSpPr/>
        <p:nvPr/>
      </p:nvGrpSpPr>
      <p:grpSpPr>
        <a:xfrm>
          <a:off x="0" y="0"/>
          <a:ext cx="0" cy="0"/>
          <a:chOff x="0" y="0"/>
          <a:chExt cx="0" cy="0"/>
        </a:xfrm>
      </p:grpSpPr>
      <p:sp>
        <p:nvSpPr>
          <p:cNvPr id="85" name="Google Shape;85;p14"/>
          <p:cNvSpPr/>
          <p:nvPr/>
        </p:nvSpPr>
        <p:spPr>
          <a:xfrm>
            <a:off x="0" y="0"/>
            <a:ext cx="12191695" cy="73152"/>
          </a:xfrm>
          <a:prstGeom prst="rect">
            <a:avLst/>
          </a:prstGeom>
          <a:solidFill>
            <a:srgbClr val="1B998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4"/>
          <p:cNvSpPr txBox="1"/>
          <p:nvPr/>
        </p:nvSpPr>
        <p:spPr>
          <a:xfrm>
            <a:off x="914400" y="1645920"/>
            <a:ext cx="10058400" cy="10972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400" u="none" cap="none" strike="noStrike">
                <a:solidFill>
                  <a:srgbClr val="1B998B"/>
                </a:solidFill>
                <a:latin typeface="Calibri"/>
                <a:ea typeface="Calibri"/>
                <a:cs typeface="Calibri"/>
                <a:sym typeface="Calibri"/>
              </a:rPr>
              <a:t>REFUND PROCESS</a:t>
            </a:r>
            <a:endParaRPr/>
          </a:p>
        </p:txBody>
      </p:sp>
      <p:sp>
        <p:nvSpPr>
          <p:cNvPr id="87" name="Google Shape;87;p14"/>
          <p:cNvSpPr txBox="1"/>
          <p:nvPr/>
        </p:nvSpPr>
        <p:spPr>
          <a:xfrm>
            <a:off x="914400" y="2560320"/>
            <a:ext cx="10058400" cy="914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600" u="none" cap="none" strike="noStrike">
                <a:solidFill>
                  <a:srgbClr val="FFFFFF"/>
                </a:solidFill>
                <a:latin typeface="Calibri"/>
                <a:ea typeface="Calibri"/>
                <a:cs typeface="Calibri"/>
                <a:sym typeface="Calibri"/>
              </a:rPr>
              <a:t>AUTOMATION OPPORTUNITY</a:t>
            </a:r>
            <a:endParaRPr/>
          </a:p>
        </p:txBody>
      </p:sp>
      <p:sp>
        <p:nvSpPr>
          <p:cNvPr id="88" name="Google Shape;88;p14"/>
          <p:cNvSpPr txBox="1"/>
          <p:nvPr/>
        </p:nvSpPr>
        <p:spPr>
          <a:xfrm>
            <a:off x="914400" y="3840480"/>
            <a:ext cx="10058400" cy="5486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000" u="none" cap="none" strike="noStrike">
                <a:solidFill>
                  <a:srgbClr val="A0A0A0"/>
                </a:solidFill>
                <a:latin typeface="Calibri"/>
                <a:ea typeface="Calibri"/>
                <a:cs typeface="Calibri"/>
                <a:sym typeface="Calibri"/>
              </a:rPr>
              <a:t>Inefficiency Analysis &amp; Top 3 Optimizations for OEPA CEG Agoda</a:t>
            </a:r>
            <a:endParaRPr/>
          </a:p>
        </p:txBody>
      </p:sp>
      <p:sp>
        <p:nvSpPr>
          <p:cNvPr id="89" name="Google Shape;89;p14"/>
          <p:cNvSpPr txBox="1"/>
          <p:nvPr/>
        </p:nvSpPr>
        <p:spPr>
          <a:xfrm>
            <a:off x="914400" y="5029200"/>
            <a:ext cx="10058400" cy="307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400" u="none" cap="none" strike="noStrike">
                <a:solidFill>
                  <a:srgbClr val="A0A0A0"/>
                </a:solidFill>
                <a:latin typeface="Calibri"/>
                <a:ea typeface="Calibri"/>
                <a:cs typeface="Calibri"/>
                <a:sym typeface="Calibri"/>
              </a:rPr>
              <a:t>Prepared by: </a:t>
            </a:r>
            <a:r>
              <a:rPr lang="en-US">
                <a:solidFill>
                  <a:srgbClr val="A0A0A0"/>
                </a:solidFill>
                <a:latin typeface="Calibri"/>
                <a:ea typeface="Calibri"/>
                <a:cs typeface="Calibri"/>
                <a:sym typeface="Calibri"/>
              </a:rPr>
              <a:t>Nidhi Pawar</a:t>
            </a:r>
            <a:r>
              <a:rPr b="0" i="0" lang="en-US" sz="1400" u="none" cap="none" strike="noStrike">
                <a:solidFill>
                  <a:srgbClr val="A0A0A0"/>
                </a:solidFill>
                <a:latin typeface="Calibri"/>
                <a:ea typeface="Calibri"/>
                <a:cs typeface="Calibri"/>
                <a:sym typeface="Calibri"/>
              </a:rPr>
              <a:t> |  May 2026</a:t>
            </a:r>
            <a:endParaRPr/>
          </a:p>
        </p:txBody>
      </p:sp>
      <p:sp>
        <p:nvSpPr>
          <p:cNvPr id="90" name="Google Shape;90;p14"/>
          <p:cNvSpPr/>
          <p:nvPr/>
        </p:nvSpPr>
        <p:spPr>
          <a:xfrm>
            <a:off x="0" y="6784848"/>
            <a:ext cx="12191695" cy="73152"/>
          </a:xfrm>
          <a:prstGeom prst="rect">
            <a:avLst/>
          </a:prstGeom>
          <a:solidFill>
            <a:srgbClr val="1B998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94" name="Shape 94"/>
        <p:cNvGrpSpPr/>
        <p:nvPr/>
      </p:nvGrpSpPr>
      <p:grpSpPr>
        <a:xfrm>
          <a:off x="0" y="0"/>
          <a:ext cx="0" cy="0"/>
          <a:chOff x="0" y="0"/>
          <a:chExt cx="0" cy="0"/>
        </a:xfrm>
      </p:grpSpPr>
      <p:sp>
        <p:nvSpPr>
          <p:cNvPr id="95" name="Google Shape;95;p15"/>
          <p:cNvSpPr/>
          <p:nvPr/>
        </p:nvSpPr>
        <p:spPr>
          <a:xfrm>
            <a:off x="0" y="0"/>
            <a:ext cx="12191695" cy="73152"/>
          </a:xfrm>
          <a:prstGeom prst="rect">
            <a:avLst/>
          </a:prstGeom>
          <a:solidFill>
            <a:srgbClr val="1B998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6" name="Google Shape;96;p15"/>
          <p:cNvSpPr txBox="1"/>
          <p:nvPr/>
        </p:nvSpPr>
        <p:spPr>
          <a:xfrm>
            <a:off x="457200" y="274320"/>
            <a:ext cx="109728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FFFFFF"/>
                </a:solidFill>
                <a:latin typeface="Calibri"/>
                <a:ea typeface="Calibri"/>
                <a:cs typeface="Calibri"/>
                <a:sym typeface="Calibri"/>
              </a:rPr>
              <a:t>5,000 Cases Analyzed: 12 Inefficiencies Found, 3 Critical Actions Required</a:t>
            </a:r>
            <a:endParaRPr/>
          </a:p>
        </p:txBody>
      </p:sp>
      <p:sp>
        <p:nvSpPr>
          <p:cNvPr id="97" name="Google Shape;97;p15"/>
          <p:cNvSpPr/>
          <p:nvPr/>
        </p:nvSpPr>
        <p:spPr>
          <a:xfrm>
            <a:off x="457200" y="1005840"/>
            <a:ext cx="731520" cy="36576"/>
          </a:xfrm>
          <a:prstGeom prst="rect">
            <a:avLst/>
          </a:prstGeom>
          <a:solidFill>
            <a:srgbClr val="1B998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8" name="Google Shape;98;p15"/>
          <p:cNvSpPr/>
          <p:nvPr/>
        </p:nvSpPr>
        <p:spPr>
          <a:xfrm>
            <a:off x="457200" y="1371600"/>
            <a:ext cx="2560320" cy="146304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9" name="Google Shape;99;p15"/>
          <p:cNvSpPr txBox="1"/>
          <p:nvPr/>
        </p:nvSpPr>
        <p:spPr>
          <a:xfrm>
            <a:off x="457200" y="1554480"/>
            <a:ext cx="2560320" cy="6400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200" u="none" cap="none" strike="noStrike">
                <a:solidFill>
                  <a:srgbClr val="1B998B"/>
                </a:solidFill>
                <a:latin typeface="Calibri"/>
                <a:ea typeface="Calibri"/>
                <a:cs typeface="Calibri"/>
                <a:sym typeface="Calibri"/>
              </a:rPr>
              <a:t>5,000</a:t>
            </a:r>
            <a:endParaRPr/>
          </a:p>
        </p:txBody>
      </p:sp>
      <p:sp>
        <p:nvSpPr>
          <p:cNvPr id="100" name="Google Shape;100;p15"/>
          <p:cNvSpPr txBox="1"/>
          <p:nvPr/>
        </p:nvSpPr>
        <p:spPr>
          <a:xfrm>
            <a:off x="457200" y="2103120"/>
            <a:ext cx="2560320" cy="6400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300" u="none" cap="none" strike="noStrike">
                <a:solidFill>
                  <a:srgbClr val="A0A0A0"/>
                </a:solidFill>
                <a:latin typeface="Calibri"/>
                <a:ea typeface="Calibri"/>
                <a:cs typeface="Calibri"/>
                <a:sym typeface="Calibri"/>
              </a:rPr>
              <a:t>Total Cases</a:t>
            </a:r>
            <a:br>
              <a:rPr b="0" i="0" lang="en-US" sz="1300" u="none" cap="none" strike="noStrike">
                <a:solidFill>
                  <a:srgbClr val="A0A0A0"/>
                </a:solidFill>
                <a:latin typeface="Calibri"/>
                <a:ea typeface="Calibri"/>
                <a:cs typeface="Calibri"/>
                <a:sym typeface="Calibri"/>
              </a:rPr>
            </a:br>
            <a:r>
              <a:rPr b="0" i="0" lang="en-US" sz="1300" u="none" cap="none" strike="noStrike">
                <a:solidFill>
                  <a:srgbClr val="A0A0A0"/>
                </a:solidFill>
                <a:latin typeface="Calibri"/>
                <a:ea typeface="Calibri"/>
                <a:cs typeface="Calibri"/>
                <a:sym typeface="Calibri"/>
              </a:rPr>
              <a:t>Analyzed</a:t>
            </a:r>
            <a:endParaRPr/>
          </a:p>
        </p:txBody>
      </p:sp>
      <p:sp>
        <p:nvSpPr>
          <p:cNvPr id="101" name="Google Shape;101;p15"/>
          <p:cNvSpPr/>
          <p:nvPr/>
        </p:nvSpPr>
        <p:spPr>
          <a:xfrm>
            <a:off x="3383280" y="1371600"/>
            <a:ext cx="2560320" cy="146304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2" name="Google Shape;102;p15"/>
          <p:cNvSpPr txBox="1"/>
          <p:nvPr/>
        </p:nvSpPr>
        <p:spPr>
          <a:xfrm>
            <a:off x="3383280" y="1554480"/>
            <a:ext cx="2560320" cy="6400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200" u="none" cap="none" strike="noStrike">
                <a:solidFill>
                  <a:srgbClr val="1B998B"/>
                </a:solidFill>
                <a:latin typeface="Calibri"/>
                <a:ea typeface="Calibri"/>
                <a:cs typeface="Calibri"/>
                <a:sym typeface="Calibri"/>
              </a:rPr>
              <a:t>12</a:t>
            </a:r>
            <a:endParaRPr/>
          </a:p>
        </p:txBody>
      </p:sp>
      <p:sp>
        <p:nvSpPr>
          <p:cNvPr id="103" name="Google Shape;103;p15"/>
          <p:cNvSpPr txBox="1"/>
          <p:nvPr/>
        </p:nvSpPr>
        <p:spPr>
          <a:xfrm>
            <a:off x="3383280" y="2103120"/>
            <a:ext cx="2560320" cy="6400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300" u="none" cap="none" strike="noStrike">
                <a:solidFill>
                  <a:srgbClr val="A0A0A0"/>
                </a:solidFill>
                <a:latin typeface="Calibri"/>
                <a:ea typeface="Calibri"/>
                <a:cs typeface="Calibri"/>
                <a:sym typeface="Calibri"/>
              </a:rPr>
              <a:t>Inefficiencies</a:t>
            </a:r>
            <a:br>
              <a:rPr b="0" i="0" lang="en-US" sz="1300" u="none" cap="none" strike="noStrike">
                <a:solidFill>
                  <a:srgbClr val="A0A0A0"/>
                </a:solidFill>
                <a:latin typeface="Calibri"/>
                <a:ea typeface="Calibri"/>
                <a:cs typeface="Calibri"/>
                <a:sym typeface="Calibri"/>
              </a:rPr>
            </a:br>
            <a:r>
              <a:rPr b="0" i="0" lang="en-US" sz="1300" u="none" cap="none" strike="noStrike">
                <a:solidFill>
                  <a:srgbClr val="A0A0A0"/>
                </a:solidFill>
                <a:latin typeface="Calibri"/>
                <a:ea typeface="Calibri"/>
                <a:cs typeface="Calibri"/>
                <a:sym typeface="Calibri"/>
              </a:rPr>
              <a:t>Identified</a:t>
            </a:r>
            <a:endParaRPr/>
          </a:p>
        </p:txBody>
      </p:sp>
      <p:sp>
        <p:nvSpPr>
          <p:cNvPr id="104" name="Google Shape;104;p15"/>
          <p:cNvSpPr/>
          <p:nvPr/>
        </p:nvSpPr>
        <p:spPr>
          <a:xfrm>
            <a:off x="6309360" y="1371600"/>
            <a:ext cx="2560320" cy="146304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5" name="Google Shape;105;p15"/>
          <p:cNvSpPr txBox="1"/>
          <p:nvPr/>
        </p:nvSpPr>
        <p:spPr>
          <a:xfrm>
            <a:off x="6309360" y="1554480"/>
            <a:ext cx="2560320" cy="6400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200" u="none" cap="none" strike="noStrike">
                <a:solidFill>
                  <a:srgbClr val="1B998B"/>
                </a:solidFill>
                <a:latin typeface="Calibri"/>
                <a:ea typeface="Calibri"/>
                <a:cs typeface="Calibri"/>
                <a:sym typeface="Calibri"/>
              </a:rPr>
              <a:t>$771K</a:t>
            </a:r>
            <a:endParaRPr/>
          </a:p>
        </p:txBody>
      </p:sp>
      <p:sp>
        <p:nvSpPr>
          <p:cNvPr id="106" name="Google Shape;106;p15"/>
          <p:cNvSpPr txBox="1"/>
          <p:nvPr/>
        </p:nvSpPr>
        <p:spPr>
          <a:xfrm>
            <a:off x="6309360" y="2103120"/>
            <a:ext cx="2560320" cy="6400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300" u="none" cap="none" strike="noStrike">
                <a:solidFill>
                  <a:srgbClr val="A0A0A0"/>
                </a:solidFill>
                <a:latin typeface="Calibri"/>
                <a:ea typeface="Calibri"/>
                <a:cs typeface="Calibri"/>
                <a:sym typeface="Calibri"/>
              </a:rPr>
              <a:t>Booking Value</a:t>
            </a:r>
            <a:br>
              <a:rPr b="0" i="0" lang="en-US" sz="1300" u="none" cap="none" strike="noStrike">
                <a:solidFill>
                  <a:srgbClr val="A0A0A0"/>
                </a:solidFill>
                <a:latin typeface="Calibri"/>
                <a:ea typeface="Calibri"/>
                <a:cs typeface="Calibri"/>
                <a:sym typeface="Calibri"/>
              </a:rPr>
            </a:br>
            <a:r>
              <a:rPr b="0" i="0" lang="en-US" sz="1300" u="none" cap="none" strike="noStrike">
                <a:solidFill>
                  <a:srgbClr val="A0A0A0"/>
                </a:solidFill>
                <a:latin typeface="Calibri"/>
                <a:ea typeface="Calibri"/>
                <a:cs typeface="Calibri"/>
                <a:sym typeface="Calibri"/>
              </a:rPr>
              <a:t>at Risk</a:t>
            </a:r>
            <a:endParaRPr/>
          </a:p>
        </p:txBody>
      </p:sp>
      <p:sp>
        <p:nvSpPr>
          <p:cNvPr id="107" name="Google Shape;107;p15"/>
          <p:cNvSpPr/>
          <p:nvPr/>
        </p:nvSpPr>
        <p:spPr>
          <a:xfrm>
            <a:off x="9235440" y="1371600"/>
            <a:ext cx="2560320" cy="146304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8" name="Google Shape;108;p15"/>
          <p:cNvSpPr txBox="1"/>
          <p:nvPr/>
        </p:nvSpPr>
        <p:spPr>
          <a:xfrm>
            <a:off x="9235440" y="1554480"/>
            <a:ext cx="2560320" cy="6400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200" u="none" cap="none" strike="noStrike">
                <a:solidFill>
                  <a:srgbClr val="1B998B"/>
                </a:solidFill>
                <a:latin typeface="Calibri"/>
                <a:ea typeface="Calibri"/>
                <a:cs typeface="Calibri"/>
                <a:sym typeface="Calibri"/>
              </a:rPr>
              <a:t>763</a:t>
            </a:r>
            <a:endParaRPr/>
          </a:p>
        </p:txBody>
      </p:sp>
      <p:sp>
        <p:nvSpPr>
          <p:cNvPr id="109" name="Google Shape;109;p15"/>
          <p:cNvSpPr txBox="1"/>
          <p:nvPr/>
        </p:nvSpPr>
        <p:spPr>
          <a:xfrm>
            <a:off x="9235440" y="2103120"/>
            <a:ext cx="2560320" cy="6400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300" u="none" cap="none" strike="noStrike">
                <a:solidFill>
                  <a:srgbClr val="A0A0A0"/>
                </a:solidFill>
                <a:latin typeface="Calibri"/>
                <a:ea typeface="Calibri"/>
                <a:cs typeface="Calibri"/>
                <a:sym typeface="Calibri"/>
              </a:rPr>
              <a:t>NR Exception</a:t>
            </a:r>
            <a:br>
              <a:rPr b="0" i="0" lang="en-US" sz="1300" u="none" cap="none" strike="noStrike">
                <a:solidFill>
                  <a:srgbClr val="A0A0A0"/>
                </a:solidFill>
                <a:latin typeface="Calibri"/>
                <a:ea typeface="Calibri"/>
                <a:cs typeface="Calibri"/>
                <a:sym typeface="Calibri"/>
              </a:rPr>
            </a:br>
            <a:r>
              <a:rPr b="0" i="0" lang="en-US" sz="1300" u="none" cap="none" strike="noStrike">
                <a:solidFill>
                  <a:srgbClr val="A0A0A0"/>
                </a:solidFill>
                <a:latin typeface="Calibri"/>
                <a:ea typeface="Calibri"/>
                <a:cs typeface="Calibri"/>
                <a:sym typeface="Calibri"/>
              </a:rPr>
              <a:t>Approvals (24%)</a:t>
            </a:r>
            <a:endParaRPr/>
          </a:p>
        </p:txBody>
      </p:sp>
      <p:sp>
        <p:nvSpPr>
          <p:cNvPr id="110" name="Google Shape;110;p15"/>
          <p:cNvSpPr txBox="1"/>
          <p:nvPr/>
        </p:nvSpPr>
        <p:spPr>
          <a:xfrm>
            <a:off x="457200" y="3200400"/>
            <a:ext cx="50292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1B998B"/>
                </a:solidFill>
                <a:latin typeface="Calibri"/>
                <a:ea typeface="Calibri"/>
                <a:cs typeface="Calibri"/>
                <a:sym typeface="Calibri"/>
              </a:rPr>
              <a:t>KEY FINDINGS</a:t>
            </a:r>
            <a:endParaRPr/>
          </a:p>
        </p:txBody>
      </p:sp>
      <p:sp>
        <p:nvSpPr>
          <p:cNvPr id="111" name="Google Shape;111;p15"/>
          <p:cNvSpPr txBox="1"/>
          <p:nvPr/>
        </p:nvSpPr>
        <p:spPr>
          <a:xfrm>
            <a:off x="457200" y="3749039"/>
            <a:ext cx="5486400"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FFFFFF"/>
                </a:solidFill>
                <a:latin typeface="Calibri"/>
                <a:ea typeface="Calibri"/>
                <a:cs typeface="Calibri"/>
                <a:sym typeface="Calibri"/>
              </a:rPr>
              <a:t>• 100% of refundable cases auto-approved — zero denied → automation-ready</a:t>
            </a:r>
            <a:endParaRPr/>
          </a:p>
        </p:txBody>
      </p:sp>
      <p:sp>
        <p:nvSpPr>
          <p:cNvPr id="112" name="Google Shape;112;p15"/>
          <p:cNvSpPr txBox="1"/>
          <p:nvPr/>
        </p:nvSpPr>
        <p:spPr>
          <a:xfrm>
            <a:off x="457200" y="4160520"/>
            <a:ext cx="5486400"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FFFFFF"/>
                </a:solidFill>
                <a:latin typeface="Calibri"/>
                <a:ea typeface="Calibri"/>
                <a:cs typeface="Calibri"/>
                <a:sym typeface="Calibri"/>
              </a:rPr>
              <a:t>• Email channel: 9x slower FCRT vs Chat (90 min vs 10 min), lowest CSAT (2.81)</a:t>
            </a:r>
            <a:endParaRPr/>
          </a:p>
        </p:txBody>
      </p:sp>
      <p:sp>
        <p:nvSpPr>
          <p:cNvPr id="113" name="Google Shape;113;p15"/>
          <p:cNvSpPr txBox="1"/>
          <p:nvPr/>
        </p:nvSpPr>
        <p:spPr>
          <a:xfrm>
            <a:off x="457200" y="4572000"/>
            <a:ext cx="5486400"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FFFFFF"/>
                </a:solidFill>
                <a:latin typeface="Calibri"/>
                <a:ea typeface="Calibri"/>
                <a:cs typeface="Calibri"/>
                <a:sym typeface="Calibri"/>
              </a:rPr>
              <a:t>• 403 cases (8.1%) exceed 120-min FCRT — ALL are email + non-refundable</a:t>
            </a:r>
            <a:endParaRPr/>
          </a:p>
        </p:txBody>
      </p:sp>
      <p:sp>
        <p:nvSpPr>
          <p:cNvPr id="114" name="Google Shape;114;p15"/>
          <p:cNvSpPr txBox="1"/>
          <p:nvPr/>
        </p:nvSpPr>
        <p:spPr>
          <a:xfrm>
            <a:off x="457200" y="4983479"/>
            <a:ext cx="5486400" cy="4114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FFFFFF"/>
                </a:solidFill>
                <a:latin typeface="Calibri"/>
                <a:ea typeface="Calibri"/>
                <a:cs typeface="Calibri"/>
                <a:sym typeface="Calibri"/>
              </a:rPr>
              <a:t>• NR exception approvals lack rules — 763 cases decided manually, costing $122K margin</a:t>
            </a:r>
            <a:endParaRPr/>
          </a:p>
        </p:txBody>
      </p:sp>
      <p:sp>
        <p:nvSpPr>
          <p:cNvPr id="115" name="Google Shape;115;p15"/>
          <p:cNvSpPr txBox="1"/>
          <p:nvPr/>
        </p:nvSpPr>
        <p:spPr>
          <a:xfrm>
            <a:off x="6400800" y="3200400"/>
            <a:ext cx="50292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1B998B"/>
                </a:solidFill>
                <a:latin typeface="Calibri"/>
                <a:ea typeface="Calibri"/>
                <a:cs typeface="Calibri"/>
                <a:sym typeface="Calibri"/>
              </a:rPr>
              <a:t>TOP 3 OPTIMIZATIONS</a:t>
            </a:r>
            <a:endParaRPr/>
          </a:p>
        </p:txBody>
      </p:sp>
      <p:sp>
        <p:nvSpPr>
          <p:cNvPr id="116" name="Google Shape;116;p15"/>
          <p:cNvSpPr/>
          <p:nvPr/>
        </p:nvSpPr>
        <p:spPr>
          <a:xfrm>
            <a:off x="6400800" y="3749039"/>
            <a:ext cx="5303520" cy="68580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7" name="Google Shape;117;p15"/>
          <p:cNvSpPr txBox="1"/>
          <p:nvPr/>
        </p:nvSpPr>
        <p:spPr>
          <a:xfrm>
            <a:off x="6583680" y="3749039"/>
            <a:ext cx="493776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2ECC71"/>
                </a:solidFill>
                <a:latin typeface="Calibri"/>
                <a:ea typeface="Calibri"/>
                <a:cs typeface="Calibri"/>
                <a:sym typeface="Calibri"/>
              </a:rPr>
              <a:t>1. Auto-Approve Refundable Bookings</a:t>
            </a:r>
            <a:endParaRPr/>
          </a:p>
        </p:txBody>
      </p:sp>
      <p:sp>
        <p:nvSpPr>
          <p:cNvPr id="118" name="Google Shape;118;p15"/>
          <p:cNvSpPr txBox="1"/>
          <p:nvPr/>
        </p:nvSpPr>
        <p:spPr>
          <a:xfrm>
            <a:off x="6583680" y="4069079"/>
            <a:ext cx="493776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A0A0A0"/>
                </a:solidFill>
                <a:latin typeface="Calibri"/>
                <a:ea typeface="Calibri"/>
                <a:cs typeface="Calibri"/>
                <a:sym typeface="Calibri"/>
              </a:rPr>
              <a:t>Eliminate manual touch on 1,762 cases/yr → save ~43K agent-min</a:t>
            </a:r>
            <a:endParaRPr/>
          </a:p>
        </p:txBody>
      </p:sp>
      <p:sp>
        <p:nvSpPr>
          <p:cNvPr id="119" name="Google Shape;119;p15"/>
          <p:cNvSpPr/>
          <p:nvPr/>
        </p:nvSpPr>
        <p:spPr>
          <a:xfrm>
            <a:off x="6400800" y="4526279"/>
            <a:ext cx="5303520" cy="68580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0" name="Google Shape;120;p15"/>
          <p:cNvSpPr txBox="1"/>
          <p:nvPr/>
        </p:nvSpPr>
        <p:spPr>
          <a:xfrm>
            <a:off x="6583680" y="4526279"/>
            <a:ext cx="493776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2ECC71"/>
                </a:solidFill>
                <a:latin typeface="Calibri"/>
                <a:ea typeface="Calibri"/>
                <a:cs typeface="Calibri"/>
                <a:sym typeface="Calibri"/>
              </a:rPr>
              <a:t>2. Migrate Email NR → Chat/Messaging</a:t>
            </a:r>
            <a:endParaRPr/>
          </a:p>
        </p:txBody>
      </p:sp>
      <p:sp>
        <p:nvSpPr>
          <p:cNvPr id="121" name="Google Shape;121;p15"/>
          <p:cNvSpPr txBox="1"/>
          <p:nvPr/>
        </p:nvSpPr>
        <p:spPr>
          <a:xfrm>
            <a:off x="6583680" y="4846319"/>
            <a:ext cx="493776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A0A0A0"/>
                </a:solidFill>
                <a:latin typeface="Calibri"/>
                <a:ea typeface="Calibri"/>
                <a:cs typeface="Calibri"/>
                <a:sym typeface="Calibri"/>
              </a:rPr>
              <a:t>Cut FCRT from 119 min to ~15 min for 838 cases → reduce SLA breaches 100%</a:t>
            </a:r>
            <a:endParaRPr/>
          </a:p>
        </p:txBody>
      </p:sp>
      <p:sp>
        <p:nvSpPr>
          <p:cNvPr id="122" name="Google Shape;122;p15"/>
          <p:cNvSpPr/>
          <p:nvPr/>
        </p:nvSpPr>
        <p:spPr>
          <a:xfrm>
            <a:off x="6400800" y="5303526"/>
            <a:ext cx="5303400" cy="80040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3" name="Google Shape;123;p15"/>
          <p:cNvSpPr txBox="1"/>
          <p:nvPr/>
        </p:nvSpPr>
        <p:spPr>
          <a:xfrm>
            <a:off x="6583680" y="5303520"/>
            <a:ext cx="493776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2ECC71"/>
                </a:solidFill>
                <a:latin typeface="Calibri"/>
                <a:ea typeface="Calibri"/>
                <a:cs typeface="Calibri"/>
                <a:sym typeface="Calibri"/>
              </a:rPr>
              <a:t>3. Rule-Based NR Exception Engine</a:t>
            </a:r>
            <a:endParaRPr/>
          </a:p>
        </p:txBody>
      </p:sp>
      <p:sp>
        <p:nvSpPr>
          <p:cNvPr id="124" name="Google Shape;124;p15"/>
          <p:cNvSpPr txBox="1"/>
          <p:nvPr/>
        </p:nvSpPr>
        <p:spPr>
          <a:xfrm>
            <a:off x="6583680" y="5623559"/>
            <a:ext cx="493776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A0A0A0"/>
                </a:solidFill>
                <a:latin typeface="Calibri"/>
                <a:ea typeface="Calibri"/>
                <a:cs typeface="Calibri"/>
                <a:sym typeface="Calibri"/>
              </a:rPr>
              <a:t>Automate 495 compassionate approvals → consistent decisions, $122K margin control</a:t>
            </a:r>
            <a:endParaRPr/>
          </a:p>
        </p:txBody>
      </p:sp>
      <p:sp>
        <p:nvSpPr>
          <p:cNvPr id="125" name="Google Shape;125;p15"/>
          <p:cNvSpPr txBox="1"/>
          <p:nvPr/>
        </p:nvSpPr>
        <p:spPr>
          <a:xfrm>
            <a:off x="457200" y="6217920"/>
            <a:ext cx="109728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700" u="sng" cap="none" strike="noStrike">
                <a:solidFill>
                  <a:schemeClr val="lt1"/>
                </a:solidFill>
                <a:latin typeface="Calibri"/>
                <a:ea typeface="Calibri"/>
                <a:cs typeface="Calibri"/>
                <a:sym typeface="Calibri"/>
                <a:hlinkClick r:id="rId3">
                  <a:extLst>
                    <a:ext uri="{A12FA001-AC4F-418D-AE19-62706E023703}">
                      <ahyp:hlinkClr val="tx"/>
                    </a:ext>
                  </a:extLst>
                </a:hlinkClick>
              </a:rPr>
              <a:t>📎 Evidence: Refund_Process_Evidence.xlsx </a:t>
            </a:r>
            <a:endParaRPr b="1" sz="2000">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129" name="Shape 129"/>
        <p:cNvGrpSpPr/>
        <p:nvPr/>
      </p:nvGrpSpPr>
      <p:grpSpPr>
        <a:xfrm>
          <a:off x="0" y="0"/>
          <a:ext cx="0" cy="0"/>
          <a:chOff x="0" y="0"/>
          <a:chExt cx="0" cy="0"/>
        </a:xfrm>
      </p:grpSpPr>
      <p:sp>
        <p:nvSpPr>
          <p:cNvPr id="130" name="Google Shape;130;p16"/>
          <p:cNvSpPr/>
          <p:nvPr/>
        </p:nvSpPr>
        <p:spPr>
          <a:xfrm>
            <a:off x="0" y="0"/>
            <a:ext cx="12191695" cy="73152"/>
          </a:xfrm>
          <a:prstGeom prst="rect">
            <a:avLst/>
          </a:prstGeom>
          <a:solidFill>
            <a:srgbClr val="1B998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1" name="Google Shape;131;p16"/>
          <p:cNvSpPr txBox="1"/>
          <p:nvPr/>
        </p:nvSpPr>
        <p:spPr>
          <a:xfrm>
            <a:off x="457200" y="274320"/>
            <a:ext cx="109728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FFFFFF"/>
                </a:solidFill>
                <a:latin typeface="Calibri"/>
                <a:ea typeface="Calibri"/>
                <a:cs typeface="Calibri"/>
                <a:sym typeface="Calibri"/>
              </a:rPr>
              <a:t>Refund Process: Two Distinct Paths with Vastly Different Outcomes</a:t>
            </a:r>
            <a:endParaRPr/>
          </a:p>
        </p:txBody>
      </p:sp>
      <p:sp>
        <p:nvSpPr>
          <p:cNvPr id="132" name="Google Shape;132;p16"/>
          <p:cNvSpPr/>
          <p:nvPr/>
        </p:nvSpPr>
        <p:spPr>
          <a:xfrm>
            <a:off x="457200" y="1005840"/>
            <a:ext cx="731520" cy="36576"/>
          </a:xfrm>
          <a:prstGeom prst="rect">
            <a:avLst/>
          </a:prstGeom>
          <a:solidFill>
            <a:srgbClr val="1B998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3" name="Google Shape;133;p16"/>
          <p:cNvSpPr txBox="1"/>
          <p:nvPr/>
        </p:nvSpPr>
        <p:spPr>
          <a:xfrm>
            <a:off x="457200" y="1371600"/>
            <a:ext cx="54864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2ECC71"/>
                </a:solidFill>
                <a:latin typeface="Calibri"/>
                <a:ea typeface="Calibri"/>
                <a:cs typeface="Calibri"/>
                <a:sym typeface="Calibri"/>
              </a:rPr>
              <a:t>REFUNDABLE PATH (35.2% of volume)</a:t>
            </a:r>
            <a:endParaRPr/>
          </a:p>
        </p:txBody>
      </p:sp>
      <p:sp>
        <p:nvSpPr>
          <p:cNvPr id="134" name="Google Shape;134;p16"/>
          <p:cNvSpPr/>
          <p:nvPr/>
        </p:nvSpPr>
        <p:spPr>
          <a:xfrm>
            <a:off x="457200" y="1920240"/>
            <a:ext cx="1280160" cy="82296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5" name="Google Shape;135;p16"/>
          <p:cNvSpPr txBox="1"/>
          <p:nvPr/>
        </p:nvSpPr>
        <p:spPr>
          <a:xfrm>
            <a:off x="457200" y="2057400"/>
            <a:ext cx="128016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200" u="none" cap="none" strike="noStrike">
                <a:solidFill>
                  <a:srgbClr val="FFFFFF"/>
                </a:solidFill>
                <a:latin typeface="Calibri"/>
                <a:ea typeface="Calibri"/>
                <a:cs typeface="Calibri"/>
                <a:sym typeface="Calibri"/>
              </a:rPr>
              <a:t>1,762 requests</a:t>
            </a:r>
            <a:endParaRPr/>
          </a:p>
        </p:txBody>
      </p:sp>
      <p:sp>
        <p:nvSpPr>
          <p:cNvPr id="136" name="Google Shape;136;p16"/>
          <p:cNvSpPr/>
          <p:nvPr/>
        </p:nvSpPr>
        <p:spPr>
          <a:xfrm>
            <a:off x="1828800" y="1920240"/>
            <a:ext cx="1280160" cy="82296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7" name="Google Shape;137;p16"/>
          <p:cNvSpPr txBox="1"/>
          <p:nvPr/>
        </p:nvSpPr>
        <p:spPr>
          <a:xfrm>
            <a:off x="1828800" y="2057400"/>
            <a:ext cx="128016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200" u="none" cap="none" strike="noStrike">
                <a:solidFill>
                  <a:srgbClr val="2ECC71"/>
                </a:solidFill>
                <a:latin typeface="Calibri"/>
                <a:ea typeface="Calibri"/>
                <a:cs typeface="Calibri"/>
                <a:sym typeface="Calibri"/>
              </a:rPr>
              <a:t>100% approved</a:t>
            </a:r>
            <a:endParaRPr/>
          </a:p>
        </p:txBody>
      </p:sp>
      <p:sp>
        <p:nvSpPr>
          <p:cNvPr id="138" name="Google Shape;138;p16"/>
          <p:cNvSpPr/>
          <p:nvPr/>
        </p:nvSpPr>
        <p:spPr>
          <a:xfrm>
            <a:off x="3200400" y="1920240"/>
            <a:ext cx="1280160" cy="82296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9" name="Google Shape;139;p16"/>
          <p:cNvSpPr txBox="1"/>
          <p:nvPr/>
        </p:nvSpPr>
        <p:spPr>
          <a:xfrm>
            <a:off x="3200400" y="2057400"/>
            <a:ext cx="128016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200" u="none" cap="none" strike="noStrike">
                <a:solidFill>
                  <a:srgbClr val="FFFFFF"/>
                </a:solidFill>
                <a:latin typeface="Calibri"/>
                <a:ea typeface="Calibri"/>
                <a:cs typeface="Calibri"/>
                <a:sym typeface="Calibri"/>
              </a:rPr>
              <a:t>Avg FCRT: 24.7 min</a:t>
            </a:r>
            <a:endParaRPr/>
          </a:p>
        </p:txBody>
      </p:sp>
      <p:sp>
        <p:nvSpPr>
          <p:cNvPr id="140" name="Google Shape;140;p16"/>
          <p:cNvSpPr/>
          <p:nvPr/>
        </p:nvSpPr>
        <p:spPr>
          <a:xfrm>
            <a:off x="4572000" y="1920240"/>
            <a:ext cx="1280160" cy="82296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1" name="Google Shape;141;p16"/>
          <p:cNvSpPr txBox="1"/>
          <p:nvPr/>
        </p:nvSpPr>
        <p:spPr>
          <a:xfrm>
            <a:off x="4572000" y="2057400"/>
            <a:ext cx="128016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200" u="none" cap="none" strike="noStrike">
                <a:solidFill>
                  <a:srgbClr val="2ECC71"/>
                </a:solidFill>
                <a:latin typeface="Calibri"/>
                <a:ea typeface="Calibri"/>
                <a:cs typeface="Calibri"/>
                <a:sym typeface="Calibri"/>
              </a:rPr>
              <a:t>CSAT: 4.22</a:t>
            </a:r>
            <a:endParaRPr/>
          </a:p>
        </p:txBody>
      </p:sp>
      <p:sp>
        <p:nvSpPr>
          <p:cNvPr id="142" name="Google Shape;142;p16"/>
          <p:cNvSpPr txBox="1"/>
          <p:nvPr/>
        </p:nvSpPr>
        <p:spPr>
          <a:xfrm>
            <a:off x="457200" y="3017520"/>
            <a:ext cx="54864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A0A0A0"/>
                </a:solidFill>
                <a:latin typeface="Calibri"/>
                <a:ea typeface="Calibri"/>
                <a:cs typeface="Calibri"/>
                <a:sym typeface="Calibri"/>
              </a:rPr>
              <a:t>→ Straightforward, rule-based: 100% approval, no exceptions, fast resolution</a:t>
            </a:r>
            <a:endParaRPr b="1" sz="1500"/>
          </a:p>
        </p:txBody>
      </p:sp>
      <p:sp>
        <p:nvSpPr>
          <p:cNvPr id="143" name="Google Shape;143;p16"/>
          <p:cNvSpPr txBox="1"/>
          <p:nvPr/>
        </p:nvSpPr>
        <p:spPr>
          <a:xfrm>
            <a:off x="6400800" y="1371600"/>
            <a:ext cx="54864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E74C3C"/>
                </a:solidFill>
                <a:latin typeface="Calibri"/>
                <a:ea typeface="Calibri"/>
                <a:cs typeface="Calibri"/>
                <a:sym typeface="Calibri"/>
              </a:rPr>
              <a:t>NON-REFUNDABLE PATH (64.8% of volume)</a:t>
            </a:r>
            <a:endParaRPr/>
          </a:p>
        </p:txBody>
      </p:sp>
      <p:sp>
        <p:nvSpPr>
          <p:cNvPr id="144" name="Google Shape;144;p16"/>
          <p:cNvSpPr/>
          <p:nvPr/>
        </p:nvSpPr>
        <p:spPr>
          <a:xfrm>
            <a:off x="6400800" y="1920240"/>
            <a:ext cx="1280160" cy="82296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5" name="Google Shape;145;p16"/>
          <p:cNvSpPr txBox="1"/>
          <p:nvPr/>
        </p:nvSpPr>
        <p:spPr>
          <a:xfrm>
            <a:off x="6400800" y="2057400"/>
            <a:ext cx="128016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200" u="none" cap="none" strike="noStrike">
                <a:solidFill>
                  <a:srgbClr val="FFFFFF"/>
                </a:solidFill>
                <a:latin typeface="Calibri"/>
                <a:ea typeface="Calibri"/>
                <a:cs typeface="Calibri"/>
                <a:sym typeface="Calibri"/>
              </a:rPr>
              <a:t>3,238 requests</a:t>
            </a:r>
            <a:endParaRPr/>
          </a:p>
        </p:txBody>
      </p:sp>
      <p:sp>
        <p:nvSpPr>
          <p:cNvPr id="146" name="Google Shape;146;p16"/>
          <p:cNvSpPr/>
          <p:nvPr/>
        </p:nvSpPr>
        <p:spPr>
          <a:xfrm>
            <a:off x="7772400" y="1920240"/>
            <a:ext cx="1280160" cy="82296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7" name="Google Shape;147;p16"/>
          <p:cNvSpPr txBox="1"/>
          <p:nvPr/>
        </p:nvSpPr>
        <p:spPr>
          <a:xfrm>
            <a:off x="7772400" y="2057400"/>
            <a:ext cx="128016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200" u="none" cap="none" strike="noStrike">
                <a:solidFill>
                  <a:srgbClr val="E74C3C"/>
                </a:solidFill>
                <a:latin typeface="Calibri"/>
                <a:ea typeface="Calibri"/>
                <a:cs typeface="Calibri"/>
                <a:sym typeface="Calibri"/>
              </a:rPr>
              <a:t>76.4% denied</a:t>
            </a:r>
            <a:endParaRPr/>
          </a:p>
        </p:txBody>
      </p:sp>
      <p:sp>
        <p:nvSpPr>
          <p:cNvPr id="148" name="Google Shape;148;p16"/>
          <p:cNvSpPr/>
          <p:nvPr/>
        </p:nvSpPr>
        <p:spPr>
          <a:xfrm>
            <a:off x="9144000" y="1920240"/>
            <a:ext cx="1280160" cy="82296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9" name="Google Shape;149;p16"/>
          <p:cNvSpPr txBox="1"/>
          <p:nvPr/>
        </p:nvSpPr>
        <p:spPr>
          <a:xfrm>
            <a:off x="9144000" y="2057400"/>
            <a:ext cx="128016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200" u="none" cap="none" strike="noStrike">
                <a:solidFill>
                  <a:srgbClr val="FFFFFF"/>
                </a:solidFill>
                <a:latin typeface="Calibri"/>
                <a:ea typeface="Calibri"/>
                <a:cs typeface="Calibri"/>
                <a:sym typeface="Calibri"/>
              </a:rPr>
              <a:t>Avg FCRT: 72.7 min</a:t>
            </a:r>
            <a:endParaRPr/>
          </a:p>
        </p:txBody>
      </p:sp>
      <p:sp>
        <p:nvSpPr>
          <p:cNvPr id="150" name="Google Shape;150;p16"/>
          <p:cNvSpPr/>
          <p:nvPr/>
        </p:nvSpPr>
        <p:spPr>
          <a:xfrm>
            <a:off x="10515600" y="1920240"/>
            <a:ext cx="1280160" cy="82296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1" name="Google Shape;151;p16"/>
          <p:cNvSpPr txBox="1"/>
          <p:nvPr/>
        </p:nvSpPr>
        <p:spPr>
          <a:xfrm>
            <a:off x="10515600" y="2057400"/>
            <a:ext cx="128016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200" u="none" cap="none" strike="noStrike">
                <a:solidFill>
                  <a:srgbClr val="E74C3C"/>
                </a:solidFill>
                <a:latin typeface="Calibri"/>
                <a:ea typeface="Calibri"/>
                <a:cs typeface="Calibri"/>
                <a:sym typeface="Calibri"/>
              </a:rPr>
              <a:t>CSAT: 2.41</a:t>
            </a:r>
            <a:endParaRPr/>
          </a:p>
        </p:txBody>
      </p:sp>
      <p:sp>
        <p:nvSpPr>
          <p:cNvPr id="152" name="Google Shape;152;p16"/>
          <p:cNvSpPr txBox="1"/>
          <p:nvPr/>
        </p:nvSpPr>
        <p:spPr>
          <a:xfrm>
            <a:off x="6400800" y="3017520"/>
            <a:ext cx="54864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A0A0A0"/>
                </a:solidFill>
                <a:latin typeface="Calibri"/>
                <a:ea typeface="Calibri"/>
                <a:cs typeface="Calibri"/>
                <a:sym typeface="Calibri"/>
              </a:rPr>
              <a:t>→ Complex path: 23.6% exception approvals, high manual effort, long FCRT</a:t>
            </a:r>
            <a:endParaRPr b="1" sz="1500"/>
          </a:p>
        </p:txBody>
      </p:sp>
      <p:sp>
        <p:nvSpPr>
          <p:cNvPr id="153" name="Google Shape;153;p16"/>
          <p:cNvSpPr txBox="1"/>
          <p:nvPr/>
        </p:nvSpPr>
        <p:spPr>
          <a:xfrm>
            <a:off x="457200" y="3657600"/>
            <a:ext cx="109728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1B998B"/>
                </a:solidFill>
                <a:latin typeface="Calibri"/>
                <a:ea typeface="Calibri"/>
                <a:cs typeface="Calibri"/>
                <a:sym typeface="Calibri"/>
              </a:rPr>
              <a:t>CHANNEL PERFORMANCE COMPARISON</a:t>
            </a:r>
            <a:endParaRPr/>
          </a:p>
        </p:txBody>
      </p:sp>
      <p:sp>
        <p:nvSpPr>
          <p:cNvPr id="154" name="Google Shape;154;p16"/>
          <p:cNvSpPr/>
          <p:nvPr/>
        </p:nvSpPr>
        <p:spPr>
          <a:xfrm>
            <a:off x="457200" y="4206240"/>
            <a:ext cx="1828800" cy="411480"/>
          </a:xfrm>
          <a:prstGeom prst="rect">
            <a:avLst/>
          </a:prstGeom>
          <a:solidFill>
            <a:srgbClr val="1B998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5" name="Google Shape;155;p16"/>
          <p:cNvSpPr txBox="1"/>
          <p:nvPr/>
        </p:nvSpPr>
        <p:spPr>
          <a:xfrm>
            <a:off x="457200" y="4224528"/>
            <a:ext cx="182880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200" u="none" cap="none" strike="noStrike">
                <a:solidFill>
                  <a:srgbClr val="FFFFFF"/>
                </a:solidFill>
                <a:latin typeface="Calibri"/>
                <a:ea typeface="Calibri"/>
                <a:cs typeface="Calibri"/>
                <a:sym typeface="Calibri"/>
              </a:rPr>
              <a:t>Channel</a:t>
            </a:r>
            <a:endParaRPr/>
          </a:p>
        </p:txBody>
      </p:sp>
      <p:sp>
        <p:nvSpPr>
          <p:cNvPr id="156" name="Google Shape;156;p16"/>
          <p:cNvSpPr/>
          <p:nvPr/>
        </p:nvSpPr>
        <p:spPr>
          <a:xfrm>
            <a:off x="2331720" y="4206240"/>
            <a:ext cx="1828800" cy="411480"/>
          </a:xfrm>
          <a:prstGeom prst="rect">
            <a:avLst/>
          </a:prstGeom>
          <a:solidFill>
            <a:srgbClr val="1B998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7" name="Google Shape;157;p16"/>
          <p:cNvSpPr txBox="1"/>
          <p:nvPr/>
        </p:nvSpPr>
        <p:spPr>
          <a:xfrm>
            <a:off x="2331720" y="4224528"/>
            <a:ext cx="182880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200" u="none" cap="none" strike="noStrike">
                <a:solidFill>
                  <a:srgbClr val="FFFFFF"/>
                </a:solidFill>
                <a:latin typeface="Calibri"/>
                <a:ea typeface="Calibri"/>
                <a:cs typeface="Calibri"/>
                <a:sym typeface="Calibri"/>
              </a:rPr>
              <a:t>Volume</a:t>
            </a:r>
            <a:endParaRPr/>
          </a:p>
        </p:txBody>
      </p:sp>
      <p:sp>
        <p:nvSpPr>
          <p:cNvPr id="158" name="Google Shape;158;p16"/>
          <p:cNvSpPr/>
          <p:nvPr/>
        </p:nvSpPr>
        <p:spPr>
          <a:xfrm>
            <a:off x="4206240" y="4206240"/>
            <a:ext cx="1828800" cy="411480"/>
          </a:xfrm>
          <a:prstGeom prst="rect">
            <a:avLst/>
          </a:prstGeom>
          <a:solidFill>
            <a:srgbClr val="1B998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9" name="Google Shape;159;p16"/>
          <p:cNvSpPr txBox="1"/>
          <p:nvPr/>
        </p:nvSpPr>
        <p:spPr>
          <a:xfrm>
            <a:off x="4206240" y="4224528"/>
            <a:ext cx="182880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200" u="none" cap="none" strike="noStrike">
                <a:solidFill>
                  <a:srgbClr val="FFFFFF"/>
                </a:solidFill>
                <a:latin typeface="Calibri"/>
                <a:ea typeface="Calibri"/>
                <a:cs typeface="Calibri"/>
                <a:sym typeface="Calibri"/>
              </a:rPr>
              <a:t>Avg FCRT</a:t>
            </a:r>
            <a:endParaRPr/>
          </a:p>
        </p:txBody>
      </p:sp>
      <p:sp>
        <p:nvSpPr>
          <p:cNvPr id="160" name="Google Shape;160;p16"/>
          <p:cNvSpPr/>
          <p:nvPr/>
        </p:nvSpPr>
        <p:spPr>
          <a:xfrm>
            <a:off x="6080759" y="4206240"/>
            <a:ext cx="1828800" cy="411480"/>
          </a:xfrm>
          <a:prstGeom prst="rect">
            <a:avLst/>
          </a:prstGeom>
          <a:solidFill>
            <a:srgbClr val="1B998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1" name="Google Shape;161;p16"/>
          <p:cNvSpPr txBox="1"/>
          <p:nvPr/>
        </p:nvSpPr>
        <p:spPr>
          <a:xfrm>
            <a:off x="6080759" y="4224528"/>
            <a:ext cx="182880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200" u="none" cap="none" strike="noStrike">
                <a:solidFill>
                  <a:srgbClr val="FFFFFF"/>
                </a:solidFill>
                <a:latin typeface="Calibri"/>
                <a:ea typeface="Calibri"/>
                <a:cs typeface="Calibri"/>
                <a:sym typeface="Calibri"/>
              </a:rPr>
              <a:t>Avg AHT</a:t>
            </a:r>
            <a:endParaRPr/>
          </a:p>
        </p:txBody>
      </p:sp>
      <p:sp>
        <p:nvSpPr>
          <p:cNvPr id="162" name="Google Shape;162;p16"/>
          <p:cNvSpPr/>
          <p:nvPr/>
        </p:nvSpPr>
        <p:spPr>
          <a:xfrm>
            <a:off x="7955279" y="4206240"/>
            <a:ext cx="1828800" cy="411480"/>
          </a:xfrm>
          <a:prstGeom prst="rect">
            <a:avLst/>
          </a:prstGeom>
          <a:solidFill>
            <a:srgbClr val="1B998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16"/>
          <p:cNvSpPr txBox="1"/>
          <p:nvPr/>
        </p:nvSpPr>
        <p:spPr>
          <a:xfrm>
            <a:off x="7955279" y="4224528"/>
            <a:ext cx="182880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200" u="none" cap="none" strike="noStrike">
                <a:solidFill>
                  <a:srgbClr val="FFFFFF"/>
                </a:solidFill>
                <a:latin typeface="Calibri"/>
                <a:ea typeface="Calibri"/>
                <a:cs typeface="Calibri"/>
                <a:sym typeface="Calibri"/>
              </a:rPr>
              <a:t>CSAT</a:t>
            </a:r>
            <a:endParaRPr/>
          </a:p>
        </p:txBody>
      </p:sp>
      <p:sp>
        <p:nvSpPr>
          <p:cNvPr id="164" name="Google Shape;164;p16"/>
          <p:cNvSpPr/>
          <p:nvPr/>
        </p:nvSpPr>
        <p:spPr>
          <a:xfrm>
            <a:off x="9829800" y="4206240"/>
            <a:ext cx="1828800" cy="411480"/>
          </a:xfrm>
          <a:prstGeom prst="rect">
            <a:avLst/>
          </a:prstGeom>
          <a:solidFill>
            <a:srgbClr val="1B998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5" name="Google Shape;165;p16"/>
          <p:cNvSpPr txBox="1"/>
          <p:nvPr/>
        </p:nvSpPr>
        <p:spPr>
          <a:xfrm>
            <a:off x="9829800" y="4224528"/>
            <a:ext cx="182880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200" u="none" cap="none" strike="noStrike">
                <a:solidFill>
                  <a:srgbClr val="FFFFFF"/>
                </a:solidFill>
                <a:latin typeface="Calibri"/>
                <a:ea typeface="Calibri"/>
                <a:cs typeface="Calibri"/>
                <a:sym typeface="Calibri"/>
              </a:rPr>
              <a:t>FCRT&gt;120</a:t>
            </a:r>
            <a:endParaRPr/>
          </a:p>
        </p:txBody>
      </p:sp>
      <p:sp>
        <p:nvSpPr>
          <p:cNvPr id="166" name="Google Shape;166;p16"/>
          <p:cNvSpPr/>
          <p:nvPr/>
        </p:nvSpPr>
        <p:spPr>
          <a:xfrm>
            <a:off x="457200" y="4663440"/>
            <a:ext cx="1828800" cy="36576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7" name="Google Shape;167;p16"/>
          <p:cNvSpPr txBox="1"/>
          <p:nvPr/>
        </p:nvSpPr>
        <p:spPr>
          <a:xfrm>
            <a:off x="457200" y="4681728"/>
            <a:ext cx="182880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100" u="none" cap="none" strike="noStrike">
                <a:solidFill>
                  <a:srgbClr val="FFFFFF"/>
                </a:solidFill>
                <a:latin typeface="Calibri"/>
                <a:ea typeface="Calibri"/>
                <a:cs typeface="Calibri"/>
                <a:sym typeface="Calibri"/>
              </a:rPr>
              <a:t>Chat</a:t>
            </a:r>
            <a:endParaRPr/>
          </a:p>
        </p:txBody>
      </p:sp>
      <p:sp>
        <p:nvSpPr>
          <p:cNvPr id="168" name="Google Shape;168;p16"/>
          <p:cNvSpPr/>
          <p:nvPr/>
        </p:nvSpPr>
        <p:spPr>
          <a:xfrm>
            <a:off x="2331720" y="4663440"/>
            <a:ext cx="1828800" cy="36576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9" name="Google Shape;169;p16"/>
          <p:cNvSpPr txBox="1"/>
          <p:nvPr/>
        </p:nvSpPr>
        <p:spPr>
          <a:xfrm>
            <a:off x="2331720" y="4681728"/>
            <a:ext cx="182880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100" u="none" cap="none" strike="noStrike">
                <a:solidFill>
                  <a:srgbClr val="FFFFFF"/>
                </a:solidFill>
                <a:latin typeface="Calibri"/>
                <a:ea typeface="Calibri"/>
                <a:cs typeface="Calibri"/>
                <a:sym typeface="Calibri"/>
              </a:rPr>
              <a:t>1,229</a:t>
            </a:r>
            <a:endParaRPr/>
          </a:p>
        </p:txBody>
      </p:sp>
      <p:sp>
        <p:nvSpPr>
          <p:cNvPr id="170" name="Google Shape;170;p16"/>
          <p:cNvSpPr/>
          <p:nvPr/>
        </p:nvSpPr>
        <p:spPr>
          <a:xfrm>
            <a:off x="4206240" y="4663440"/>
            <a:ext cx="1828800" cy="36576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1" name="Google Shape;171;p16"/>
          <p:cNvSpPr txBox="1"/>
          <p:nvPr/>
        </p:nvSpPr>
        <p:spPr>
          <a:xfrm>
            <a:off x="4206240" y="4681728"/>
            <a:ext cx="182880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100" u="none" cap="none" strike="noStrike">
                <a:solidFill>
                  <a:srgbClr val="FFFFFF"/>
                </a:solidFill>
                <a:latin typeface="Calibri"/>
                <a:ea typeface="Calibri"/>
                <a:cs typeface="Calibri"/>
                <a:sym typeface="Calibri"/>
              </a:rPr>
              <a:t>10.1 min</a:t>
            </a:r>
            <a:endParaRPr/>
          </a:p>
        </p:txBody>
      </p:sp>
      <p:sp>
        <p:nvSpPr>
          <p:cNvPr id="172" name="Google Shape;172;p16"/>
          <p:cNvSpPr/>
          <p:nvPr/>
        </p:nvSpPr>
        <p:spPr>
          <a:xfrm>
            <a:off x="6080759" y="4663440"/>
            <a:ext cx="1828800" cy="36576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3" name="Google Shape;173;p16"/>
          <p:cNvSpPr txBox="1"/>
          <p:nvPr/>
        </p:nvSpPr>
        <p:spPr>
          <a:xfrm>
            <a:off x="6080759" y="4681728"/>
            <a:ext cx="182880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100" u="none" cap="none" strike="noStrike">
                <a:solidFill>
                  <a:srgbClr val="FFFFFF"/>
                </a:solidFill>
                <a:latin typeface="Calibri"/>
                <a:ea typeface="Calibri"/>
                <a:cs typeface="Calibri"/>
                <a:sym typeface="Calibri"/>
              </a:rPr>
              <a:t>0.3 min</a:t>
            </a:r>
            <a:endParaRPr/>
          </a:p>
        </p:txBody>
      </p:sp>
      <p:sp>
        <p:nvSpPr>
          <p:cNvPr id="174" name="Google Shape;174;p16"/>
          <p:cNvSpPr/>
          <p:nvPr/>
        </p:nvSpPr>
        <p:spPr>
          <a:xfrm>
            <a:off x="7955279" y="4663440"/>
            <a:ext cx="1828800" cy="36576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5" name="Google Shape;175;p16"/>
          <p:cNvSpPr txBox="1"/>
          <p:nvPr/>
        </p:nvSpPr>
        <p:spPr>
          <a:xfrm>
            <a:off x="7955279" y="4681728"/>
            <a:ext cx="182880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100" u="none" cap="none" strike="noStrike">
                <a:solidFill>
                  <a:srgbClr val="FFFFFF"/>
                </a:solidFill>
                <a:latin typeface="Calibri"/>
                <a:ea typeface="Calibri"/>
                <a:cs typeface="Calibri"/>
                <a:sym typeface="Calibri"/>
              </a:rPr>
              <a:t>3.27</a:t>
            </a:r>
            <a:endParaRPr/>
          </a:p>
        </p:txBody>
      </p:sp>
      <p:sp>
        <p:nvSpPr>
          <p:cNvPr id="176" name="Google Shape;176;p16"/>
          <p:cNvSpPr/>
          <p:nvPr/>
        </p:nvSpPr>
        <p:spPr>
          <a:xfrm>
            <a:off x="9829800" y="4663440"/>
            <a:ext cx="1828800" cy="36576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7" name="Google Shape;177;p16"/>
          <p:cNvSpPr txBox="1"/>
          <p:nvPr/>
        </p:nvSpPr>
        <p:spPr>
          <a:xfrm>
            <a:off x="9829800" y="4681728"/>
            <a:ext cx="182880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100" u="none" cap="none" strike="noStrike">
                <a:solidFill>
                  <a:srgbClr val="FFFFFF"/>
                </a:solidFill>
                <a:latin typeface="Calibri"/>
                <a:ea typeface="Calibri"/>
                <a:cs typeface="Calibri"/>
                <a:sym typeface="Calibri"/>
              </a:rPr>
              <a:t>0</a:t>
            </a:r>
            <a:endParaRPr/>
          </a:p>
        </p:txBody>
      </p:sp>
      <p:sp>
        <p:nvSpPr>
          <p:cNvPr id="178" name="Google Shape;178;p16"/>
          <p:cNvSpPr/>
          <p:nvPr/>
        </p:nvSpPr>
        <p:spPr>
          <a:xfrm>
            <a:off x="457200" y="5047488"/>
            <a:ext cx="1828800" cy="365760"/>
          </a:xfrm>
          <a:prstGeom prst="rect">
            <a:avLst/>
          </a:prstGeom>
          <a:solidFill>
            <a:srgbClr val="1A2A3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9" name="Google Shape;179;p16"/>
          <p:cNvSpPr txBox="1"/>
          <p:nvPr/>
        </p:nvSpPr>
        <p:spPr>
          <a:xfrm>
            <a:off x="457200" y="5065776"/>
            <a:ext cx="182880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100" u="none" cap="none" strike="noStrike">
                <a:solidFill>
                  <a:srgbClr val="FFFFFF"/>
                </a:solidFill>
                <a:latin typeface="Calibri"/>
                <a:ea typeface="Calibri"/>
                <a:cs typeface="Calibri"/>
                <a:sym typeface="Calibri"/>
              </a:rPr>
              <a:t>Voice</a:t>
            </a:r>
            <a:endParaRPr/>
          </a:p>
        </p:txBody>
      </p:sp>
      <p:sp>
        <p:nvSpPr>
          <p:cNvPr id="180" name="Google Shape;180;p16"/>
          <p:cNvSpPr/>
          <p:nvPr/>
        </p:nvSpPr>
        <p:spPr>
          <a:xfrm>
            <a:off x="2331720" y="5047488"/>
            <a:ext cx="1828800" cy="365760"/>
          </a:xfrm>
          <a:prstGeom prst="rect">
            <a:avLst/>
          </a:prstGeom>
          <a:solidFill>
            <a:srgbClr val="1A2A3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1" name="Google Shape;181;p16"/>
          <p:cNvSpPr txBox="1"/>
          <p:nvPr/>
        </p:nvSpPr>
        <p:spPr>
          <a:xfrm>
            <a:off x="2331720" y="5065776"/>
            <a:ext cx="182880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100" u="none" cap="none" strike="noStrike">
                <a:solidFill>
                  <a:srgbClr val="FFFFFF"/>
                </a:solidFill>
                <a:latin typeface="Calibri"/>
                <a:ea typeface="Calibri"/>
                <a:cs typeface="Calibri"/>
                <a:sym typeface="Calibri"/>
              </a:rPr>
              <a:t>1,244</a:t>
            </a:r>
            <a:endParaRPr/>
          </a:p>
        </p:txBody>
      </p:sp>
      <p:sp>
        <p:nvSpPr>
          <p:cNvPr id="182" name="Google Shape;182;p16"/>
          <p:cNvSpPr/>
          <p:nvPr/>
        </p:nvSpPr>
        <p:spPr>
          <a:xfrm>
            <a:off x="4206240" y="5047488"/>
            <a:ext cx="1828800" cy="365760"/>
          </a:xfrm>
          <a:prstGeom prst="rect">
            <a:avLst/>
          </a:prstGeom>
          <a:solidFill>
            <a:srgbClr val="1A2A3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3" name="Google Shape;183;p16"/>
          <p:cNvSpPr txBox="1"/>
          <p:nvPr/>
        </p:nvSpPr>
        <p:spPr>
          <a:xfrm>
            <a:off x="4206240" y="5065776"/>
            <a:ext cx="182880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100" u="none" cap="none" strike="noStrike">
                <a:solidFill>
                  <a:srgbClr val="FFFFFF"/>
                </a:solidFill>
                <a:latin typeface="Calibri"/>
                <a:ea typeface="Calibri"/>
                <a:cs typeface="Calibri"/>
                <a:sym typeface="Calibri"/>
              </a:rPr>
              <a:t>60.7 min</a:t>
            </a:r>
            <a:endParaRPr/>
          </a:p>
        </p:txBody>
      </p:sp>
      <p:sp>
        <p:nvSpPr>
          <p:cNvPr id="184" name="Google Shape;184;p16"/>
          <p:cNvSpPr/>
          <p:nvPr/>
        </p:nvSpPr>
        <p:spPr>
          <a:xfrm>
            <a:off x="6080759" y="5047488"/>
            <a:ext cx="1828800" cy="365760"/>
          </a:xfrm>
          <a:prstGeom prst="rect">
            <a:avLst/>
          </a:prstGeom>
          <a:solidFill>
            <a:srgbClr val="1A2A3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5" name="Google Shape;185;p16"/>
          <p:cNvSpPr txBox="1"/>
          <p:nvPr/>
        </p:nvSpPr>
        <p:spPr>
          <a:xfrm>
            <a:off x="6080759" y="5065776"/>
            <a:ext cx="182880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100" u="none" cap="none" strike="noStrike">
                <a:solidFill>
                  <a:srgbClr val="FFFFFF"/>
                </a:solidFill>
                <a:latin typeface="Calibri"/>
                <a:ea typeface="Calibri"/>
                <a:cs typeface="Calibri"/>
                <a:sym typeface="Calibri"/>
              </a:rPr>
              <a:t>18.1 min</a:t>
            </a:r>
            <a:endParaRPr/>
          </a:p>
        </p:txBody>
      </p:sp>
      <p:sp>
        <p:nvSpPr>
          <p:cNvPr id="186" name="Google Shape;186;p16"/>
          <p:cNvSpPr/>
          <p:nvPr/>
        </p:nvSpPr>
        <p:spPr>
          <a:xfrm>
            <a:off x="7955279" y="5047488"/>
            <a:ext cx="1828800" cy="365760"/>
          </a:xfrm>
          <a:prstGeom prst="rect">
            <a:avLst/>
          </a:prstGeom>
          <a:solidFill>
            <a:srgbClr val="1A2A3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7" name="Google Shape;187;p16"/>
          <p:cNvSpPr txBox="1"/>
          <p:nvPr/>
        </p:nvSpPr>
        <p:spPr>
          <a:xfrm>
            <a:off x="7955279" y="5065776"/>
            <a:ext cx="182880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100" u="none" cap="none" strike="noStrike">
                <a:solidFill>
                  <a:srgbClr val="FFFFFF"/>
                </a:solidFill>
                <a:latin typeface="Calibri"/>
                <a:ea typeface="Calibri"/>
                <a:cs typeface="Calibri"/>
                <a:sym typeface="Calibri"/>
              </a:rPr>
              <a:t>3.26</a:t>
            </a:r>
            <a:endParaRPr/>
          </a:p>
        </p:txBody>
      </p:sp>
      <p:sp>
        <p:nvSpPr>
          <p:cNvPr id="188" name="Google Shape;188;p16"/>
          <p:cNvSpPr/>
          <p:nvPr/>
        </p:nvSpPr>
        <p:spPr>
          <a:xfrm>
            <a:off x="9829800" y="5047488"/>
            <a:ext cx="1828800" cy="365760"/>
          </a:xfrm>
          <a:prstGeom prst="rect">
            <a:avLst/>
          </a:prstGeom>
          <a:solidFill>
            <a:srgbClr val="1A2A3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9" name="Google Shape;189;p16"/>
          <p:cNvSpPr txBox="1"/>
          <p:nvPr/>
        </p:nvSpPr>
        <p:spPr>
          <a:xfrm>
            <a:off x="9829800" y="5065776"/>
            <a:ext cx="182880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100" u="none" cap="none" strike="noStrike">
                <a:solidFill>
                  <a:srgbClr val="FFFFFF"/>
                </a:solidFill>
                <a:latin typeface="Calibri"/>
                <a:ea typeface="Calibri"/>
                <a:cs typeface="Calibri"/>
                <a:sym typeface="Calibri"/>
              </a:rPr>
              <a:t>0</a:t>
            </a:r>
            <a:endParaRPr/>
          </a:p>
        </p:txBody>
      </p:sp>
      <p:sp>
        <p:nvSpPr>
          <p:cNvPr id="190" name="Google Shape;190;p16"/>
          <p:cNvSpPr/>
          <p:nvPr/>
        </p:nvSpPr>
        <p:spPr>
          <a:xfrm>
            <a:off x="457200" y="5431536"/>
            <a:ext cx="1828800" cy="36576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1" name="Google Shape;191;p16"/>
          <p:cNvSpPr txBox="1"/>
          <p:nvPr/>
        </p:nvSpPr>
        <p:spPr>
          <a:xfrm>
            <a:off x="457200" y="5449824"/>
            <a:ext cx="182880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100" u="none" cap="none" strike="noStrike">
                <a:solidFill>
                  <a:srgbClr val="FFFFFF"/>
                </a:solidFill>
                <a:latin typeface="Calibri"/>
                <a:ea typeface="Calibri"/>
                <a:cs typeface="Calibri"/>
                <a:sym typeface="Calibri"/>
              </a:rPr>
              <a:t>Messaging</a:t>
            </a:r>
            <a:endParaRPr/>
          </a:p>
        </p:txBody>
      </p:sp>
      <p:sp>
        <p:nvSpPr>
          <p:cNvPr id="192" name="Google Shape;192;p16"/>
          <p:cNvSpPr/>
          <p:nvPr/>
        </p:nvSpPr>
        <p:spPr>
          <a:xfrm>
            <a:off x="2331720" y="5431536"/>
            <a:ext cx="1828800" cy="36576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3" name="Google Shape;193;p16"/>
          <p:cNvSpPr txBox="1"/>
          <p:nvPr/>
        </p:nvSpPr>
        <p:spPr>
          <a:xfrm>
            <a:off x="2331720" y="5449824"/>
            <a:ext cx="182880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100" u="none" cap="none" strike="noStrike">
                <a:solidFill>
                  <a:srgbClr val="FFFFFF"/>
                </a:solidFill>
                <a:latin typeface="Calibri"/>
                <a:ea typeface="Calibri"/>
                <a:cs typeface="Calibri"/>
                <a:sym typeface="Calibri"/>
              </a:rPr>
              <a:t>1,228</a:t>
            </a:r>
            <a:endParaRPr/>
          </a:p>
        </p:txBody>
      </p:sp>
      <p:sp>
        <p:nvSpPr>
          <p:cNvPr id="194" name="Google Shape;194;p16"/>
          <p:cNvSpPr/>
          <p:nvPr/>
        </p:nvSpPr>
        <p:spPr>
          <a:xfrm>
            <a:off x="4206240" y="5431536"/>
            <a:ext cx="1828800" cy="36576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5" name="Google Shape;195;p16"/>
          <p:cNvSpPr txBox="1"/>
          <p:nvPr/>
        </p:nvSpPr>
        <p:spPr>
          <a:xfrm>
            <a:off x="4206240" y="5449824"/>
            <a:ext cx="182880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100" u="none" cap="none" strike="noStrike">
                <a:solidFill>
                  <a:srgbClr val="FFFFFF"/>
                </a:solidFill>
                <a:latin typeface="Calibri"/>
                <a:ea typeface="Calibri"/>
                <a:cs typeface="Calibri"/>
                <a:sym typeface="Calibri"/>
              </a:rPr>
              <a:t>60.3 min</a:t>
            </a:r>
            <a:endParaRPr/>
          </a:p>
        </p:txBody>
      </p:sp>
      <p:sp>
        <p:nvSpPr>
          <p:cNvPr id="196" name="Google Shape;196;p16"/>
          <p:cNvSpPr/>
          <p:nvPr/>
        </p:nvSpPr>
        <p:spPr>
          <a:xfrm>
            <a:off x="6080759" y="5431536"/>
            <a:ext cx="1828800" cy="36576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7" name="Google Shape;197;p16"/>
          <p:cNvSpPr txBox="1"/>
          <p:nvPr/>
        </p:nvSpPr>
        <p:spPr>
          <a:xfrm>
            <a:off x="6080759" y="5449824"/>
            <a:ext cx="182880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100" u="none" cap="none" strike="noStrike">
                <a:solidFill>
                  <a:srgbClr val="FFFFFF"/>
                </a:solidFill>
                <a:latin typeface="Calibri"/>
                <a:ea typeface="Calibri"/>
                <a:cs typeface="Calibri"/>
                <a:sym typeface="Calibri"/>
              </a:rPr>
              <a:t>15.9 min</a:t>
            </a:r>
            <a:endParaRPr/>
          </a:p>
        </p:txBody>
      </p:sp>
      <p:sp>
        <p:nvSpPr>
          <p:cNvPr id="198" name="Google Shape;198;p16"/>
          <p:cNvSpPr/>
          <p:nvPr/>
        </p:nvSpPr>
        <p:spPr>
          <a:xfrm>
            <a:off x="7955279" y="5431536"/>
            <a:ext cx="1828800" cy="36576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9" name="Google Shape;199;p16"/>
          <p:cNvSpPr txBox="1"/>
          <p:nvPr/>
        </p:nvSpPr>
        <p:spPr>
          <a:xfrm>
            <a:off x="7955279" y="5449824"/>
            <a:ext cx="182880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100" u="none" cap="none" strike="noStrike">
                <a:solidFill>
                  <a:srgbClr val="FFFFFF"/>
                </a:solidFill>
                <a:latin typeface="Calibri"/>
                <a:ea typeface="Calibri"/>
                <a:cs typeface="Calibri"/>
                <a:sym typeface="Calibri"/>
              </a:rPr>
              <a:t>2.85</a:t>
            </a:r>
            <a:endParaRPr/>
          </a:p>
        </p:txBody>
      </p:sp>
      <p:sp>
        <p:nvSpPr>
          <p:cNvPr id="200" name="Google Shape;200;p16"/>
          <p:cNvSpPr/>
          <p:nvPr/>
        </p:nvSpPr>
        <p:spPr>
          <a:xfrm>
            <a:off x="9829800" y="5431536"/>
            <a:ext cx="1828800" cy="36576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1" name="Google Shape;201;p16"/>
          <p:cNvSpPr txBox="1"/>
          <p:nvPr/>
        </p:nvSpPr>
        <p:spPr>
          <a:xfrm>
            <a:off x="9829800" y="5449824"/>
            <a:ext cx="182880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100" u="none" cap="none" strike="noStrike">
                <a:solidFill>
                  <a:srgbClr val="FFFFFF"/>
                </a:solidFill>
                <a:latin typeface="Calibri"/>
                <a:ea typeface="Calibri"/>
                <a:cs typeface="Calibri"/>
                <a:sym typeface="Calibri"/>
              </a:rPr>
              <a:t>0</a:t>
            </a:r>
            <a:endParaRPr/>
          </a:p>
        </p:txBody>
      </p:sp>
      <p:sp>
        <p:nvSpPr>
          <p:cNvPr id="202" name="Google Shape;202;p16"/>
          <p:cNvSpPr/>
          <p:nvPr/>
        </p:nvSpPr>
        <p:spPr>
          <a:xfrm>
            <a:off x="457200" y="5815583"/>
            <a:ext cx="1828800" cy="365760"/>
          </a:xfrm>
          <a:prstGeom prst="rect">
            <a:avLst/>
          </a:prstGeom>
          <a:solidFill>
            <a:srgbClr val="1A2A3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3" name="Google Shape;203;p16"/>
          <p:cNvSpPr txBox="1"/>
          <p:nvPr/>
        </p:nvSpPr>
        <p:spPr>
          <a:xfrm>
            <a:off x="457200" y="5833872"/>
            <a:ext cx="182880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100" u="none" cap="none" strike="noStrike">
                <a:solidFill>
                  <a:srgbClr val="FFFFFF"/>
                </a:solidFill>
                <a:latin typeface="Calibri"/>
                <a:ea typeface="Calibri"/>
                <a:cs typeface="Calibri"/>
                <a:sym typeface="Calibri"/>
              </a:rPr>
              <a:t>Email</a:t>
            </a:r>
            <a:endParaRPr/>
          </a:p>
        </p:txBody>
      </p:sp>
      <p:sp>
        <p:nvSpPr>
          <p:cNvPr id="204" name="Google Shape;204;p16"/>
          <p:cNvSpPr/>
          <p:nvPr/>
        </p:nvSpPr>
        <p:spPr>
          <a:xfrm>
            <a:off x="2331720" y="5815583"/>
            <a:ext cx="1828800" cy="365760"/>
          </a:xfrm>
          <a:prstGeom prst="rect">
            <a:avLst/>
          </a:prstGeom>
          <a:solidFill>
            <a:srgbClr val="1A2A3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5" name="Google Shape;205;p16"/>
          <p:cNvSpPr txBox="1"/>
          <p:nvPr/>
        </p:nvSpPr>
        <p:spPr>
          <a:xfrm>
            <a:off x="2331720" y="5833872"/>
            <a:ext cx="182880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100" u="none" cap="none" strike="noStrike">
                <a:solidFill>
                  <a:srgbClr val="FFFFFF"/>
                </a:solidFill>
                <a:latin typeface="Calibri"/>
                <a:ea typeface="Calibri"/>
                <a:cs typeface="Calibri"/>
                <a:sym typeface="Calibri"/>
              </a:rPr>
              <a:t>1,299</a:t>
            </a:r>
            <a:endParaRPr/>
          </a:p>
        </p:txBody>
      </p:sp>
      <p:sp>
        <p:nvSpPr>
          <p:cNvPr id="206" name="Google Shape;206;p16"/>
          <p:cNvSpPr/>
          <p:nvPr/>
        </p:nvSpPr>
        <p:spPr>
          <a:xfrm>
            <a:off x="4206240" y="5815583"/>
            <a:ext cx="1828800" cy="365760"/>
          </a:xfrm>
          <a:prstGeom prst="rect">
            <a:avLst/>
          </a:prstGeom>
          <a:solidFill>
            <a:srgbClr val="1A2A3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7" name="Google Shape;207;p16"/>
          <p:cNvSpPr txBox="1"/>
          <p:nvPr/>
        </p:nvSpPr>
        <p:spPr>
          <a:xfrm>
            <a:off x="4206240" y="5833872"/>
            <a:ext cx="182880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100" u="none" cap="none" strike="noStrike">
                <a:solidFill>
                  <a:srgbClr val="FFFFFF"/>
                </a:solidFill>
                <a:latin typeface="Calibri"/>
                <a:ea typeface="Calibri"/>
                <a:cs typeface="Calibri"/>
                <a:sym typeface="Calibri"/>
              </a:rPr>
              <a:t>90.2 min</a:t>
            </a:r>
            <a:endParaRPr/>
          </a:p>
        </p:txBody>
      </p:sp>
      <p:sp>
        <p:nvSpPr>
          <p:cNvPr id="208" name="Google Shape;208;p16"/>
          <p:cNvSpPr/>
          <p:nvPr/>
        </p:nvSpPr>
        <p:spPr>
          <a:xfrm>
            <a:off x="6080759" y="5815583"/>
            <a:ext cx="1828800" cy="365760"/>
          </a:xfrm>
          <a:prstGeom prst="rect">
            <a:avLst/>
          </a:prstGeom>
          <a:solidFill>
            <a:srgbClr val="1A2A3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9" name="Google Shape;209;p16"/>
          <p:cNvSpPr txBox="1"/>
          <p:nvPr/>
        </p:nvSpPr>
        <p:spPr>
          <a:xfrm>
            <a:off x="6080759" y="5833872"/>
            <a:ext cx="182880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100" u="none" cap="none" strike="noStrike">
                <a:solidFill>
                  <a:srgbClr val="FFFFFF"/>
                </a:solidFill>
                <a:latin typeface="Calibri"/>
                <a:ea typeface="Calibri"/>
                <a:cs typeface="Calibri"/>
                <a:sym typeface="Calibri"/>
              </a:rPr>
              <a:t>13.9 min</a:t>
            </a:r>
            <a:endParaRPr/>
          </a:p>
        </p:txBody>
      </p:sp>
      <p:sp>
        <p:nvSpPr>
          <p:cNvPr id="210" name="Google Shape;210;p16"/>
          <p:cNvSpPr/>
          <p:nvPr/>
        </p:nvSpPr>
        <p:spPr>
          <a:xfrm>
            <a:off x="7955279" y="5815583"/>
            <a:ext cx="1828800" cy="365760"/>
          </a:xfrm>
          <a:prstGeom prst="rect">
            <a:avLst/>
          </a:prstGeom>
          <a:solidFill>
            <a:srgbClr val="1A2A3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1" name="Google Shape;211;p16"/>
          <p:cNvSpPr txBox="1"/>
          <p:nvPr/>
        </p:nvSpPr>
        <p:spPr>
          <a:xfrm>
            <a:off x="7955279" y="5833872"/>
            <a:ext cx="182880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100" u="none" cap="none" strike="noStrike">
                <a:solidFill>
                  <a:srgbClr val="FFFFFF"/>
                </a:solidFill>
                <a:latin typeface="Calibri"/>
                <a:ea typeface="Calibri"/>
                <a:cs typeface="Calibri"/>
                <a:sym typeface="Calibri"/>
              </a:rPr>
              <a:t>2.81</a:t>
            </a:r>
            <a:endParaRPr/>
          </a:p>
        </p:txBody>
      </p:sp>
      <p:sp>
        <p:nvSpPr>
          <p:cNvPr id="212" name="Google Shape;212;p16"/>
          <p:cNvSpPr/>
          <p:nvPr/>
        </p:nvSpPr>
        <p:spPr>
          <a:xfrm>
            <a:off x="9829800" y="5815583"/>
            <a:ext cx="1828800" cy="365760"/>
          </a:xfrm>
          <a:prstGeom prst="rect">
            <a:avLst/>
          </a:prstGeom>
          <a:solidFill>
            <a:srgbClr val="1A2A3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3" name="Google Shape;213;p16"/>
          <p:cNvSpPr txBox="1"/>
          <p:nvPr/>
        </p:nvSpPr>
        <p:spPr>
          <a:xfrm>
            <a:off x="9829800" y="5833872"/>
            <a:ext cx="1828800" cy="307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u="none" cap="none" strike="noStrike">
                <a:solidFill>
                  <a:srgbClr val="E74C3C"/>
                </a:solidFill>
                <a:latin typeface="Calibri"/>
                <a:ea typeface="Calibri"/>
                <a:cs typeface="Calibri"/>
                <a:sym typeface="Calibri"/>
              </a:rPr>
              <a:t>403</a:t>
            </a:r>
            <a:endParaRPr b="1" sz="17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217" name="Shape 217"/>
        <p:cNvGrpSpPr/>
        <p:nvPr/>
      </p:nvGrpSpPr>
      <p:grpSpPr>
        <a:xfrm>
          <a:off x="0" y="0"/>
          <a:ext cx="0" cy="0"/>
          <a:chOff x="0" y="0"/>
          <a:chExt cx="0" cy="0"/>
        </a:xfrm>
      </p:grpSpPr>
      <p:sp>
        <p:nvSpPr>
          <p:cNvPr id="218" name="Google Shape;218;p17"/>
          <p:cNvSpPr/>
          <p:nvPr/>
        </p:nvSpPr>
        <p:spPr>
          <a:xfrm>
            <a:off x="0" y="0"/>
            <a:ext cx="12191695" cy="73152"/>
          </a:xfrm>
          <a:prstGeom prst="rect">
            <a:avLst/>
          </a:prstGeom>
          <a:solidFill>
            <a:srgbClr val="E74C3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9" name="Google Shape;219;p17"/>
          <p:cNvSpPr txBox="1"/>
          <p:nvPr/>
        </p:nvSpPr>
        <p:spPr>
          <a:xfrm>
            <a:off x="457200" y="274320"/>
            <a:ext cx="109728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FFFFFF"/>
                </a:solidFill>
                <a:latin typeface="Calibri"/>
                <a:ea typeface="Calibri"/>
                <a:cs typeface="Calibri"/>
                <a:sym typeface="Calibri"/>
              </a:rPr>
              <a:t>HIGH CRITICALITY: 4 Inefficiencies Driving </a:t>
            </a:r>
            <a:r>
              <a:rPr b="1" lang="en-US" sz="2400">
                <a:solidFill>
                  <a:srgbClr val="FFFFFF"/>
                </a:solidFill>
                <a:latin typeface="Calibri"/>
                <a:ea typeface="Calibri"/>
                <a:cs typeface="Calibri"/>
                <a:sym typeface="Calibri"/>
              </a:rPr>
              <a:t>Majority</a:t>
            </a:r>
            <a:r>
              <a:rPr b="1" i="0" lang="en-US" sz="2400" u="none" cap="none" strike="noStrike">
                <a:solidFill>
                  <a:srgbClr val="FFFFFF"/>
                </a:solidFill>
                <a:latin typeface="Calibri"/>
                <a:ea typeface="Calibri"/>
                <a:cs typeface="Calibri"/>
                <a:sym typeface="Calibri"/>
              </a:rPr>
              <a:t> of Process Waste</a:t>
            </a:r>
            <a:endParaRPr/>
          </a:p>
        </p:txBody>
      </p:sp>
      <p:sp>
        <p:nvSpPr>
          <p:cNvPr id="220" name="Google Shape;220;p17"/>
          <p:cNvSpPr/>
          <p:nvPr/>
        </p:nvSpPr>
        <p:spPr>
          <a:xfrm>
            <a:off x="457200" y="1005840"/>
            <a:ext cx="731520" cy="36576"/>
          </a:xfrm>
          <a:prstGeom prst="rect">
            <a:avLst/>
          </a:prstGeom>
          <a:solidFill>
            <a:srgbClr val="E74C3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1" name="Google Shape;221;p17"/>
          <p:cNvSpPr/>
          <p:nvPr/>
        </p:nvSpPr>
        <p:spPr>
          <a:xfrm>
            <a:off x="457200" y="1371600"/>
            <a:ext cx="11247120" cy="123444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2" name="Google Shape;222;p17"/>
          <p:cNvSpPr/>
          <p:nvPr/>
        </p:nvSpPr>
        <p:spPr>
          <a:xfrm>
            <a:off x="457200" y="1371600"/>
            <a:ext cx="54864" cy="1234440"/>
          </a:xfrm>
          <a:prstGeom prst="rect">
            <a:avLst/>
          </a:prstGeom>
          <a:solidFill>
            <a:srgbClr val="E74C3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3" name="Google Shape;223;p17"/>
          <p:cNvSpPr txBox="1"/>
          <p:nvPr/>
        </p:nvSpPr>
        <p:spPr>
          <a:xfrm>
            <a:off x="731520" y="1463040"/>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E74C3C"/>
                </a:solidFill>
                <a:latin typeface="Calibri"/>
                <a:ea typeface="Calibri"/>
                <a:cs typeface="Calibri"/>
                <a:sym typeface="Calibri"/>
              </a:rPr>
              <a:t>H1: No Auto-Approval for Refundable Bookings</a:t>
            </a:r>
            <a:endParaRPr/>
          </a:p>
        </p:txBody>
      </p:sp>
      <p:sp>
        <p:nvSpPr>
          <p:cNvPr id="224" name="Google Shape;224;p17"/>
          <p:cNvSpPr txBox="1"/>
          <p:nvPr/>
        </p:nvSpPr>
        <p:spPr>
          <a:xfrm>
            <a:off x="731520" y="1783080"/>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FFFFFF"/>
                </a:solidFill>
                <a:latin typeface="Calibri"/>
                <a:ea typeface="Calibri"/>
                <a:cs typeface="Calibri"/>
                <a:sym typeface="Calibri"/>
              </a:rPr>
              <a:t>1,762 refundable cases have 100% approval rate yet require manual agent processing</a:t>
            </a:r>
            <a:endParaRPr/>
          </a:p>
        </p:txBody>
      </p:sp>
      <p:sp>
        <p:nvSpPr>
          <p:cNvPr id="225" name="Google Shape;225;p17"/>
          <p:cNvSpPr txBox="1"/>
          <p:nvPr/>
        </p:nvSpPr>
        <p:spPr>
          <a:xfrm>
            <a:off x="731520" y="2148840"/>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1B998B"/>
                </a:solidFill>
                <a:latin typeface="Calibri"/>
                <a:ea typeface="Calibri"/>
                <a:cs typeface="Calibri"/>
                <a:sym typeface="Calibri"/>
              </a:rPr>
              <a:t>Volume: 1,762 (35.2%) | Wasted FCRT: ~43,500 agent-min/yr | CSAT gap: could be 5.0 vs 4.22</a:t>
            </a:r>
            <a:endParaRPr/>
          </a:p>
        </p:txBody>
      </p:sp>
      <p:sp>
        <p:nvSpPr>
          <p:cNvPr id="226" name="Google Shape;226;p17"/>
          <p:cNvSpPr/>
          <p:nvPr/>
        </p:nvSpPr>
        <p:spPr>
          <a:xfrm>
            <a:off x="457200" y="2697480"/>
            <a:ext cx="11247120" cy="123444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7" name="Google Shape;227;p17"/>
          <p:cNvSpPr/>
          <p:nvPr/>
        </p:nvSpPr>
        <p:spPr>
          <a:xfrm>
            <a:off x="457200" y="2697480"/>
            <a:ext cx="54864" cy="1234440"/>
          </a:xfrm>
          <a:prstGeom prst="rect">
            <a:avLst/>
          </a:prstGeom>
          <a:solidFill>
            <a:srgbClr val="E74C3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8" name="Google Shape;228;p17"/>
          <p:cNvSpPr txBox="1"/>
          <p:nvPr/>
        </p:nvSpPr>
        <p:spPr>
          <a:xfrm>
            <a:off x="731520" y="2788920"/>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E74C3C"/>
                </a:solidFill>
                <a:latin typeface="Calibri"/>
                <a:ea typeface="Calibri"/>
                <a:cs typeface="Calibri"/>
                <a:sym typeface="Calibri"/>
              </a:rPr>
              <a:t>H2: Email Channel — 9x Slower, Lowest CSAT</a:t>
            </a:r>
            <a:endParaRPr/>
          </a:p>
        </p:txBody>
      </p:sp>
      <p:sp>
        <p:nvSpPr>
          <p:cNvPr id="229" name="Google Shape;229;p17"/>
          <p:cNvSpPr txBox="1"/>
          <p:nvPr/>
        </p:nvSpPr>
        <p:spPr>
          <a:xfrm>
            <a:off x="731520" y="3108960"/>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FFFFFF"/>
                </a:solidFill>
                <a:latin typeface="Calibri"/>
                <a:ea typeface="Calibri"/>
                <a:cs typeface="Calibri"/>
                <a:sym typeface="Calibri"/>
              </a:rPr>
              <a:t>Email NR avg FCRT = 119 min (vs Chat 10 min). 403 cases exceed 120 min SLA — ALL email+NR</a:t>
            </a:r>
            <a:endParaRPr/>
          </a:p>
        </p:txBody>
      </p:sp>
      <p:sp>
        <p:nvSpPr>
          <p:cNvPr id="230" name="Google Shape;230;p17"/>
          <p:cNvSpPr txBox="1"/>
          <p:nvPr/>
        </p:nvSpPr>
        <p:spPr>
          <a:xfrm>
            <a:off x="731520" y="3474720"/>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1B998B"/>
                </a:solidFill>
                <a:latin typeface="Calibri"/>
                <a:ea typeface="Calibri"/>
                <a:cs typeface="Calibri"/>
                <a:sym typeface="Calibri"/>
              </a:rPr>
              <a:t>Volume: 1,299 (26%) | FCRT: 90.2 min avg | 403 SLA breaches | CSAT: 2.81 (lowest)</a:t>
            </a:r>
            <a:endParaRPr/>
          </a:p>
        </p:txBody>
      </p:sp>
      <p:sp>
        <p:nvSpPr>
          <p:cNvPr id="231" name="Google Shape;231;p17"/>
          <p:cNvSpPr/>
          <p:nvPr/>
        </p:nvSpPr>
        <p:spPr>
          <a:xfrm>
            <a:off x="457200" y="4023360"/>
            <a:ext cx="11247120" cy="123444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2" name="Google Shape;232;p17"/>
          <p:cNvSpPr/>
          <p:nvPr/>
        </p:nvSpPr>
        <p:spPr>
          <a:xfrm>
            <a:off x="457200" y="4023360"/>
            <a:ext cx="54864" cy="1234440"/>
          </a:xfrm>
          <a:prstGeom prst="rect">
            <a:avLst/>
          </a:prstGeom>
          <a:solidFill>
            <a:srgbClr val="E74C3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3" name="Google Shape;233;p17"/>
          <p:cNvSpPr txBox="1"/>
          <p:nvPr/>
        </p:nvSpPr>
        <p:spPr>
          <a:xfrm>
            <a:off x="731520" y="4114800"/>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E74C3C"/>
                </a:solidFill>
                <a:latin typeface="Calibri"/>
                <a:ea typeface="Calibri"/>
                <a:cs typeface="Calibri"/>
                <a:sym typeface="Calibri"/>
              </a:rPr>
              <a:t>H3: Unstructured NR Exception Handling</a:t>
            </a:r>
            <a:endParaRPr/>
          </a:p>
        </p:txBody>
      </p:sp>
      <p:sp>
        <p:nvSpPr>
          <p:cNvPr id="234" name="Google Shape;234;p17"/>
          <p:cNvSpPr txBox="1"/>
          <p:nvPr/>
        </p:nvSpPr>
        <p:spPr>
          <a:xfrm>
            <a:off x="731520" y="4434840"/>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FFFFFF"/>
                </a:solidFill>
                <a:latin typeface="Calibri"/>
                <a:ea typeface="Calibri"/>
                <a:cs typeface="Calibri"/>
                <a:sym typeface="Calibri"/>
              </a:rPr>
              <a:t>763 non-refundable cases approved without rule engine — inconsistent, slow, margin leakage</a:t>
            </a:r>
            <a:endParaRPr/>
          </a:p>
        </p:txBody>
      </p:sp>
      <p:sp>
        <p:nvSpPr>
          <p:cNvPr id="235" name="Google Shape;235;p17"/>
          <p:cNvSpPr txBox="1"/>
          <p:nvPr/>
        </p:nvSpPr>
        <p:spPr>
          <a:xfrm>
            <a:off x="731520" y="4800600"/>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1B998B"/>
                </a:solidFill>
                <a:latin typeface="Calibri"/>
                <a:ea typeface="Calibri"/>
                <a:cs typeface="Calibri"/>
                <a:sym typeface="Calibri"/>
              </a:rPr>
              <a:t>Volume: 763 (23.6% of NR) | Margin at risk: $122K | Avg FCRT: 74.2 min | No audit trail</a:t>
            </a:r>
            <a:endParaRPr/>
          </a:p>
        </p:txBody>
      </p:sp>
      <p:sp>
        <p:nvSpPr>
          <p:cNvPr id="236" name="Google Shape;236;p17"/>
          <p:cNvSpPr/>
          <p:nvPr/>
        </p:nvSpPr>
        <p:spPr>
          <a:xfrm>
            <a:off x="457200" y="5349240"/>
            <a:ext cx="11247120" cy="123444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7" name="Google Shape;237;p17"/>
          <p:cNvSpPr/>
          <p:nvPr/>
        </p:nvSpPr>
        <p:spPr>
          <a:xfrm>
            <a:off x="457200" y="5349240"/>
            <a:ext cx="54864" cy="1234440"/>
          </a:xfrm>
          <a:prstGeom prst="rect">
            <a:avLst/>
          </a:prstGeom>
          <a:solidFill>
            <a:srgbClr val="E74C3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8" name="Google Shape;238;p17"/>
          <p:cNvSpPr txBox="1"/>
          <p:nvPr/>
        </p:nvSpPr>
        <p:spPr>
          <a:xfrm>
            <a:off x="731520" y="5440680"/>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E74C3C"/>
                </a:solidFill>
                <a:latin typeface="Calibri"/>
                <a:ea typeface="Calibri"/>
                <a:cs typeface="Calibri"/>
                <a:sym typeface="Calibri"/>
              </a:rPr>
              <a:t>H4: Massive CSAT Gap Between Outcomes</a:t>
            </a:r>
            <a:endParaRPr/>
          </a:p>
        </p:txBody>
      </p:sp>
      <p:sp>
        <p:nvSpPr>
          <p:cNvPr id="239" name="Google Shape;239;p17"/>
          <p:cNvSpPr txBox="1"/>
          <p:nvPr/>
        </p:nvSpPr>
        <p:spPr>
          <a:xfrm>
            <a:off x="731520" y="5760720"/>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FFFFFF"/>
                </a:solidFill>
                <a:latin typeface="Calibri"/>
                <a:ea typeface="Calibri"/>
                <a:cs typeface="Calibri"/>
                <a:sym typeface="Calibri"/>
              </a:rPr>
              <a:t>Denied customers score 2.23 CSAT vs 3.84 approved — 1.61 point gap signals poor denial UX</a:t>
            </a:r>
            <a:endParaRPr/>
          </a:p>
        </p:txBody>
      </p:sp>
      <p:sp>
        <p:nvSpPr>
          <p:cNvPr id="240" name="Google Shape;240;p17"/>
          <p:cNvSpPr txBox="1"/>
          <p:nvPr/>
        </p:nvSpPr>
        <p:spPr>
          <a:xfrm>
            <a:off x="731520" y="6126480"/>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1B998B"/>
                </a:solidFill>
                <a:latin typeface="Calibri"/>
                <a:ea typeface="Calibri"/>
                <a:cs typeface="Calibri"/>
                <a:sym typeface="Calibri"/>
              </a:rPr>
              <a:t>Denied: 2,475 cases | CSAT: 2.23 | No self-service denial path | High repeat contact risk</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244" name="Shape 244"/>
        <p:cNvGrpSpPr/>
        <p:nvPr/>
      </p:nvGrpSpPr>
      <p:grpSpPr>
        <a:xfrm>
          <a:off x="0" y="0"/>
          <a:ext cx="0" cy="0"/>
          <a:chOff x="0" y="0"/>
          <a:chExt cx="0" cy="0"/>
        </a:xfrm>
      </p:grpSpPr>
      <p:sp>
        <p:nvSpPr>
          <p:cNvPr id="245" name="Google Shape;245;p18"/>
          <p:cNvSpPr/>
          <p:nvPr/>
        </p:nvSpPr>
        <p:spPr>
          <a:xfrm>
            <a:off x="0" y="0"/>
            <a:ext cx="12191695" cy="73152"/>
          </a:xfrm>
          <a:prstGeom prst="rect">
            <a:avLst/>
          </a:prstGeom>
          <a:solidFill>
            <a:srgbClr val="F39C1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6" name="Google Shape;246;p18"/>
          <p:cNvSpPr txBox="1"/>
          <p:nvPr/>
        </p:nvSpPr>
        <p:spPr>
          <a:xfrm>
            <a:off x="457200" y="274320"/>
            <a:ext cx="109728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u="none" cap="none" strike="noStrike">
                <a:solidFill>
                  <a:srgbClr val="FFFFFF"/>
                </a:solidFill>
                <a:latin typeface="Calibri"/>
                <a:ea typeface="Calibri"/>
                <a:cs typeface="Calibri"/>
                <a:sym typeface="Calibri"/>
              </a:rPr>
              <a:t>MEDIUM CRITICALITY: 4 Inefficiencies with Measurable but Contained Impact</a:t>
            </a:r>
            <a:endParaRPr/>
          </a:p>
        </p:txBody>
      </p:sp>
      <p:sp>
        <p:nvSpPr>
          <p:cNvPr id="247" name="Google Shape;247;p18"/>
          <p:cNvSpPr/>
          <p:nvPr/>
        </p:nvSpPr>
        <p:spPr>
          <a:xfrm>
            <a:off x="457200" y="1005840"/>
            <a:ext cx="731520" cy="36576"/>
          </a:xfrm>
          <a:prstGeom prst="rect">
            <a:avLst/>
          </a:prstGeom>
          <a:solidFill>
            <a:srgbClr val="F39C1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8" name="Google Shape;248;p18"/>
          <p:cNvSpPr/>
          <p:nvPr/>
        </p:nvSpPr>
        <p:spPr>
          <a:xfrm>
            <a:off x="457200" y="1371600"/>
            <a:ext cx="11247120" cy="118872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9" name="Google Shape;249;p18"/>
          <p:cNvSpPr/>
          <p:nvPr/>
        </p:nvSpPr>
        <p:spPr>
          <a:xfrm>
            <a:off x="457200" y="1371600"/>
            <a:ext cx="54864" cy="1188720"/>
          </a:xfrm>
          <a:prstGeom prst="rect">
            <a:avLst/>
          </a:prstGeom>
          <a:solidFill>
            <a:srgbClr val="F39C1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0" name="Google Shape;250;p18"/>
          <p:cNvSpPr txBox="1"/>
          <p:nvPr/>
        </p:nvSpPr>
        <p:spPr>
          <a:xfrm>
            <a:off x="731520" y="1444752"/>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F39C12"/>
                </a:solidFill>
                <a:latin typeface="Calibri"/>
                <a:ea typeface="Calibri"/>
                <a:cs typeface="Calibri"/>
                <a:sym typeface="Calibri"/>
              </a:rPr>
              <a:t>M1: Compassionate Reasons Dominate NR Overrides</a:t>
            </a:r>
            <a:endParaRPr/>
          </a:p>
        </p:txBody>
      </p:sp>
      <p:sp>
        <p:nvSpPr>
          <p:cNvPr id="251" name="Google Shape;251;p18"/>
          <p:cNvSpPr txBox="1"/>
          <p:nvPr/>
        </p:nvSpPr>
        <p:spPr>
          <a:xfrm>
            <a:off x="731520" y="1755648"/>
            <a:ext cx="105156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FFFFFF"/>
                </a:solidFill>
                <a:latin typeface="Calibri"/>
                <a:ea typeface="Calibri"/>
                <a:cs typeface="Calibri"/>
                <a:sym typeface="Calibri"/>
              </a:rPr>
              <a:t>Top 5 NR approval reasons (Family/Medical/Illness/Weather/Hotel) = </a:t>
            </a:r>
            <a:r>
              <a:rPr lang="en-US" sz="1200">
                <a:solidFill>
                  <a:srgbClr val="FFFFFF"/>
                </a:solidFill>
                <a:latin typeface="Calibri"/>
                <a:ea typeface="Calibri"/>
                <a:cs typeface="Calibri"/>
                <a:sym typeface="Calibri"/>
              </a:rPr>
              <a:t>57</a:t>
            </a:r>
            <a:r>
              <a:rPr b="0" i="0" lang="en-US" sz="1200" u="none" cap="none" strike="noStrike">
                <a:solidFill>
                  <a:srgbClr val="FFFFFF"/>
                </a:solidFill>
                <a:latin typeface="Calibri"/>
                <a:ea typeface="Calibri"/>
                <a:cs typeface="Calibri"/>
                <a:sym typeface="Calibri"/>
              </a:rPr>
              <a:t>5 of 763 cases (</a:t>
            </a:r>
            <a:r>
              <a:rPr lang="en-US" sz="1200">
                <a:solidFill>
                  <a:srgbClr val="FFFFFF"/>
                </a:solidFill>
                <a:latin typeface="Calibri"/>
                <a:ea typeface="Calibri"/>
                <a:cs typeface="Calibri"/>
                <a:sym typeface="Calibri"/>
              </a:rPr>
              <a:t>74</a:t>
            </a:r>
            <a:r>
              <a:rPr b="0" i="0" lang="en-US" sz="1200" u="none" cap="none" strike="noStrike">
                <a:solidFill>
                  <a:srgbClr val="FFFFFF"/>
                </a:solidFill>
                <a:latin typeface="Calibri"/>
                <a:ea typeface="Calibri"/>
                <a:cs typeface="Calibri"/>
                <a:sym typeface="Calibri"/>
              </a:rPr>
              <a:t>.</a:t>
            </a:r>
            <a:r>
              <a:rPr lang="en-US" sz="1200">
                <a:solidFill>
                  <a:srgbClr val="FFFFFF"/>
                </a:solidFill>
                <a:latin typeface="Calibri"/>
                <a:ea typeface="Calibri"/>
                <a:cs typeface="Calibri"/>
                <a:sym typeface="Calibri"/>
              </a:rPr>
              <a:t>5</a:t>
            </a:r>
            <a:r>
              <a:rPr b="0" i="0" lang="en-US" sz="1200" u="none" cap="none" strike="noStrike">
                <a:solidFill>
                  <a:srgbClr val="FFFFFF"/>
                </a:solidFill>
                <a:latin typeface="Calibri"/>
                <a:ea typeface="Calibri"/>
                <a:cs typeface="Calibri"/>
                <a:sym typeface="Calibri"/>
              </a:rPr>
              <a:t>%)</a:t>
            </a:r>
            <a:endParaRPr/>
          </a:p>
        </p:txBody>
      </p:sp>
      <p:sp>
        <p:nvSpPr>
          <p:cNvPr id="252" name="Google Shape;252;p18"/>
          <p:cNvSpPr txBox="1"/>
          <p:nvPr/>
        </p:nvSpPr>
        <p:spPr>
          <a:xfrm>
            <a:off x="731520" y="2103120"/>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1B998B"/>
                </a:solidFill>
                <a:latin typeface="Calibri"/>
                <a:ea typeface="Calibri"/>
                <a:cs typeface="Calibri"/>
                <a:sym typeface="Calibri"/>
              </a:rPr>
              <a:t>Pattern is clear &amp; rule-automatable | Avg FCRT: 72 min | Total margin: $92K</a:t>
            </a:r>
            <a:endParaRPr/>
          </a:p>
        </p:txBody>
      </p:sp>
      <p:sp>
        <p:nvSpPr>
          <p:cNvPr id="253" name="Google Shape;253;p18"/>
          <p:cNvSpPr/>
          <p:nvPr/>
        </p:nvSpPr>
        <p:spPr>
          <a:xfrm>
            <a:off x="457200" y="2651760"/>
            <a:ext cx="11247120" cy="118872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4" name="Google Shape;254;p18"/>
          <p:cNvSpPr/>
          <p:nvPr/>
        </p:nvSpPr>
        <p:spPr>
          <a:xfrm>
            <a:off x="457200" y="2651760"/>
            <a:ext cx="54864" cy="1188720"/>
          </a:xfrm>
          <a:prstGeom prst="rect">
            <a:avLst/>
          </a:prstGeom>
          <a:solidFill>
            <a:srgbClr val="F39C1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5" name="Google Shape;255;p18"/>
          <p:cNvSpPr txBox="1"/>
          <p:nvPr/>
        </p:nvSpPr>
        <p:spPr>
          <a:xfrm>
            <a:off x="731520" y="2724912"/>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F39C12"/>
                </a:solidFill>
                <a:latin typeface="Calibri"/>
                <a:ea typeface="Calibri"/>
                <a:cs typeface="Calibri"/>
                <a:sym typeface="Calibri"/>
              </a:rPr>
              <a:t>M2: Voice Channel — High AHT, Moderate FCRT</a:t>
            </a:r>
            <a:endParaRPr/>
          </a:p>
        </p:txBody>
      </p:sp>
      <p:sp>
        <p:nvSpPr>
          <p:cNvPr id="256" name="Google Shape;256;p18"/>
          <p:cNvSpPr txBox="1"/>
          <p:nvPr/>
        </p:nvSpPr>
        <p:spPr>
          <a:xfrm>
            <a:off x="731520" y="3035808"/>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FFFFFF"/>
                </a:solidFill>
                <a:latin typeface="Calibri"/>
                <a:ea typeface="Calibri"/>
                <a:cs typeface="Calibri"/>
                <a:sym typeface="Calibri"/>
              </a:rPr>
              <a:t>Voice AHT = 18.1 min (highest) vs Chat 0.3 min; FCRT = 60.7 min, CSAT = 3.26</a:t>
            </a:r>
            <a:endParaRPr/>
          </a:p>
        </p:txBody>
      </p:sp>
      <p:sp>
        <p:nvSpPr>
          <p:cNvPr id="257" name="Google Shape;257;p18"/>
          <p:cNvSpPr txBox="1"/>
          <p:nvPr/>
        </p:nvSpPr>
        <p:spPr>
          <a:xfrm>
            <a:off x="731520" y="3383280"/>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1B998B"/>
                </a:solidFill>
                <a:latin typeface="Calibri"/>
                <a:ea typeface="Calibri"/>
                <a:cs typeface="Calibri"/>
                <a:sym typeface="Calibri"/>
              </a:rPr>
              <a:t>Volume: 1,244 cases | Agent cost ~22,500 min/yr on voice | Partial deflection possible</a:t>
            </a:r>
            <a:endParaRPr/>
          </a:p>
        </p:txBody>
      </p:sp>
      <p:sp>
        <p:nvSpPr>
          <p:cNvPr id="258" name="Google Shape;258;p18"/>
          <p:cNvSpPr/>
          <p:nvPr/>
        </p:nvSpPr>
        <p:spPr>
          <a:xfrm>
            <a:off x="457200" y="3931920"/>
            <a:ext cx="11247120" cy="118872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9" name="Google Shape;259;p18"/>
          <p:cNvSpPr/>
          <p:nvPr/>
        </p:nvSpPr>
        <p:spPr>
          <a:xfrm>
            <a:off x="457200" y="3931920"/>
            <a:ext cx="54864" cy="1188720"/>
          </a:xfrm>
          <a:prstGeom prst="rect">
            <a:avLst/>
          </a:prstGeom>
          <a:solidFill>
            <a:srgbClr val="F39C1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0" name="Google Shape;260;p18"/>
          <p:cNvSpPr txBox="1"/>
          <p:nvPr/>
        </p:nvSpPr>
        <p:spPr>
          <a:xfrm>
            <a:off x="731520" y="4005072"/>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F39C12"/>
                </a:solidFill>
                <a:latin typeface="Calibri"/>
                <a:ea typeface="Calibri"/>
                <a:cs typeface="Calibri"/>
                <a:sym typeface="Calibri"/>
              </a:rPr>
              <a:t>M3: Messaging Channel — Mid FCRT, Low CSAT</a:t>
            </a:r>
            <a:endParaRPr/>
          </a:p>
        </p:txBody>
      </p:sp>
      <p:sp>
        <p:nvSpPr>
          <p:cNvPr id="261" name="Google Shape;261;p18"/>
          <p:cNvSpPr txBox="1"/>
          <p:nvPr/>
        </p:nvSpPr>
        <p:spPr>
          <a:xfrm>
            <a:off x="731520" y="4315968"/>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FFFFFF"/>
                </a:solidFill>
                <a:latin typeface="Calibri"/>
                <a:ea typeface="Calibri"/>
                <a:cs typeface="Calibri"/>
                <a:sym typeface="Calibri"/>
              </a:rPr>
              <a:t>Messaging FCRT = 60.3 min with CSAT 2.85 — async delays hurt satisfaction</a:t>
            </a:r>
            <a:endParaRPr/>
          </a:p>
        </p:txBody>
      </p:sp>
      <p:sp>
        <p:nvSpPr>
          <p:cNvPr id="262" name="Google Shape;262;p18"/>
          <p:cNvSpPr txBox="1"/>
          <p:nvPr/>
        </p:nvSpPr>
        <p:spPr>
          <a:xfrm>
            <a:off x="731520" y="4663440"/>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1B998B"/>
                </a:solidFill>
                <a:latin typeface="Calibri"/>
                <a:ea typeface="Calibri"/>
                <a:cs typeface="Calibri"/>
                <a:sym typeface="Calibri"/>
              </a:rPr>
              <a:t>Volume: 1,228 | CSAT 15% below chat | Response time SLA likely breached</a:t>
            </a:r>
            <a:endParaRPr/>
          </a:p>
        </p:txBody>
      </p:sp>
      <p:sp>
        <p:nvSpPr>
          <p:cNvPr id="263" name="Google Shape;263;p18"/>
          <p:cNvSpPr/>
          <p:nvPr/>
        </p:nvSpPr>
        <p:spPr>
          <a:xfrm>
            <a:off x="457200" y="5212079"/>
            <a:ext cx="11247120" cy="118872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4" name="Google Shape;264;p18"/>
          <p:cNvSpPr/>
          <p:nvPr/>
        </p:nvSpPr>
        <p:spPr>
          <a:xfrm>
            <a:off x="457200" y="5212079"/>
            <a:ext cx="54864" cy="1188720"/>
          </a:xfrm>
          <a:prstGeom prst="rect">
            <a:avLst/>
          </a:prstGeom>
          <a:solidFill>
            <a:srgbClr val="F39C1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5" name="Google Shape;265;p18"/>
          <p:cNvSpPr txBox="1"/>
          <p:nvPr/>
        </p:nvSpPr>
        <p:spPr>
          <a:xfrm>
            <a:off x="731520" y="5285231"/>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F39C12"/>
                </a:solidFill>
                <a:latin typeface="Calibri"/>
                <a:ea typeface="Calibri"/>
                <a:cs typeface="Calibri"/>
                <a:sym typeface="Calibri"/>
              </a:rPr>
              <a:t>M4: No FCRT Improvement Over 12 Months</a:t>
            </a:r>
            <a:endParaRPr/>
          </a:p>
        </p:txBody>
      </p:sp>
      <p:sp>
        <p:nvSpPr>
          <p:cNvPr id="266" name="Google Shape;266;p18"/>
          <p:cNvSpPr txBox="1"/>
          <p:nvPr/>
        </p:nvSpPr>
        <p:spPr>
          <a:xfrm>
            <a:off x="731520" y="5596127"/>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FFFFFF"/>
                </a:solidFill>
                <a:latin typeface="Calibri"/>
                <a:ea typeface="Calibri"/>
                <a:cs typeface="Calibri"/>
                <a:sym typeface="Calibri"/>
              </a:rPr>
              <a:t>Monthly FCRT ranged 53–61 min with no downward trend — process is stagnant</a:t>
            </a:r>
            <a:endParaRPr/>
          </a:p>
        </p:txBody>
      </p:sp>
      <p:sp>
        <p:nvSpPr>
          <p:cNvPr id="267" name="Google Shape;267;p18"/>
          <p:cNvSpPr txBox="1"/>
          <p:nvPr/>
        </p:nvSpPr>
        <p:spPr>
          <a:xfrm>
            <a:off x="731520" y="5943599"/>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1B998B"/>
                </a:solidFill>
                <a:latin typeface="Calibri"/>
                <a:ea typeface="Calibri"/>
                <a:cs typeface="Calibri"/>
                <a:sym typeface="Calibri"/>
              </a:rPr>
              <a:t>Jan: 54.7 → Dec: 57.5 min | No process interventions visible | CSAT flat at 3.05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271" name="Shape 271"/>
        <p:cNvGrpSpPr/>
        <p:nvPr/>
      </p:nvGrpSpPr>
      <p:grpSpPr>
        <a:xfrm>
          <a:off x="0" y="0"/>
          <a:ext cx="0" cy="0"/>
          <a:chOff x="0" y="0"/>
          <a:chExt cx="0" cy="0"/>
        </a:xfrm>
      </p:grpSpPr>
      <p:sp>
        <p:nvSpPr>
          <p:cNvPr id="272" name="Google Shape;272;p19"/>
          <p:cNvSpPr/>
          <p:nvPr/>
        </p:nvSpPr>
        <p:spPr>
          <a:xfrm>
            <a:off x="0" y="0"/>
            <a:ext cx="12191695" cy="73152"/>
          </a:xfrm>
          <a:prstGeom prst="rect">
            <a:avLst/>
          </a:prstGeom>
          <a:solidFill>
            <a:srgbClr val="3498D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3" name="Google Shape;273;p19"/>
          <p:cNvSpPr txBox="1"/>
          <p:nvPr/>
        </p:nvSpPr>
        <p:spPr>
          <a:xfrm>
            <a:off x="457200" y="274320"/>
            <a:ext cx="109728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u="none" cap="none" strike="noStrike">
                <a:solidFill>
                  <a:srgbClr val="FFFFFF"/>
                </a:solidFill>
                <a:latin typeface="Calibri"/>
                <a:ea typeface="Calibri"/>
                <a:cs typeface="Calibri"/>
                <a:sym typeface="Calibri"/>
              </a:rPr>
              <a:t>LOW CRITICALITY: 4 Minor Inefficiencies — Monitor, Don't Prioritize Now</a:t>
            </a:r>
            <a:endParaRPr/>
          </a:p>
        </p:txBody>
      </p:sp>
      <p:sp>
        <p:nvSpPr>
          <p:cNvPr id="274" name="Google Shape;274;p19"/>
          <p:cNvSpPr/>
          <p:nvPr/>
        </p:nvSpPr>
        <p:spPr>
          <a:xfrm>
            <a:off x="457200" y="1005840"/>
            <a:ext cx="731520" cy="36576"/>
          </a:xfrm>
          <a:prstGeom prst="rect">
            <a:avLst/>
          </a:prstGeom>
          <a:solidFill>
            <a:srgbClr val="3498D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5" name="Google Shape;275;p19"/>
          <p:cNvSpPr/>
          <p:nvPr/>
        </p:nvSpPr>
        <p:spPr>
          <a:xfrm>
            <a:off x="457200" y="1371600"/>
            <a:ext cx="11247120" cy="118872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6" name="Google Shape;276;p19"/>
          <p:cNvSpPr/>
          <p:nvPr/>
        </p:nvSpPr>
        <p:spPr>
          <a:xfrm>
            <a:off x="457200" y="1371600"/>
            <a:ext cx="54864" cy="1188720"/>
          </a:xfrm>
          <a:prstGeom prst="rect">
            <a:avLst/>
          </a:prstGeom>
          <a:solidFill>
            <a:srgbClr val="3498D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7" name="Google Shape;277;p19"/>
          <p:cNvSpPr txBox="1"/>
          <p:nvPr/>
        </p:nvSpPr>
        <p:spPr>
          <a:xfrm>
            <a:off x="731520" y="1444752"/>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3498DB"/>
                </a:solidFill>
                <a:latin typeface="Calibri"/>
                <a:ea typeface="Calibri"/>
                <a:cs typeface="Calibri"/>
                <a:sym typeface="Calibri"/>
              </a:rPr>
              <a:t>L1: No Loyalty Differentiation in SLA</a:t>
            </a:r>
            <a:endParaRPr/>
          </a:p>
        </p:txBody>
      </p:sp>
      <p:sp>
        <p:nvSpPr>
          <p:cNvPr id="278" name="Google Shape;278;p19"/>
          <p:cNvSpPr txBox="1"/>
          <p:nvPr/>
        </p:nvSpPr>
        <p:spPr>
          <a:xfrm>
            <a:off x="731520" y="1755648"/>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FFFFFF"/>
                </a:solidFill>
                <a:latin typeface="Calibri"/>
                <a:ea typeface="Calibri"/>
                <a:cs typeface="Calibri"/>
                <a:sym typeface="Calibri"/>
              </a:rPr>
              <a:t>Platinum FCRT = 56.4 min vs Bronze = 53.8 min — nearly identical. No tiered service.</a:t>
            </a:r>
            <a:endParaRPr/>
          </a:p>
        </p:txBody>
      </p:sp>
      <p:sp>
        <p:nvSpPr>
          <p:cNvPr id="279" name="Google Shape;279;p19"/>
          <p:cNvSpPr txBox="1"/>
          <p:nvPr/>
        </p:nvSpPr>
        <p:spPr>
          <a:xfrm>
            <a:off x="731520" y="2103120"/>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1B998B"/>
                </a:solidFill>
                <a:latin typeface="Calibri"/>
                <a:ea typeface="Calibri"/>
                <a:cs typeface="Calibri"/>
                <a:sym typeface="Calibri"/>
              </a:rPr>
              <a:t>Gap: &lt;3 min | CSAT variance: 0.08 pts | Low business case for differentiation</a:t>
            </a:r>
            <a:endParaRPr/>
          </a:p>
        </p:txBody>
      </p:sp>
      <p:sp>
        <p:nvSpPr>
          <p:cNvPr id="280" name="Google Shape;280;p19"/>
          <p:cNvSpPr/>
          <p:nvPr/>
        </p:nvSpPr>
        <p:spPr>
          <a:xfrm>
            <a:off x="457200" y="2651760"/>
            <a:ext cx="11247120" cy="118872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1" name="Google Shape;281;p19"/>
          <p:cNvSpPr/>
          <p:nvPr/>
        </p:nvSpPr>
        <p:spPr>
          <a:xfrm>
            <a:off x="457200" y="2651760"/>
            <a:ext cx="54864" cy="1188720"/>
          </a:xfrm>
          <a:prstGeom prst="rect">
            <a:avLst/>
          </a:prstGeom>
          <a:solidFill>
            <a:srgbClr val="3498D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2" name="Google Shape;282;p19"/>
          <p:cNvSpPr txBox="1"/>
          <p:nvPr/>
        </p:nvSpPr>
        <p:spPr>
          <a:xfrm>
            <a:off x="731520" y="2724912"/>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3498DB"/>
                </a:solidFill>
                <a:latin typeface="Calibri"/>
                <a:ea typeface="Calibri"/>
                <a:cs typeface="Calibri"/>
                <a:sym typeface="Calibri"/>
              </a:rPr>
              <a:t>L2: Uniform Performance Across Regions</a:t>
            </a:r>
            <a:endParaRPr/>
          </a:p>
        </p:txBody>
      </p:sp>
      <p:sp>
        <p:nvSpPr>
          <p:cNvPr id="283" name="Google Shape;283;p19"/>
          <p:cNvSpPr txBox="1"/>
          <p:nvPr/>
        </p:nvSpPr>
        <p:spPr>
          <a:xfrm>
            <a:off x="731520" y="3035808"/>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FFFFFF"/>
                </a:solidFill>
                <a:latin typeface="Calibri"/>
                <a:ea typeface="Calibri"/>
                <a:cs typeface="Calibri"/>
                <a:sym typeface="Calibri"/>
              </a:rPr>
              <a:t>APAC/AMER/EMEA FCRT within 3-min range (54.7–57.7). No region-specific bottleneck.</a:t>
            </a:r>
            <a:endParaRPr/>
          </a:p>
        </p:txBody>
      </p:sp>
      <p:sp>
        <p:nvSpPr>
          <p:cNvPr id="284" name="Google Shape;284;p19"/>
          <p:cNvSpPr txBox="1"/>
          <p:nvPr/>
        </p:nvSpPr>
        <p:spPr>
          <a:xfrm>
            <a:off x="731520" y="3383280"/>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1B998B"/>
                </a:solidFill>
                <a:latin typeface="Calibri"/>
                <a:ea typeface="Calibri"/>
                <a:cs typeface="Calibri"/>
                <a:sym typeface="Calibri"/>
              </a:rPr>
              <a:t>Max gap: 3 min | CSAT: 3.01–3.07 | NR approval: 23.2–24.0% — uniform</a:t>
            </a:r>
            <a:endParaRPr/>
          </a:p>
        </p:txBody>
      </p:sp>
      <p:sp>
        <p:nvSpPr>
          <p:cNvPr id="285" name="Google Shape;285;p19"/>
          <p:cNvSpPr/>
          <p:nvPr/>
        </p:nvSpPr>
        <p:spPr>
          <a:xfrm>
            <a:off x="457200" y="3931920"/>
            <a:ext cx="11247120" cy="118872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6" name="Google Shape;286;p19"/>
          <p:cNvSpPr/>
          <p:nvPr/>
        </p:nvSpPr>
        <p:spPr>
          <a:xfrm>
            <a:off x="457200" y="3931920"/>
            <a:ext cx="54864" cy="1188720"/>
          </a:xfrm>
          <a:prstGeom prst="rect">
            <a:avLst/>
          </a:prstGeom>
          <a:solidFill>
            <a:srgbClr val="3498D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7" name="Google Shape;287;p19"/>
          <p:cNvSpPr txBox="1"/>
          <p:nvPr/>
        </p:nvSpPr>
        <p:spPr>
          <a:xfrm>
            <a:off x="731520" y="4005072"/>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3498DB"/>
                </a:solidFill>
                <a:latin typeface="Calibri"/>
                <a:ea typeface="Calibri"/>
                <a:cs typeface="Calibri"/>
                <a:sym typeface="Calibri"/>
              </a:rPr>
              <a:t>L3: No Shift-Based Performance Variance</a:t>
            </a:r>
            <a:endParaRPr/>
          </a:p>
        </p:txBody>
      </p:sp>
      <p:sp>
        <p:nvSpPr>
          <p:cNvPr id="288" name="Google Shape;288;p19"/>
          <p:cNvSpPr txBox="1"/>
          <p:nvPr/>
        </p:nvSpPr>
        <p:spPr>
          <a:xfrm>
            <a:off x="731520" y="4315968"/>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FFFFFF"/>
                </a:solidFill>
                <a:latin typeface="Calibri"/>
                <a:ea typeface="Calibri"/>
                <a:cs typeface="Calibri"/>
                <a:sym typeface="Calibri"/>
              </a:rPr>
              <a:t>Morning/Afternoon/Night shifts show &lt;1 min FCRT difference — staffing is balanced.</a:t>
            </a:r>
            <a:endParaRPr/>
          </a:p>
        </p:txBody>
      </p:sp>
      <p:sp>
        <p:nvSpPr>
          <p:cNvPr id="289" name="Google Shape;289;p19"/>
          <p:cNvSpPr txBox="1"/>
          <p:nvPr/>
        </p:nvSpPr>
        <p:spPr>
          <a:xfrm>
            <a:off x="731520" y="4663440"/>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1B998B"/>
                </a:solidFill>
                <a:latin typeface="Calibri"/>
                <a:ea typeface="Calibri"/>
                <a:cs typeface="Calibri"/>
                <a:sym typeface="Calibri"/>
              </a:rPr>
              <a:t>FCRT range: 55.5–56.3 min | CSAT: 3.03–3.06 | Approval: 50.1–51.0%</a:t>
            </a:r>
            <a:endParaRPr/>
          </a:p>
        </p:txBody>
      </p:sp>
      <p:sp>
        <p:nvSpPr>
          <p:cNvPr id="290" name="Google Shape;290;p19"/>
          <p:cNvSpPr/>
          <p:nvPr/>
        </p:nvSpPr>
        <p:spPr>
          <a:xfrm>
            <a:off x="457200" y="5212079"/>
            <a:ext cx="11247120" cy="118872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1" name="Google Shape;291;p19"/>
          <p:cNvSpPr/>
          <p:nvPr/>
        </p:nvSpPr>
        <p:spPr>
          <a:xfrm>
            <a:off x="457200" y="5212079"/>
            <a:ext cx="54864" cy="1188720"/>
          </a:xfrm>
          <a:prstGeom prst="rect">
            <a:avLst/>
          </a:prstGeom>
          <a:solidFill>
            <a:srgbClr val="3498D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2" name="Google Shape;292;p19"/>
          <p:cNvSpPr txBox="1"/>
          <p:nvPr/>
        </p:nvSpPr>
        <p:spPr>
          <a:xfrm>
            <a:off x="731520" y="5285231"/>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3498DB"/>
                </a:solidFill>
                <a:latin typeface="Calibri"/>
                <a:ea typeface="Calibri"/>
                <a:cs typeface="Calibri"/>
                <a:sym typeface="Calibri"/>
              </a:rPr>
              <a:t>L4: Duplicate Booking — Lowest Approval Rate</a:t>
            </a:r>
            <a:endParaRPr/>
          </a:p>
        </p:txBody>
      </p:sp>
      <p:sp>
        <p:nvSpPr>
          <p:cNvPr id="293" name="Google Shape;293;p19"/>
          <p:cNvSpPr txBox="1"/>
          <p:nvPr/>
        </p:nvSpPr>
        <p:spPr>
          <a:xfrm>
            <a:off x="731520" y="5596127"/>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FFFFFF"/>
                </a:solidFill>
                <a:latin typeface="Calibri"/>
                <a:ea typeface="Calibri"/>
                <a:cs typeface="Calibri"/>
                <a:sym typeface="Calibri"/>
              </a:rPr>
              <a:t>Duplicate bookings: 34% approval rate (lowest of all reasons), mostly denied on NR policy.</a:t>
            </a:r>
            <a:endParaRPr/>
          </a:p>
        </p:txBody>
      </p:sp>
      <p:sp>
        <p:nvSpPr>
          <p:cNvPr id="294" name="Google Shape;294;p19"/>
          <p:cNvSpPr txBox="1"/>
          <p:nvPr/>
        </p:nvSpPr>
        <p:spPr>
          <a:xfrm>
            <a:off x="731520" y="5943599"/>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1B998B"/>
                </a:solidFill>
                <a:latin typeface="Calibri"/>
                <a:ea typeface="Calibri"/>
                <a:cs typeface="Calibri"/>
                <a:sym typeface="Calibri"/>
              </a:rPr>
              <a:t>Volume: 261 | Approval: 89/172 | Could auto-deny NR duplicates to save agent time</a:t>
            </a:r>
            <a:endParaRPr/>
          </a:p>
        </p:txBody>
      </p:sp>
      <p:sp>
        <p:nvSpPr>
          <p:cNvPr id="295" name="Google Shape;295;p19"/>
          <p:cNvSpPr txBox="1"/>
          <p:nvPr/>
        </p:nvSpPr>
        <p:spPr>
          <a:xfrm>
            <a:off x="457200" y="6309360"/>
            <a:ext cx="109728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299" name="Shape 299"/>
        <p:cNvGrpSpPr/>
        <p:nvPr/>
      </p:nvGrpSpPr>
      <p:grpSpPr>
        <a:xfrm>
          <a:off x="0" y="0"/>
          <a:ext cx="0" cy="0"/>
          <a:chOff x="0" y="0"/>
          <a:chExt cx="0" cy="0"/>
        </a:xfrm>
      </p:grpSpPr>
      <p:sp>
        <p:nvSpPr>
          <p:cNvPr id="300" name="Google Shape;300;p20"/>
          <p:cNvSpPr/>
          <p:nvPr/>
        </p:nvSpPr>
        <p:spPr>
          <a:xfrm>
            <a:off x="0" y="0"/>
            <a:ext cx="12191695" cy="73152"/>
          </a:xfrm>
          <a:prstGeom prst="rect">
            <a:avLst/>
          </a:prstGeom>
          <a:solidFill>
            <a:srgbClr val="2ECC71"/>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1" name="Google Shape;301;p20"/>
          <p:cNvSpPr txBox="1"/>
          <p:nvPr/>
        </p:nvSpPr>
        <p:spPr>
          <a:xfrm>
            <a:off x="457200" y="274320"/>
            <a:ext cx="109728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100" u="none" cap="none" strike="noStrike">
                <a:solidFill>
                  <a:srgbClr val="FFFFFF"/>
                </a:solidFill>
                <a:latin typeface="Calibri"/>
                <a:ea typeface="Calibri"/>
                <a:cs typeface="Calibri"/>
                <a:sym typeface="Calibri"/>
              </a:rPr>
              <a:t>Top 3 Optimizations: #1 Auto-Approve Refundable &amp; #2 Email Channel Migration</a:t>
            </a:r>
            <a:endParaRPr/>
          </a:p>
        </p:txBody>
      </p:sp>
      <p:sp>
        <p:nvSpPr>
          <p:cNvPr id="302" name="Google Shape;302;p20"/>
          <p:cNvSpPr/>
          <p:nvPr/>
        </p:nvSpPr>
        <p:spPr>
          <a:xfrm>
            <a:off x="457200" y="1005840"/>
            <a:ext cx="731520" cy="36576"/>
          </a:xfrm>
          <a:prstGeom prst="rect">
            <a:avLst/>
          </a:prstGeom>
          <a:solidFill>
            <a:srgbClr val="2ECC71"/>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3" name="Google Shape;303;p20"/>
          <p:cNvSpPr/>
          <p:nvPr/>
        </p:nvSpPr>
        <p:spPr>
          <a:xfrm>
            <a:off x="457200" y="1280160"/>
            <a:ext cx="5577840" cy="475488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4" name="Google Shape;304;p20"/>
          <p:cNvSpPr/>
          <p:nvPr/>
        </p:nvSpPr>
        <p:spPr>
          <a:xfrm>
            <a:off x="457200" y="1280160"/>
            <a:ext cx="5577840" cy="54864"/>
          </a:xfrm>
          <a:prstGeom prst="rect">
            <a:avLst/>
          </a:prstGeom>
          <a:solidFill>
            <a:srgbClr val="2ECC71"/>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5" name="Google Shape;305;p20"/>
          <p:cNvSpPr txBox="1"/>
          <p:nvPr/>
        </p:nvSpPr>
        <p:spPr>
          <a:xfrm>
            <a:off x="640080" y="1463040"/>
            <a:ext cx="521208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2ECC71"/>
                </a:solidFill>
                <a:latin typeface="Calibri"/>
                <a:ea typeface="Calibri"/>
                <a:cs typeface="Calibri"/>
                <a:sym typeface="Calibri"/>
              </a:rPr>
              <a:t>OPT #1: AUTO-APPROVE ALL REFUNDABLE BOOKINGS</a:t>
            </a:r>
            <a:endParaRPr/>
          </a:p>
        </p:txBody>
      </p:sp>
      <p:sp>
        <p:nvSpPr>
          <p:cNvPr id="306" name="Google Shape;306;p20"/>
          <p:cNvSpPr txBox="1"/>
          <p:nvPr/>
        </p:nvSpPr>
        <p:spPr>
          <a:xfrm>
            <a:off x="640080" y="2011680"/>
            <a:ext cx="13716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1B998B"/>
                </a:solidFill>
                <a:latin typeface="Calibri"/>
                <a:ea typeface="Calibri"/>
                <a:cs typeface="Calibri"/>
                <a:sym typeface="Calibri"/>
              </a:rPr>
              <a:t>Problem:</a:t>
            </a:r>
            <a:endParaRPr/>
          </a:p>
        </p:txBody>
      </p:sp>
      <p:sp>
        <p:nvSpPr>
          <p:cNvPr id="307" name="Google Shape;307;p20"/>
          <p:cNvSpPr txBox="1"/>
          <p:nvPr/>
        </p:nvSpPr>
        <p:spPr>
          <a:xfrm>
            <a:off x="2011680" y="2011680"/>
            <a:ext cx="384048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FFFFFF"/>
                </a:solidFill>
                <a:latin typeface="Calibri"/>
                <a:ea typeface="Calibri"/>
                <a:cs typeface="Calibri"/>
                <a:sym typeface="Calibri"/>
              </a:rPr>
              <a:t>1,762 refundable cases processed manually despite 100% approval rate</a:t>
            </a:r>
            <a:endParaRPr/>
          </a:p>
        </p:txBody>
      </p:sp>
      <p:sp>
        <p:nvSpPr>
          <p:cNvPr id="308" name="Google Shape;308;p20"/>
          <p:cNvSpPr txBox="1"/>
          <p:nvPr/>
        </p:nvSpPr>
        <p:spPr>
          <a:xfrm>
            <a:off x="640080" y="2560320"/>
            <a:ext cx="13716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1B998B"/>
                </a:solidFill>
                <a:latin typeface="Calibri"/>
                <a:ea typeface="Calibri"/>
                <a:cs typeface="Calibri"/>
                <a:sym typeface="Calibri"/>
              </a:rPr>
              <a:t>Solution:</a:t>
            </a:r>
            <a:endParaRPr/>
          </a:p>
        </p:txBody>
      </p:sp>
      <p:sp>
        <p:nvSpPr>
          <p:cNvPr id="309" name="Google Shape;309;p20"/>
          <p:cNvSpPr txBox="1"/>
          <p:nvPr/>
        </p:nvSpPr>
        <p:spPr>
          <a:xfrm>
            <a:off x="2011680" y="2560320"/>
            <a:ext cx="384048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FFFFFF"/>
                </a:solidFill>
                <a:latin typeface="Calibri"/>
                <a:ea typeface="Calibri"/>
                <a:cs typeface="Calibri"/>
                <a:sym typeface="Calibri"/>
              </a:rPr>
              <a:t>Implement auto-approval rule: IF policy=refundable THEN approve + process refund</a:t>
            </a:r>
            <a:endParaRPr/>
          </a:p>
        </p:txBody>
      </p:sp>
      <p:sp>
        <p:nvSpPr>
          <p:cNvPr id="310" name="Google Shape;310;p20"/>
          <p:cNvSpPr txBox="1"/>
          <p:nvPr/>
        </p:nvSpPr>
        <p:spPr>
          <a:xfrm>
            <a:off x="640080" y="3108960"/>
            <a:ext cx="13716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1B998B"/>
                </a:solidFill>
                <a:latin typeface="Calibri"/>
                <a:ea typeface="Calibri"/>
                <a:cs typeface="Calibri"/>
                <a:sym typeface="Calibri"/>
              </a:rPr>
              <a:t>Time Saved:</a:t>
            </a:r>
            <a:endParaRPr/>
          </a:p>
        </p:txBody>
      </p:sp>
      <p:sp>
        <p:nvSpPr>
          <p:cNvPr id="311" name="Google Shape;311;p20"/>
          <p:cNvSpPr txBox="1"/>
          <p:nvPr/>
        </p:nvSpPr>
        <p:spPr>
          <a:xfrm>
            <a:off x="2011680" y="3108960"/>
            <a:ext cx="384048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FFFFFF"/>
                </a:solidFill>
                <a:latin typeface="Calibri"/>
                <a:ea typeface="Calibri"/>
                <a:cs typeface="Calibri"/>
                <a:sym typeface="Calibri"/>
              </a:rPr>
              <a:t>~43,500 agent-minutes/year (1,762 × 24.7 min avg FCRT eliminated)</a:t>
            </a:r>
            <a:endParaRPr/>
          </a:p>
        </p:txBody>
      </p:sp>
      <p:sp>
        <p:nvSpPr>
          <p:cNvPr id="312" name="Google Shape;312;p20"/>
          <p:cNvSpPr txBox="1"/>
          <p:nvPr/>
        </p:nvSpPr>
        <p:spPr>
          <a:xfrm>
            <a:off x="640080" y="3657600"/>
            <a:ext cx="13716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1B998B"/>
                </a:solidFill>
                <a:latin typeface="Calibri"/>
                <a:ea typeface="Calibri"/>
                <a:cs typeface="Calibri"/>
                <a:sym typeface="Calibri"/>
              </a:rPr>
              <a:t>CSAT Impact:</a:t>
            </a:r>
            <a:endParaRPr/>
          </a:p>
        </p:txBody>
      </p:sp>
      <p:sp>
        <p:nvSpPr>
          <p:cNvPr id="313" name="Google Shape;313;p20"/>
          <p:cNvSpPr txBox="1"/>
          <p:nvPr/>
        </p:nvSpPr>
        <p:spPr>
          <a:xfrm>
            <a:off x="2011680" y="3657600"/>
            <a:ext cx="384048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FFFFFF"/>
                </a:solidFill>
                <a:latin typeface="Calibri"/>
                <a:ea typeface="Calibri"/>
                <a:cs typeface="Calibri"/>
                <a:sym typeface="Calibri"/>
              </a:rPr>
              <a:t>Instant resolution → CSAT expected to rise from 4.22 to ~4.8+</a:t>
            </a:r>
            <a:endParaRPr/>
          </a:p>
        </p:txBody>
      </p:sp>
      <p:sp>
        <p:nvSpPr>
          <p:cNvPr id="314" name="Google Shape;314;p20"/>
          <p:cNvSpPr txBox="1"/>
          <p:nvPr/>
        </p:nvSpPr>
        <p:spPr>
          <a:xfrm>
            <a:off x="640080" y="4206240"/>
            <a:ext cx="13716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1B998B"/>
                </a:solidFill>
                <a:latin typeface="Calibri"/>
                <a:ea typeface="Calibri"/>
                <a:cs typeface="Calibri"/>
                <a:sym typeface="Calibri"/>
              </a:rPr>
              <a:t>Cost Reduction:</a:t>
            </a:r>
            <a:endParaRPr/>
          </a:p>
        </p:txBody>
      </p:sp>
      <p:sp>
        <p:nvSpPr>
          <p:cNvPr id="315" name="Google Shape;315;p20"/>
          <p:cNvSpPr txBox="1"/>
          <p:nvPr/>
        </p:nvSpPr>
        <p:spPr>
          <a:xfrm>
            <a:off x="2011680" y="4206240"/>
            <a:ext cx="384048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FFFFFF"/>
                </a:solidFill>
                <a:latin typeface="Calibri"/>
                <a:ea typeface="Calibri"/>
                <a:cs typeface="Calibri"/>
                <a:sym typeface="Calibri"/>
              </a:rPr>
              <a:t>~$36K/yr agent cost savings (at $50/hr fully loaded)</a:t>
            </a:r>
            <a:endParaRPr/>
          </a:p>
        </p:txBody>
      </p:sp>
      <p:sp>
        <p:nvSpPr>
          <p:cNvPr id="316" name="Google Shape;316;p20"/>
          <p:cNvSpPr txBox="1"/>
          <p:nvPr/>
        </p:nvSpPr>
        <p:spPr>
          <a:xfrm>
            <a:off x="640080" y="4754880"/>
            <a:ext cx="13716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1B998B"/>
                </a:solidFill>
                <a:latin typeface="Calibri"/>
                <a:ea typeface="Calibri"/>
                <a:cs typeface="Calibri"/>
                <a:sym typeface="Calibri"/>
              </a:rPr>
              <a:t>Why Top 3:</a:t>
            </a:r>
            <a:endParaRPr/>
          </a:p>
        </p:txBody>
      </p:sp>
      <p:sp>
        <p:nvSpPr>
          <p:cNvPr id="317" name="Google Shape;317;p20"/>
          <p:cNvSpPr txBox="1"/>
          <p:nvPr/>
        </p:nvSpPr>
        <p:spPr>
          <a:xfrm>
            <a:off x="2011680" y="4754880"/>
            <a:ext cx="384048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FFFFFF"/>
                </a:solidFill>
                <a:latin typeface="Calibri"/>
                <a:ea typeface="Calibri"/>
                <a:cs typeface="Calibri"/>
                <a:sym typeface="Calibri"/>
              </a:rPr>
              <a:t>Highest ROI — zero-risk, zero-exception, immediate deploy, no judgment needed</a:t>
            </a:r>
            <a:endParaRPr/>
          </a:p>
        </p:txBody>
      </p:sp>
      <p:sp>
        <p:nvSpPr>
          <p:cNvPr id="318" name="Google Shape;318;p20"/>
          <p:cNvSpPr/>
          <p:nvPr/>
        </p:nvSpPr>
        <p:spPr>
          <a:xfrm>
            <a:off x="6217920" y="1280160"/>
            <a:ext cx="5577840" cy="475488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9" name="Google Shape;319;p20"/>
          <p:cNvSpPr/>
          <p:nvPr/>
        </p:nvSpPr>
        <p:spPr>
          <a:xfrm>
            <a:off x="6217920" y="1280160"/>
            <a:ext cx="5577840" cy="54864"/>
          </a:xfrm>
          <a:prstGeom prst="rect">
            <a:avLst/>
          </a:prstGeom>
          <a:solidFill>
            <a:srgbClr val="2ECC71"/>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0" name="Google Shape;320;p20"/>
          <p:cNvSpPr txBox="1"/>
          <p:nvPr/>
        </p:nvSpPr>
        <p:spPr>
          <a:xfrm>
            <a:off x="6400800" y="1463040"/>
            <a:ext cx="521208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2ECC71"/>
                </a:solidFill>
                <a:latin typeface="Calibri"/>
                <a:ea typeface="Calibri"/>
                <a:cs typeface="Calibri"/>
                <a:sym typeface="Calibri"/>
              </a:rPr>
              <a:t>OPT #2: MIGRATE EMAIL NR → CHAT/MESSAGING</a:t>
            </a:r>
            <a:endParaRPr/>
          </a:p>
        </p:txBody>
      </p:sp>
      <p:sp>
        <p:nvSpPr>
          <p:cNvPr id="321" name="Google Shape;321;p20"/>
          <p:cNvSpPr txBox="1"/>
          <p:nvPr/>
        </p:nvSpPr>
        <p:spPr>
          <a:xfrm>
            <a:off x="6400800" y="2011680"/>
            <a:ext cx="13716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1B998B"/>
                </a:solidFill>
                <a:latin typeface="Calibri"/>
                <a:ea typeface="Calibri"/>
                <a:cs typeface="Calibri"/>
                <a:sym typeface="Calibri"/>
              </a:rPr>
              <a:t>Problem:</a:t>
            </a:r>
            <a:endParaRPr/>
          </a:p>
        </p:txBody>
      </p:sp>
      <p:sp>
        <p:nvSpPr>
          <p:cNvPr id="322" name="Google Shape;322;p20"/>
          <p:cNvSpPr txBox="1"/>
          <p:nvPr/>
        </p:nvSpPr>
        <p:spPr>
          <a:xfrm>
            <a:off x="7772400" y="2011680"/>
            <a:ext cx="384048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FFFFFF"/>
                </a:solidFill>
                <a:latin typeface="Calibri"/>
                <a:ea typeface="Calibri"/>
                <a:cs typeface="Calibri"/>
                <a:sym typeface="Calibri"/>
              </a:rPr>
              <a:t>838 email NR cases have 119-min FCRT; ALL 403 SLA breaches are email+NR</a:t>
            </a:r>
            <a:endParaRPr/>
          </a:p>
        </p:txBody>
      </p:sp>
      <p:sp>
        <p:nvSpPr>
          <p:cNvPr id="323" name="Google Shape;323;p20"/>
          <p:cNvSpPr txBox="1"/>
          <p:nvPr/>
        </p:nvSpPr>
        <p:spPr>
          <a:xfrm>
            <a:off x="6400800" y="2560320"/>
            <a:ext cx="13716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1B998B"/>
                </a:solidFill>
                <a:latin typeface="Calibri"/>
                <a:ea typeface="Calibri"/>
                <a:cs typeface="Calibri"/>
                <a:sym typeface="Calibri"/>
              </a:rPr>
              <a:t>Solution:</a:t>
            </a:r>
            <a:endParaRPr/>
          </a:p>
        </p:txBody>
      </p:sp>
      <p:sp>
        <p:nvSpPr>
          <p:cNvPr id="324" name="Google Shape;324;p20"/>
          <p:cNvSpPr txBox="1"/>
          <p:nvPr/>
        </p:nvSpPr>
        <p:spPr>
          <a:xfrm>
            <a:off x="7772400" y="2560320"/>
            <a:ext cx="384048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FFFFFF"/>
                </a:solidFill>
                <a:latin typeface="Calibri"/>
                <a:ea typeface="Calibri"/>
                <a:cs typeface="Calibri"/>
                <a:sym typeface="Calibri"/>
              </a:rPr>
              <a:t>Route NR email requests to chat/messaging with decision-tree bot + agent escalation</a:t>
            </a:r>
            <a:endParaRPr/>
          </a:p>
        </p:txBody>
      </p:sp>
      <p:sp>
        <p:nvSpPr>
          <p:cNvPr id="325" name="Google Shape;325;p20"/>
          <p:cNvSpPr txBox="1"/>
          <p:nvPr/>
        </p:nvSpPr>
        <p:spPr>
          <a:xfrm>
            <a:off x="6400800" y="3108960"/>
            <a:ext cx="13716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1B998B"/>
                </a:solidFill>
                <a:latin typeface="Calibri"/>
                <a:ea typeface="Calibri"/>
                <a:cs typeface="Calibri"/>
                <a:sym typeface="Calibri"/>
              </a:rPr>
              <a:t>Time Saved:</a:t>
            </a:r>
            <a:endParaRPr/>
          </a:p>
        </p:txBody>
      </p:sp>
      <p:sp>
        <p:nvSpPr>
          <p:cNvPr id="326" name="Google Shape;326;p20"/>
          <p:cNvSpPr txBox="1"/>
          <p:nvPr/>
        </p:nvSpPr>
        <p:spPr>
          <a:xfrm>
            <a:off x="7772400" y="3108960"/>
            <a:ext cx="384048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FFFFFF"/>
                </a:solidFill>
                <a:latin typeface="Calibri"/>
                <a:ea typeface="Calibri"/>
                <a:cs typeface="Calibri"/>
                <a:sym typeface="Calibri"/>
              </a:rPr>
              <a:t>~87K min/yr FCRT reduction (838 × 104 min avg savings per case)</a:t>
            </a:r>
            <a:endParaRPr/>
          </a:p>
        </p:txBody>
      </p:sp>
      <p:sp>
        <p:nvSpPr>
          <p:cNvPr id="327" name="Google Shape;327;p20"/>
          <p:cNvSpPr txBox="1"/>
          <p:nvPr/>
        </p:nvSpPr>
        <p:spPr>
          <a:xfrm>
            <a:off x="6400800" y="3657600"/>
            <a:ext cx="13716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1B998B"/>
                </a:solidFill>
                <a:latin typeface="Calibri"/>
                <a:ea typeface="Calibri"/>
                <a:cs typeface="Calibri"/>
                <a:sym typeface="Calibri"/>
              </a:rPr>
              <a:t>CSAT Impact:</a:t>
            </a:r>
            <a:endParaRPr/>
          </a:p>
        </p:txBody>
      </p:sp>
      <p:sp>
        <p:nvSpPr>
          <p:cNvPr id="328" name="Google Shape;328;p20"/>
          <p:cNvSpPr txBox="1"/>
          <p:nvPr/>
        </p:nvSpPr>
        <p:spPr>
          <a:xfrm>
            <a:off x="7772400" y="3657600"/>
            <a:ext cx="384048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FFFFFF"/>
                </a:solidFill>
                <a:latin typeface="Calibri"/>
                <a:ea typeface="Calibri"/>
                <a:cs typeface="Calibri"/>
                <a:sym typeface="Calibri"/>
              </a:rPr>
              <a:t>CSAT improvement from 2.30 → est. 3.0+ (chat-level for NR segment)</a:t>
            </a:r>
            <a:endParaRPr/>
          </a:p>
        </p:txBody>
      </p:sp>
      <p:sp>
        <p:nvSpPr>
          <p:cNvPr id="329" name="Google Shape;329;p20"/>
          <p:cNvSpPr txBox="1"/>
          <p:nvPr/>
        </p:nvSpPr>
        <p:spPr>
          <a:xfrm>
            <a:off x="6400800" y="4206240"/>
            <a:ext cx="13716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1B998B"/>
                </a:solidFill>
                <a:latin typeface="Calibri"/>
                <a:ea typeface="Calibri"/>
                <a:cs typeface="Calibri"/>
                <a:sym typeface="Calibri"/>
              </a:rPr>
              <a:t>SLA Impact:</a:t>
            </a:r>
            <a:endParaRPr/>
          </a:p>
        </p:txBody>
      </p:sp>
      <p:sp>
        <p:nvSpPr>
          <p:cNvPr id="330" name="Google Shape;330;p20"/>
          <p:cNvSpPr txBox="1"/>
          <p:nvPr/>
        </p:nvSpPr>
        <p:spPr>
          <a:xfrm>
            <a:off x="7772400" y="4206240"/>
            <a:ext cx="384048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FFFFFF"/>
                </a:solidFill>
                <a:latin typeface="Calibri"/>
                <a:ea typeface="Calibri"/>
                <a:cs typeface="Calibri"/>
                <a:sym typeface="Calibri"/>
              </a:rPr>
              <a:t>Eliminate 100% of 120-min+ SLA breaches (403 → 0 cases)</a:t>
            </a:r>
            <a:endParaRPr/>
          </a:p>
        </p:txBody>
      </p:sp>
      <p:sp>
        <p:nvSpPr>
          <p:cNvPr id="331" name="Google Shape;331;p20"/>
          <p:cNvSpPr txBox="1"/>
          <p:nvPr/>
        </p:nvSpPr>
        <p:spPr>
          <a:xfrm>
            <a:off x="6400800" y="4754880"/>
            <a:ext cx="13716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1B998B"/>
                </a:solidFill>
                <a:latin typeface="Calibri"/>
                <a:ea typeface="Calibri"/>
                <a:cs typeface="Calibri"/>
                <a:sym typeface="Calibri"/>
              </a:rPr>
              <a:t>Why Top 3:</a:t>
            </a:r>
            <a:endParaRPr/>
          </a:p>
        </p:txBody>
      </p:sp>
      <p:sp>
        <p:nvSpPr>
          <p:cNvPr id="332" name="Google Shape;332;p20"/>
          <p:cNvSpPr txBox="1"/>
          <p:nvPr/>
        </p:nvSpPr>
        <p:spPr>
          <a:xfrm>
            <a:off x="7772400" y="4754880"/>
            <a:ext cx="384048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FFFFFF"/>
                </a:solidFill>
                <a:latin typeface="Calibri"/>
                <a:ea typeface="Calibri"/>
                <a:cs typeface="Calibri"/>
                <a:sym typeface="Calibri"/>
              </a:rPr>
              <a:t>Addresses #1 SLA bottleneck — email is 9x slower, all breaches originate here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336" name="Shape 336"/>
        <p:cNvGrpSpPr/>
        <p:nvPr/>
      </p:nvGrpSpPr>
      <p:grpSpPr>
        <a:xfrm>
          <a:off x="0" y="0"/>
          <a:ext cx="0" cy="0"/>
          <a:chOff x="0" y="0"/>
          <a:chExt cx="0" cy="0"/>
        </a:xfrm>
      </p:grpSpPr>
      <p:sp>
        <p:nvSpPr>
          <p:cNvPr id="337" name="Google Shape;337;p21"/>
          <p:cNvSpPr/>
          <p:nvPr/>
        </p:nvSpPr>
        <p:spPr>
          <a:xfrm>
            <a:off x="0" y="0"/>
            <a:ext cx="12191695" cy="73152"/>
          </a:xfrm>
          <a:prstGeom prst="rect">
            <a:avLst/>
          </a:prstGeom>
          <a:solidFill>
            <a:srgbClr val="2ECC71"/>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8" name="Google Shape;338;p21"/>
          <p:cNvSpPr txBox="1"/>
          <p:nvPr/>
        </p:nvSpPr>
        <p:spPr>
          <a:xfrm>
            <a:off x="457200" y="274320"/>
            <a:ext cx="109728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u="none" cap="none" strike="noStrike">
                <a:solidFill>
                  <a:srgbClr val="FFFFFF"/>
                </a:solidFill>
                <a:latin typeface="Calibri"/>
                <a:ea typeface="Calibri"/>
                <a:cs typeface="Calibri"/>
                <a:sym typeface="Calibri"/>
              </a:rPr>
              <a:t>Top 3 Optimizations: #3 Rule-Based NR Exception Engine</a:t>
            </a:r>
            <a:endParaRPr/>
          </a:p>
        </p:txBody>
      </p:sp>
      <p:sp>
        <p:nvSpPr>
          <p:cNvPr id="339" name="Google Shape;339;p21"/>
          <p:cNvSpPr/>
          <p:nvPr/>
        </p:nvSpPr>
        <p:spPr>
          <a:xfrm>
            <a:off x="457200" y="786340"/>
            <a:ext cx="731400" cy="36600"/>
          </a:xfrm>
          <a:prstGeom prst="rect">
            <a:avLst/>
          </a:prstGeom>
          <a:solidFill>
            <a:srgbClr val="2ECC71"/>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340" name="Google Shape;340;p21"/>
          <p:cNvGrpSpPr/>
          <p:nvPr/>
        </p:nvGrpSpPr>
        <p:grpSpPr>
          <a:xfrm>
            <a:off x="472275" y="951075"/>
            <a:ext cx="11247120" cy="2834700"/>
            <a:chOff x="457200" y="1280150"/>
            <a:chExt cx="11247120" cy="2834700"/>
          </a:xfrm>
        </p:grpSpPr>
        <p:sp>
          <p:nvSpPr>
            <p:cNvPr id="341" name="Google Shape;341;p21"/>
            <p:cNvSpPr/>
            <p:nvPr/>
          </p:nvSpPr>
          <p:spPr>
            <a:xfrm>
              <a:off x="457200" y="1280150"/>
              <a:ext cx="11247000" cy="283470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2" name="Google Shape;342;p21"/>
            <p:cNvSpPr/>
            <p:nvPr/>
          </p:nvSpPr>
          <p:spPr>
            <a:xfrm>
              <a:off x="457200" y="1280160"/>
              <a:ext cx="11247120" cy="54864"/>
            </a:xfrm>
            <a:prstGeom prst="rect">
              <a:avLst/>
            </a:prstGeom>
            <a:solidFill>
              <a:srgbClr val="2ECC71"/>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3" name="Google Shape;343;p21"/>
            <p:cNvSpPr txBox="1"/>
            <p:nvPr/>
          </p:nvSpPr>
          <p:spPr>
            <a:xfrm>
              <a:off x="640080" y="1463040"/>
              <a:ext cx="105156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2ECC71"/>
                  </a:solidFill>
                  <a:latin typeface="Calibri"/>
                  <a:ea typeface="Calibri"/>
                  <a:cs typeface="Calibri"/>
                  <a:sym typeface="Calibri"/>
                </a:rPr>
                <a:t>OPT #3: IMPLEMENT RULE-BASED NON-REFUNDABLE EXCEPTION ENGINE</a:t>
              </a:r>
              <a:endParaRPr/>
            </a:p>
          </p:txBody>
        </p:sp>
        <p:sp>
          <p:nvSpPr>
            <p:cNvPr id="344" name="Google Shape;344;p21"/>
            <p:cNvSpPr txBox="1"/>
            <p:nvPr/>
          </p:nvSpPr>
          <p:spPr>
            <a:xfrm>
              <a:off x="640080" y="1920240"/>
              <a:ext cx="14631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1B998B"/>
                  </a:solidFill>
                  <a:latin typeface="Calibri"/>
                  <a:ea typeface="Calibri"/>
                  <a:cs typeface="Calibri"/>
                  <a:sym typeface="Calibri"/>
                </a:rPr>
                <a:t>Problem:</a:t>
              </a:r>
              <a:endParaRPr/>
            </a:p>
          </p:txBody>
        </p:sp>
        <p:sp>
          <p:nvSpPr>
            <p:cNvPr id="345" name="Google Shape;345;p21"/>
            <p:cNvSpPr txBox="1"/>
            <p:nvPr/>
          </p:nvSpPr>
          <p:spPr>
            <a:xfrm>
              <a:off x="2103120" y="1920240"/>
              <a:ext cx="93270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FFFFFF"/>
                  </a:solidFill>
                  <a:latin typeface="Calibri"/>
                  <a:ea typeface="Calibri"/>
                  <a:cs typeface="Calibri"/>
                  <a:sym typeface="Calibri"/>
                </a:rPr>
                <a:t>763 NR exceptions approved manually — no rules, inconsistent, slow (74 min FCRT), $122K margin at risk</a:t>
              </a:r>
              <a:endParaRPr/>
            </a:p>
          </p:txBody>
        </p:sp>
        <p:sp>
          <p:nvSpPr>
            <p:cNvPr id="346" name="Google Shape;346;p21"/>
            <p:cNvSpPr txBox="1"/>
            <p:nvPr/>
          </p:nvSpPr>
          <p:spPr>
            <a:xfrm>
              <a:off x="640080" y="2286000"/>
              <a:ext cx="14631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1B998B"/>
                  </a:solidFill>
                  <a:latin typeface="Calibri"/>
                  <a:ea typeface="Calibri"/>
                  <a:cs typeface="Calibri"/>
                  <a:sym typeface="Calibri"/>
                </a:rPr>
                <a:t>Solution:</a:t>
              </a:r>
              <a:endParaRPr/>
            </a:p>
          </p:txBody>
        </p:sp>
        <p:sp>
          <p:nvSpPr>
            <p:cNvPr id="347" name="Google Shape;347;p21"/>
            <p:cNvSpPr txBox="1"/>
            <p:nvPr/>
          </p:nvSpPr>
          <p:spPr>
            <a:xfrm>
              <a:off x="2103120" y="2286000"/>
              <a:ext cx="93270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FFFFFF"/>
                  </a:solidFill>
                  <a:latin typeface="Calibri"/>
                  <a:ea typeface="Calibri"/>
                  <a:cs typeface="Calibri"/>
                  <a:sym typeface="Calibri"/>
                </a:rPr>
                <a:t>Build decision engine: Auto-approve for top-5 compassionate reasons (Family/Medical/Illness/Weather/Hotel) with doc verification</a:t>
              </a:r>
              <a:endParaRPr/>
            </a:p>
          </p:txBody>
        </p:sp>
        <p:sp>
          <p:nvSpPr>
            <p:cNvPr id="348" name="Google Shape;348;p21"/>
            <p:cNvSpPr txBox="1"/>
            <p:nvPr/>
          </p:nvSpPr>
          <p:spPr>
            <a:xfrm>
              <a:off x="640080" y="2651760"/>
              <a:ext cx="14631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1B998B"/>
                  </a:solidFill>
                  <a:latin typeface="Calibri"/>
                  <a:ea typeface="Calibri"/>
                  <a:cs typeface="Calibri"/>
                  <a:sym typeface="Calibri"/>
                </a:rPr>
                <a:t>Scope:</a:t>
              </a:r>
              <a:endParaRPr/>
            </a:p>
          </p:txBody>
        </p:sp>
        <p:sp>
          <p:nvSpPr>
            <p:cNvPr id="349" name="Google Shape;349;p21"/>
            <p:cNvSpPr txBox="1"/>
            <p:nvPr/>
          </p:nvSpPr>
          <p:spPr>
            <a:xfrm>
              <a:off x="2103120" y="2651760"/>
              <a:ext cx="93270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rgbClr val="FFFFFF"/>
                  </a:solidFill>
                  <a:latin typeface="Calibri"/>
                  <a:ea typeface="Calibri"/>
                  <a:cs typeface="Calibri"/>
                  <a:sym typeface="Calibri"/>
                </a:rPr>
                <a:t>57</a:t>
              </a:r>
              <a:r>
                <a:rPr b="0" i="0" lang="en-US" sz="1100" u="none" cap="none" strike="noStrike">
                  <a:solidFill>
                    <a:srgbClr val="FFFFFF"/>
                  </a:solidFill>
                  <a:latin typeface="Calibri"/>
                  <a:ea typeface="Calibri"/>
                  <a:cs typeface="Calibri"/>
                  <a:sym typeface="Calibri"/>
                </a:rPr>
                <a:t>5 of 763 cases (</a:t>
              </a:r>
              <a:r>
                <a:rPr lang="en-US" sz="1100">
                  <a:solidFill>
                    <a:srgbClr val="FFFFFF"/>
                  </a:solidFill>
                  <a:latin typeface="Calibri"/>
                  <a:ea typeface="Calibri"/>
                  <a:cs typeface="Calibri"/>
                  <a:sym typeface="Calibri"/>
                </a:rPr>
                <a:t>75.4</a:t>
              </a:r>
              <a:r>
                <a:rPr b="0" i="0" lang="en-US" sz="1100" u="none" cap="none" strike="noStrike">
                  <a:solidFill>
                    <a:srgbClr val="FFFFFF"/>
                  </a:solidFill>
                  <a:latin typeface="Calibri"/>
                  <a:ea typeface="Calibri"/>
                  <a:cs typeface="Calibri"/>
                  <a:sym typeface="Calibri"/>
                </a:rPr>
                <a:t>%) follow clear compassionate patterns → automate these; escalate remaining 268 edge cases</a:t>
              </a:r>
              <a:endParaRPr/>
            </a:p>
          </p:txBody>
        </p:sp>
        <p:sp>
          <p:nvSpPr>
            <p:cNvPr id="350" name="Google Shape;350;p21"/>
            <p:cNvSpPr txBox="1"/>
            <p:nvPr/>
          </p:nvSpPr>
          <p:spPr>
            <a:xfrm>
              <a:off x="640080" y="3017520"/>
              <a:ext cx="14631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1B998B"/>
                  </a:solidFill>
                  <a:latin typeface="Calibri"/>
                  <a:ea typeface="Calibri"/>
                  <a:cs typeface="Calibri"/>
                  <a:sym typeface="Calibri"/>
                </a:rPr>
                <a:t>Time Saved:</a:t>
              </a:r>
              <a:endParaRPr/>
            </a:p>
          </p:txBody>
        </p:sp>
        <p:sp>
          <p:nvSpPr>
            <p:cNvPr id="351" name="Google Shape;351;p21"/>
            <p:cNvSpPr txBox="1"/>
            <p:nvPr/>
          </p:nvSpPr>
          <p:spPr>
            <a:xfrm>
              <a:off x="2103120" y="3017520"/>
              <a:ext cx="93270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FFFFFF"/>
                  </a:solidFill>
                  <a:latin typeface="Calibri"/>
                  <a:ea typeface="Calibri"/>
                  <a:cs typeface="Calibri"/>
                  <a:sym typeface="Calibri"/>
                </a:rPr>
                <a:t>~36,700 min/yr for auto-approved cases (495 × 74.2 min) + faster escalation for rest</a:t>
              </a:r>
              <a:endParaRPr/>
            </a:p>
          </p:txBody>
        </p:sp>
        <p:sp>
          <p:nvSpPr>
            <p:cNvPr id="352" name="Google Shape;352;p21"/>
            <p:cNvSpPr txBox="1"/>
            <p:nvPr/>
          </p:nvSpPr>
          <p:spPr>
            <a:xfrm>
              <a:off x="640080" y="3383280"/>
              <a:ext cx="14631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1B998B"/>
                  </a:solidFill>
                  <a:latin typeface="Calibri"/>
                  <a:ea typeface="Calibri"/>
                  <a:cs typeface="Calibri"/>
                  <a:sym typeface="Calibri"/>
                </a:rPr>
                <a:t>Margin Control:</a:t>
              </a:r>
              <a:endParaRPr/>
            </a:p>
          </p:txBody>
        </p:sp>
        <p:sp>
          <p:nvSpPr>
            <p:cNvPr id="353" name="Google Shape;353;p21"/>
            <p:cNvSpPr txBox="1"/>
            <p:nvPr/>
          </p:nvSpPr>
          <p:spPr>
            <a:xfrm>
              <a:off x="2103120" y="3383280"/>
              <a:ext cx="93270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FFFFFF"/>
                  </a:solidFill>
                  <a:latin typeface="Calibri"/>
                  <a:ea typeface="Calibri"/>
                  <a:cs typeface="Calibri"/>
                  <a:sym typeface="Calibri"/>
                </a:rPr>
                <a:t>$92K margin gets governed by rules vs. ad-hoc judgment — audit trail + consistency</a:t>
              </a:r>
              <a:endParaRPr/>
            </a:p>
          </p:txBody>
        </p:sp>
        <p:sp>
          <p:nvSpPr>
            <p:cNvPr id="354" name="Google Shape;354;p21"/>
            <p:cNvSpPr txBox="1"/>
            <p:nvPr/>
          </p:nvSpPr>
          <p:spPr>
            <a:xfrm>
              <a:off x="640080" y="3749039"/>
              <a:ext cx="14631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1B998B"/>
                  </a:solidFill>
                  <a:latin typeface="Calibri"/>
                  <a:ea typeface="Calibri"/>
                  <a:cs typeface="Calibri"/>
                  <a:sym typeface="Calibri"/>
                </a:rPr>
                <a:t>Why Top 3:</a:t>
              </a:r>
              <a:endParaRPr/>
            </a:p>
          </p:txBody>
        </p:sp>
        <p:sp>
          <p:nvSpPr>
            <p:cNvPr id="355" name="Google Shape;355;p21"/>
            <p:cNvSpPr txBox="1"/>
            <p:nvPr/>
          </p:nvSpPr>
          <p:spPr>
            <a:xfrm>
              <a:off x="2103120" y="3749039"/>
              <a:ext cx="93270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FFFFFF"/>
                  </a:solidFill>
                  <a:latin typeface="Calibri"/>
                  <a:ea typeface="Calibri"/>
                  <a:cs typeface="Calibri"/>
                  <a:sym typeface="Calibri"/>
                </a:rPr>
                <a:t>Solves largest unstructured decision block — 15% of all cases lack governance; combines cost + risk + CX improvement</a:t>
              </a:r>
              <a:endParaRPr/>
            </a:p>
          </p:txBody>
        </p:sp>
      </p:grpSp>
      <p:sp>
        <p:nvSpPr>
          <p:cNvPr id="356" name="Google Shape;356;p21"/>
          <p:cNvSpPr txBox="1"/>
          <p:nvPr/>
        </p:nvSpPr>
        <p:spPr>
          <a:xfrm>
            <a:off x="457200" y="3950225"/>
            <a:ext cx="109728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1B998B"/>
                </a:solidFill>
                <a:latin typeface="Calibri"/>
                <a:ea typeface="Calibri"/>
                <a:cs typeface="Calibri"/>
                <a:sym typeface="Calibri"/>
              </a:rPr>
              <a:t>PROPOSED AUTO-APPROVAL RULES FOR NR EXCEPTIONS</a:t>
            </a:r>
            <a:endParaRPr/>
          </a:p>
        </p:txBody>
      </p:sp>
      <p:grpSp>
        <p:nvGrpSpPr>
          <p:cNvPr id="357" name="Google Shape;357;p21"/>
          <p:cNvGrpSpPr/>
          <p:nvPr/>
        </p:nvGrpSpPr>
        <p:grpSpPr>
          <a:xfrm>
            <a:off x="457200" y="4258032"/>
            <a:ext cx="11155680" cy="2259254"/>
            <a:chOff x="457200" y="4572000"/>
            <a:chExt cx="11155680" cy="2286000"/>
          </a:xfrm>
        </p:grpSpPr>
        <p:sp>
          <p:nvSpPr>
            <p:cNvPr id="358" name="Google Shape;358;p21"/>
            <p:cNvSpPr/>
            <p:nvPr/>
          </p:nvSpPr>
          <p:spPr>
            <a:xfrm>
              <a:off x="457200" y="4572000"/>
              <a:ext cx="2194560" cy="365760"/>
            </a:xfrm>
            <a:prstGeom prst="rect">
              <a:avLst/>
            </a:prstGeom>
            <a:solidFill>
              <a:srgbClr val="1B998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9" name="Google Shape;359;p21"/>
            <p:cNvSpPr txBox="1"/>
            <p:nvPr/>
          </p:nvSpPr>
          <p:spPr>
            <a:xfrm>
              <a:off x="457200" y="4590288"/>
              <a:ext cx="2194500" cy="264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Reason Category</a:t>
              </a:r>
              <a:endParaRPr/>
            </a:p>
          </p:txBody>
        </p:sp>
        <p:sp>
          <p:nvSpPr>
            <p:cNvPr id="360" name="Google Shape;360;p21"/>
            <p:cNvSpPr/>
            <p:nvPr/>
          </p:nvSpPr>
          <p:spPr>
            <a:xfrm>
              <a:off x="2697480" y="4572000"/>
              <a:ext cx="2194560" cy="365760"/>
            </a:xfrm>
            <a:prstGeom prst="rect">
              <a:avLst/>
            </a:prstGeom>
            <a:solidFill>
              <a:srgbClr val="1B998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1" name="Google Shape;361;p21"/>
            <p:cNvSpPr txBox="1"/>
            <p:nvPr/>
          </p:nvSpPr>
          <p:spPr>
            <a:xfrm>
              <a:off x="2697480" y="4590288"/>
              <a:ext cx="2194500" cy="264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Auto-Approve?</a:t>
              </a:r>
              <a:endParaRPr/>
            </a:p>
          </p:txBody>
        </p:sp>
        <p:sp>
          <p:nvSpPr>
            <p:cNvPr id="362" name="Google Shape;362;p21"/>
            <p:cNvSpPr/>
            <p:nvPr/>
          </p:nvSpPr>
          <p:spPr>
            <a:xfrm>
              <a:off x="4937760" y="4572000"/>
              <a:ext cx="2194560" cy="365760"/>
            </a:xfrm>
            <a:prstGeom prst="rect">
              <a:avLst/>
            </a:prstGeom>
            <a:solidFill>
              <a:srgbClr val="1B998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3" name="Google Shape;363;p21"/>
            <p:cNvSpPr txBox="1"/>
            <p:nvPr/>
          </p:nvSpPr>
          <p:spPr>
            <a:xfrm>
              <a:off x="4937760" y="4590288"/>
              <a:ext cx="2194500" cy="264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Condition</a:t>
              </a:r>
              <a:endParaRPr/>
            </a:p>
          </p:txBody>
        </p:sp>
        <p:sp>
          <p:nvSpPr>
            <p:cNvPr id="364" name="Google Shape;364;p21"/>
            <p:cNvSpPr/>
            <p:nvPr/>
          </p:nvSpPr>
          <p:spPr>
            <a:xfrm>
              <a:off x="7178040" y="4572000"/>
              <a:ext cx="2194560" cy="365760"/>
            </a:xfrm>
            <a:prstGeom prst="rect">
              <a:avLst/>
            </a:prstGeom>
            <a:solidFill>
              <a:srgbClr val="1B998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5" name="Google Shape;365;p21"/>
            <p:cNvSpPr txBox="1"/>
            <p:nvPr/>
          </p:nvSpPr>
          <p:spPr>
            <a:xfrm>
              <a:off x="7178040" y="4590288"/>
              <a:ext cx="2194500" cy="264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Cases/yr</a:t>
              </a:r>
              <a:endParaRPr/>
            </a:p>
          </p:txBody>
        </p:sp>
        <p:sp>
          <p:nvSpPr>
            <p:cNvPr id="366" name="Google Shape;366;p21"/>
            <p:cNvSpPr/>
            <p:nvPr/>
          </p:nvSpPr>
          <p:spPr>
            <a:xfrm>
              <a:off x="9418320" y="4572000"/>
              <a:ext cx="2194560" cy="365760"/>
            </a:xfrm>
            <a:prstGeom prst="rect">
              <a:avLst/>
            </a:prstGeom>
            <a:solidFill>
              <a:srgbClr val="1B998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7" name="Google Shape;367;p21"/>
            <p:cNvSpPr txBox="1"/>
            <p:nvPr/>
          </p:nvSpPr>
          <p:spPr>
            <a:xfrm>
              <a:off x="9418320" y="4590288"/>
              <a:ext cx="2194500" cy="264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Margin $</a:t>
              </a:r>
              <a:endParaRPr/>
            </a:p>
          </p:txBody>
        </p:sp>
        <p:sp>
          <p:nvSpPr>
            <p:cNvPr id="368" name="Google Shape;368;p21"/>
            <p:cNvSpPr/>
            <p:nvPr/>
          </p:nvSpPr>
          <p:spPr>
            <a:xfrm>
              <a:off x="457200" y="4956048"/>
              <a:ext cx="2194560" cy="301752"/>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9" name="Google Shape;369;p21"/>
            <p:cNvSpPr txBox="1"/>
            <p:nvPr/>
          </p:nvSpPr>
          <p:spPr>
            <a:xfrm>
              <a:off x="457200" y="4965192"/>
              <a:ext cx="2194500" cy="24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Family Emergency</a:t>
              </a:r>
              <a:endParaRPr/>
            </a:p>
          </p:txBody>
        </p:sp>
        <p:sp>
          <p:nvSpPr>
            <p:cNvPr id="370" name="Google Shape;370;p21"/>
            <p:cNvSpPr/>
            <p:nvPr/>
          </p:nvSpPr>
          <p:spPr>
            <a:xfrm>
              <a:off x="2697480" y="4956048"/>
              <a:ext cx="2194560" cy="301752"/>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1" name="Google Shape;371;p21"/>
            <p:cNvSpPr txBox="1"/>
            <p:nvPr/>
          </p:nvSpPr>
          <p:spPr>
            <a:xfrm>
              <a:off x="2697480" y="4965192"/>
              <a:ext cx="2194500" cy="24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2ECC71"/>
                  </a:solidFill>
                  <a:latin typeface="Calibri"/>
                  <a:ea typeface="Calibri"/>
                  <a:cs typeface="Calibri"/>
                  <a:sym typeface="Calibri"/>
                </a:rPr>
                <a:t>YES</a:t>
              </a:r>
              <a:endParaRPr/>
            </a:p>
          </p:txBody>
        </p:sp>
        <p:sp>
          <p:nvSpPr>
            <p:cNvPr id="372" name="Google Shape;372;p21"/>
            <p:cNvSpPr/>
            <p:nvPr/>
          </p:nvSpPr>
          <p:spPr>
            <a:xfrm>
              <a:off x="4937760" y="4956048"/>
              <a:ext cx="2194560" cy="301752"/>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3" name="Google Shape;373;p21"/>
            <p:cNvSpPr txBox="1"/>
            <p:nvPr/>
          </p:nvSpPr>
          <p:spPr>
            <a:xfrm>
              <a:off x="4937760" y="4965192"/>
              <a:ext cx="2194500" cy="24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Verified documentation</a:t>
              </a:r>
              <a:endParaRPr/>
            </a:p>
          </p:txBody>
        </p:sp>
        <p:sp>
          <p:nvSpPr>
            <p:cNvPr id="374" name="Google Shape;374;p21"/>
            <p:cNvSpPr/>
            <p:nvPr/>
          </p:nvSpPr>
          <p:spPr>
            <a:xfrm>
              <a:off x="7178040" y="4956048"/>
              <a:ext cx="2194560" cy="301752"/>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5" name="Google Shape;375;p21"/>
            <p:cNvSpPr txBox="1"/>
            <p:nvPr/>
          </p:nvSpPr>
          <p:spPr>
            <a:xfrm>
              <a:off x="7178040" y="4965192"/>
              <a:ext cx="2194500" cy="24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129</a:t>
              </a:r>
              <a:endParaRPr/>
            </a:p>
          </p:txBody>
        </p:sp>
        <p:sp>
          <p:nvSpPr>
            <p:cNvPr id="376" name="Google Shape;376;p21"/>
            <p:cNvSpPr/>
            <p:nvPr/>
          </p:nvSpPr>
          <p:spPr>
            <a:xfrm>
              <a:off x="9418320" y="4956048"/>
              <a:ext cx="2194560" cy="301752"/>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7" name="Google Shape;377;p21"/>
            <p:cNvSpPr txBox="1"/>
            <p:nvPr/>
          </p:nvSpPr>
          <p:spPr>
            <a:xfrm>
              <a:off x="9418320" y="4965192"/>
              <a:ext cx="2194500" cy="24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$20,282</a:t>
              </a:r>
              <a:endParaRPr/>
            </a:p>
          </p:txBody>
        </p:sp>
        <p:sp>
          <p:nvSpPr>
            <p:cNvPr id="378" name="Google Shape;378;p21"/>
            <p:cNvSpPr/>
            <p:nvPr/>
          </p:nvSpPr>
          <p:spPr>
            <a:xfrm>
              <a:off x="457200" y="5276088"/>
              <a:ext cx="2194560" cy="301752"/>
            </a:xfrm>
            <a:prstGeom prst="rect">
              <a:avLst/>
            </a:prstGeom>
            <a:solidFill>
              <a:srgbClr val="1A2A3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9" name="Google Shape;379;p21"/>
            <p:cNvSpPr txBox="1"/>
            <p:nvPr/>
          </p:nvSpPr>
          <p:spPr>
            <a:xfrm>
              <a:off x="457200" y="5285231"/>
              <a:ext cx="2194500" cy="24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Medical Emergency</a:t>
              </a:r>
              <a:endParaRPr/>
            </a:p>
          </p:txBody>
        </p:sp>
        <p:sp>
          <p:nvSpPr>
            <p:cNvPr id="380" name="Google Shape;380;p21"/>
            <p:cNvSpPr/>
            <p:nvPr/>
          </p:nvSpPr>
          <p:spPr>
            <a:xfrm>
              <a:off x="2697480" y="5276088"/>
              <a:ext cx="2194560" cy="301752"/>
            </a:xfrm>
            <a:prstGeom prst="rect">
              <a:avLst/>
            </a:prstGeom>
            <a:solidFill>
              <a:srgbClr val="1A2A3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1" name="Google Shape;381;p21"/>
            <p:cNvSpPr txBox="1"/>
            <p:nvPr/>
          </p:nvSpPr>
          <p:spPr>
            <a:xfrm>
              <a:off x="2697480" y="5285231"/>
              <a:ext cx="2194500" cy="24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2ECC71"/>
                  </a:solidFill>
                  <a:latin typeface="Calibri"/>
                  <a:ea typeface="Calibri"/>
                  <a:cs typeface="Calibri"/>
                  <a:sym typeface="Calibri"/>
                </a:rPr>
                <a:t>YES</a:t>
              </a:r>
              <a:endParaRPr/>
            </a:p>
          </p:txBody>
        </p:sp>
        <p:sp>
          <p:nvSpPr>
            <p:cNvPr id="382" name="Google Shape;382;p21"/>
            <p:cNvSpPr/>
            <p:nvPr/>
          </p:nvSpPr>
          <p:spPr>
            <a:xfrm>
              <a:off x="4937760" y="5276088"/>
              <a:ext cx="2194560" cy="301752"/>
            </a:xfrm>
            <a:prstGeom prst="rect">
              <a:avLst/>
            </a:prstGeom>
            <a:solidFill>
              <a:srgbClr val="1A2A3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3" name="Google Shape;383;p21"/>
            <p:cNvSpPr txBox="1"/>
            <p:nvPr/>
          </p:nvSpPr>
          <p:spPr>
            <a:xfrm>
              <a:off x="4937760" y="5285231"/>
              <a:ext cx="2194500" cy="24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Medical cert required</a:t>
              </a:r>
              <a:endParaRPr/>
            </a:p>
          </p:txBody>
        </p:sp>
        <p:sp>
          <p:nvSpPr>
            <p:cNvPr id="384" name="Google Shape;384;p21"/>
            <p:cNvSpPr/>
            <p:nvPr/>
          </p:nvSpPr>
          <p:spPr>
            <a:xfrm>
              <a:off x="7178040" y="5276088"/>
              <a:ext cx="2194560" cy="301752"/>
            </a:xfrm>
            <a:prstGeom prst="rect">
              <a:avLst/>
            </a:prstGeom>
            <a:solidFill>
              <a:srgbClr val="1A2A3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5" name="Google Shape;385;p21"/>
            <p:cNvSpPr txBox="1"/>
            <p:nvPr/>
          </p:nvSpPr>
          <p:spPr>
            <a:xfrm>
              <a:off x="7178040" y="5285231"/>
              <a:ext cx="2194500" cy="24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120</a:t>
              </a:r>
              <a:endParaRPr/>
            </a:p>
          </p:txBody>
        </p:sp>
        <p:sp>
          <p:nvSpPr>
            <p:cNvPr id="386" name="Google Shape;386;p21"/>
            <p:cNvSpPr/>
            <p:nvPr/>
          </p:nvSpPr>
          <p:spPr>
            <a:xfrm>
              <a:off x="9418320" y="5276088"/>
              <a:ext cx="2194560" cy="301752"/>
            </a:xfrm>
            <a:prstGeom prst="rect">
              <a:avLst/>
            </a:prstGeom>
            <a:solidFill>
              <a:srgbClr val="1A2A3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7" name="Google Shape;387;p21"/>
            <p:cNvSpPr txBox="1"/>
            <p:nvPr/>
          </p:nvSpPr>
          <p:spPr>
            <a:xfrm>
              <a:off x="9418320" y="5285231"/>
              <a:ext cx="2194500" cy="24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$19,647</a:t>
              </a:r>
              <a:endParaRPr/>
            </a:p>
          </p:txBody>
        </p:sp>
        <p:sp>
          <p:nvSpPr>
            <p:cNvPr id="388" name="Google Shape;388;p21"/>
            <p:cNvSpPr/>
            <p:nvPr/>
          </p:nvSpPr>
          <p:spPr>
            <a:xfrm>
              <a:off x="457200" y="5596128"/>
              <a:ext cx="2194560" cy="301752"/>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9" name="Google Shape;389;p21"/>
            <p:cNvSpPr txBox="1"/>
            <p:nvPr/>
          </p:nvSpPr>
          <p:spPr>
            <a:xfrm>
              <a:off x="457200" y="5605272"/>
              <a:ext cx="2194500" cy="24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Illness</a:t>
              </a:r>
              <a:endParaRPr/>
            </a:p>
          </p:txBody>
        </p:sp>
        <p:sp>
          <p:nvSpPr>
            <p:cNvPr id="390" name="Google Shape;390;p21"/>
            <p:cNvSpPr/>
            <p:nvPr/>
          </p:nvSpPr>
          <p:spPr>
            <a:xfrm>
              <a:off x="2697480" y="5596128"/>
              <a:ext cx="2194560" cy="301752"/>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1" name="Google Shape;391;p21"/>
            <p:cNvSpPr txBox="1"/>
            <p:nvPr/>
          </p:nvSpPr>
          <p:spPr>
            <a:xfrm>
              <a:off x="2697480" y="5605272"/>
              <a:ext cx="2194500" cy="24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2ECC71"/>
                  </a:solidFill>
                  <a:latin typeface="Calibri"/>
                  <a:ea typeface="Calibri"/>
                  <a:cs typeface="Calibri"/>
                  <a:sym typeface="Calibri"/>
                </a:rPr>
                <a:t>YES</a:t>
              </a:r>
              <a:endParaRPr/>
            </a:p>
          </p:txBody>
        </p:sp>
        <p:sp>
          <p:nvSpPr>
            <p:cNvPr id="392" name="Google Shape;392;p21"/>
            <p:cNvSpPr/>
            <p:nvPr/>
          </p:nvSpPr>
          <p:spPr>
            <a:xfrm>
              <a:off x="4937760" y="5596128"/>
              <a:ext cx="2194560" cy="301752"/>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3" name="Google Shape;393;p21"/>
            <p:cNvSpPr txBox="1"/>
            <p:nvPr/>
          </p:nvSpPr>
          <p:spPr>
            <a:xfrm>
              <a:off x="4937760" y="5605272"/>
              <a:ext cx="2194500" cy="24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Medical cert required</a:t>
              </a:r>
              <a:endParaRPr/>
            </a:p>
          </p:txBody>
        </p:sp>
        <p:sp>
          <p:nvSpPr>
            <p:cNvPr id="394" name="Google Shape;394;p21"/>
            <p:cNvSpPr/>
            <p:nvPr/>
          </p:nvSpPr>
          <p:spPr>
            <a:xfrm>
              <a:off x="7178040" y="5596128"/>
              <a:ext cx="2194560" cy="301752"/>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5" name="Google Shape;395;p21"/>
            <p:cNvSpPr txBox="1"/>
            <p:nvPr/>
          </p:nvSpPr>
          <p:spPr>
            <a:xfrm>
              <a:off x="7178040" y="5605272"/>
              <a:ext cx="2194500" cy="24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115</a:t>
              </a:r>
              <a:endParaRPr/>
            </a:p>
          </p:txBody>
        </p:sp>
        <p:sp>
          <p:nvSpPr>
            <p:cNvPr id="396" name="Google Shape;396;p21"/>
            <p:cNvSpPr/>
            <p:nvPr/>
          </p:nvSpPr>
          <p:spPr>
            <a:xfrm>
              <a:off x="9418320" y="5596128"/>
              <a:ext cx="2194560" cy="301752"/>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7" name="Google Shape;397;p21"/>
            <p:cNvSpPr txBox="1"/>
            <p:nvPr/>
          </p:nvSpPr>
          <p:spPr>
            <a:xfrm>
              <a:off x="9418320" y="5605272"/>
              <a:ext cx="2194500" cy="24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$18,375</a:t>
              </a:r>
              <a:endParaRPr/>
            </a:p>
          </p:txBody>
        </p:sp>
        <p:sp>
          <p:nvSpPr>
            <p:cNvPr id="398" name="Google Shape;398;p21"/>
            <p:cNvSpPr/>
            <p:nvPr/>
          </p:nvSpPr>
          <p:spPr>
            <a:xfrm>
              <a:off x="457200" y="5916168"/>
              <a:ext cx="2194560" cy="301752"/>
            </a:xfrm>
            <a:prstGeom prst="rect">
              <a:avLst/>
            </a:prstGeom>
            <a:solidFill>
              <a:srgbClr val="1A2A3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9" name="Google Shape;399;p21"/>
            <p:cNvSpPr txBox="1"/>
            <p:nvPr/>
          </p:nvSpPr>
          <p:spPr>
            <a:xfrm>
              <a:off x="457200" y="5925312"/>
              <a:ext cx="2194500" cy="24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Weather Cancellation</a:t>
              </a:r>
              <a:endParaRPr/>
            </a:p>
          </p:txBody>
        </p:sp>
        <p:sp>
          <p:nvSpPr>
            <p:cNvPr id="400" name="Google Shape;400;p21"/>
            <p:cNvSpPr/>
            <p:nvPr/>
          </p:nvSpPr>
          <p:spPr>
            <a:xfrm>
              <a:off x="2697480" y="5916168"/>
              <a:ext cx="2194560" cy="301752"/>
            </a:xfrm>
            <a:prstGeom prst="rect">
              <a:avLst/>
            </a:prstGeom>
            <a:solidFill>
              <a:srgbClr val="1A2A3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1" name="Google Shape;401;p21"/>
            <p:cNvSpPr txBox="1"/>
            <p:nvPr/>
          </p:nvSpPr>
          <p:spPr>
            <a:xfrm>
              <a:off x="2697480" y="5925312"/>
              <a:ext cx="2194500" cy="24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2ECC71"/>
                  </a:solidFill>
                  <a:latin typeface="Calibri"/>
                  <a:ea typeface="Calibri"/>
                  <a:cs typeface="Calibri"/>
                  <a:sym typeface="Calibri"/>
                </a:rPr>
                <a:t>YES</a:t>
              </a:r>
              <a:endParaRPr/>
            </a:p>
          </p:txBody>
        </p:sp>
        <p:sp>
          <p:nvSpPr>
            <p:cNvPr id="402" name="Google Shape;402;p21"/>
            <p:cNvSpPr/>
            <p:nvPr/>
          </p:nvSpPr>
          <p:spPr>
            <a:xfrm>
              <a:off x="4937760" y="5916168"/>
              <a:ext cx="2194560" cy="301752"/>
            </a:xfrm>
            <a:prstGeom prst="rect">
              <a:avLst/>
            </a:prstGeom>
            <a:solidFill>
              <a:srgbClr val="1A2A3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3" name="Google Shape;403;p21"/>
            <p:cNvSpPr txBox="1"/>
            <p:nvPr/>
          </p:nvSpPr>
          <p:spPr>
            <a:xfrm>
              <a:off x="4937760" y="5925312"/>
              <a:ext cx="2194500" cy="24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Weather advisory cross-ref</a:t>
              </a:r>
              <a:endParaRPr/>
            </a:p>
          </p:txBody>
        </p:sp>
        <p:sp>
          <p:nvSpPr>
            <p:cNvPr id="404" name="Google Shape;404;p21"/>
            <p:cNvSpPr/>
            <p:nvPr/>
          </p:nvSpPr>
          <p:spPr>
            <a:xfrm>
              <a:off x="7178040" y="5916168"/>
              <a:ext cx="2194560" cy="301752"/>
            </a:xfrm>
            <a:prstGeom prst="rect">
              <a:avLst/>
            </a:prstGeom>
            <a:solidFill>
              <a:srgbClr val="1A2A3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5" name="Google Shape;405;p21"/>
            <p:cNvSpPr txBox="1"/>
            <p:nvPr/>
          </p:nvSpPr>
          <p:spPr>
            <a:xfrm>
              <a:off x="7178040" y="5925312"/>
              <a:ext cx="2194500" cy="24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108</a:t>
              </a:r>
              <a:endParaRPr/>
            </a:p>
          </p:txBody>
        </p:sp>
        <p:sp>
          <p:nvSpPr>
            <p:cNvPr id="406" name="Google Shape;406;p21"/>
            <p:cNvSpPr/>
            <p:nvPr/>
          </p:nvSpPr>
          <p:spPr>
            <a:xfrm>
              <a:off x="9418320" y="5916168"/>
              <a:ext cx="2194560" cy="301752"/>
            </a:xfrm>
            <a:prstGeom prst="rect">
              <a:avLst/>
            </a:prstGeom>
            <a:solidFill>
              <a:srgbClr val="1A2A3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7" name="Google Shape;407;p21"/>
            <p:cNvSpPr txBox="1"/>
            <p:nvPr/>
          </p:nvSpPr>
          <p:spPr>
            <a:xfrm>
              <a:off x="9418320" y="5925312"/>
              <a:ext cx="2194500" cy="24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$16,328</a:t>
              </a:r>
              <a:endParaRPr/>
            </a:p>
          </p:txBody>
        </p:sp>
        <p:sp>
          <p:nvSpPr>
            <p:cNvPr id="408" name="Google Shape;408;p21"/>
            <p:cNvSpPr/>
            <p:nvPr/>
          </p:nvSpPr>
          <p:spPr>
            <a:xfrm>
              <a:off x="457200" y="6236208"/>
              <a:ext cx="2194560" cy="301752"/>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9" name="Google Shape;409;p21"/>
            <p:cNvSpPr txBox="1"/>
            <p:nvPr/>
          </p:nvSpPr>
          <p:spPr>
            <a:xfrm>
              <a:off x="457200" y="6245352"/>
              <a:ext cx="2194500" cy="24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Hotel Closed</a:t>
              </a:r>
              <a:endParaRPr/>
            </a:p>
          </p:txBody>
        </p:sp>
        <p:sp>
          <p:nvSpPr>
            <p:cNvPr id="410" name="Google Shape;410;p21"/>
            <p:cNvSpPr/>
            <p:nvPr/>
          </p:nvSpPr>
          <p:spPr>
            <a:xfrm>
              <a:off x="2697480" y="6236208"/>
              <a:ext cx="2194560" cy="301752"/>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1" name="Google Shape;411;p21"/>
            <p:cNvSpPr txBox="1"/>
            <p:nvPr/>
          </p:nvSpPr>
          <p:spPr>
            <a:xfrm>
              <a:off x="2697480" y="6245352"/>
              <a:ext cx="2194500" cy="24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2ECC71"/>
                  </a:solidFill>
                  <a:latin typeface="Calibri"/>
                  <a:ea typeface="Calibri"/>
                  <a:cs typeface="Calibri"/>
                  <a:sym typeface="Calibri"/>
                </a:rPr>
                <a:t>YES</a:t>
              </a:r>
              <a:endParaRPr/>
            </a:p>
          </p:txBody>
        </p:sp>
        <p:sp>
          <p:nvSpPr>
            <p:cNvPr id="412" name="Google Shape;412;p21"/>
            <p:cNvSpPr/>
            <p:nvPr/>
          </p:nvSpPr>
          <p:spPr>
            <a:xfrm>
              <a:off x="4937760" y="6236208"/>
              <a:ext cx="2194560" cy="301752"/>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3" name="Google Shape;413;p21"/>
            <p:cNvSpPr txBox="1"/>
            <p:nvPr/>
          </p:nvSpPr>
          <p:spPr>
            <a:xfrm>
              <a:off x="4937760" y="6245352"/>
              <a:ext cx="2194500" cy="24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Supplier confirmation</a:t>
              </a:r>
              <a:endParaRPr/>
            </a:p>
          </p:txBody>
        </p:sp>
        <p:sp>
          <p:nvSpPr>
            <p:cNvPr id="414" name="Google Shape;414;p21"/>
            <p:cNvSpPr/>
            <p:nvPr/>
          </p:nvSpPr>
          <p:spPr>
            <a:xfrm>
              <a:off x="7178040" y="6236208"/>
              <a:ext cx="2194560" cy="301752"/>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5" name="Google Shape;415;p21"/>
            <p:cNvSpPr txBox="1"/>
            <p:nvPr/>
          </p:nvSpPr>
          <p:spPr>
            <a:xfrm>
              <a:off x="7178040" y="6245352"/>
              <a:ext cx="2194500" cy="24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103</a:t>
              </a:r>
              <a:endParaRPr/>
            </a:p>
          </p:txBody>
        </p:sp>
        <p:sp>
          <p:nvSpPr>
            <p:cNvPr id="416" name="Google Shape;416;p21"/>
            <p:cNvSpPr/>
            <p:nvPr/>
          </p:nvSpPr>
          <p:spPr>
            <a:xfrm>
              <a:off x="9418320" y="6236208"/>
              <a:ext cx="2194560" cy="301752"/>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7" name="Google Shape;417;p21"/>
            <p:cNvSpPr txBox="1"/>
            <p:nvPr/>
          </p:nvSpPr>
          <p:spPr>
            <a:xfrm>
              <a:off x="9418320" y="6245352"/>
              <a:ext cx="2194500" cy="24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$18,080</a:t>
              </a:r>
              <a:endParaRPr/>
            </a:p>
          </p:txBody>
        </p:sp>
        <p:sp>
          <p:nvSpPr>
            <p:cNvPr id="418" name="Google Shape;418;p21"/>
            <p:cNvSpPr/>
            <p:nvPr/>
          </p:nvSpPr>
          <p:spPr>
            <a:xfrm>
              <a:off x="457200" y="6556248"/>
              <a:ext cx="2194560" cy="301752"/>
            </a:xfrm>
            <a:prstGeom prst="rect">
              <a:avLst/>
            </a:prstGeom>
            <a:solidFill>
              <a:srgbClr val="1A2A3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9" name="Google Shape;419;p21"/>
            <p:cNvSpPr txBox="1"/>
            <p:nvPr/>
          </p:nvSpPr>
          <p:spPr>
            <a:xfrm>
              <a:off x="457200" y="6565392"/>
              <a:ext cx="2194500" cy="24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All Other NR Reasons</a:t>
              </a:r>
              <a:endParaRPr/>
            </a:p>
          </p:txBody>
        </p:sp>
        <p:sp>
          <p:nvSpPr>
            <p:cNvPr id="420" name="Google Shape;420;p21"/>
            <p:cNvSpPr/>
            <p:nvPr/>
          </p:nvSpPr>
          <p:spPr>
            <a:xfrm>
              <a:off x="2697480" y="6556248"/>
              <a:ext cx="2194560" cy="301752"/>
            </a:xfrm>
            <a:prstGeom prst="rect">
              <a:avLst/>
            </a:prstGeom>
            <a:solidFill>
              <a:srgbClr val="1A2A3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1" name="Google Shape;421;p21"/>
            <p:cNvSpPr txBox="1"/>
            <p:nvPr/>
          </p:nvSpPr>
          <p:spPr>
            <a:xfrm>
              <a:off x="2697480" y="6565392"/>
              <a:ext cx="2194500" cy="24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39C12"/>
                  </a:solidFill>
                  <a:latin typeface="Calibri"/>
                  <a:ea typeface="Calibri"/>
                  <a:cs typeface="Calibri"/>
                  <a:sym typeface="Calibri"/>
                </a:rPr>
                <a:t>ESCALATE</a:t>
              </a:r>
              <a:endParaRPr/>
            </a:p>
          </p:txBody>
        </p:sp>
        <p:sp>
          <p:nvSpPr>
            <p:cNvPr id="422" name="Google Shape;422;p21"/>
            <p:cNvSpPr/>
            <p:nvPr/>
          </p:nvSpPr>
          <p:spPr>
            <a:xfrm>
              <a:off x="4937760" y="6556248"/>
              <a:ext cx="2194560" cy="301752"/>
            </a:xfrm>
            <a:prstGeom prst="rect">
              <a:avLst/>
            </a:prstGeom>
            <a:solidFill>
              <a:srgbClr val="1A2A3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3" name="Google Shape;423;p21"/>
            <p:cNvSpPr txBox="1"/>
            <p:nvPr/>
          </p:nvSpPr>
          <p:spPr>
            <a:xfrm>
              <a:off x="4937760" y="6565392"/>
              <a:ext cx="2194500" cy="24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Agent review required</a:t>
              </a:r>
              <a:endParaRPr/>
            </a:p>
          </p:txBody>
        </p:sp>
        <p:sp>
          <p:nvSpPr>
            <p:cNvPr id="424" name="Google Shape;424;p21"/>
            <p:cNvSpPr/>
            <p:nvPr/>
          </p:nvSpPr>
          <p:spPr>
            <a:xfrm>
              <a:off x="7178040" y="6556248"/>
              <a:ext cx="2194560" cy="301752"/>
            </a:xfrm>
            <a:prstGeom prst="rect">
              <a:avLst/>
            </a:prstGeom>
            <a:solidFill>
              <a:srgbClr val="1A2A3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5" name="Google Shape;425;p21"/>
            <p:cNvSpPr txBox="1"/>
            <p:nvPr/>
          </p:nvSpPr>
          <p:spPr>
            <a:xfrm>
              <a:off x="7178040" y="6565392"/>
              <a:ext cx="2194500" cy="24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268</a:t>
              </a:r>
              <a:endParaRPr/>
            </a:p>
          </p:txBody>
        </p:sp>
        <p:sp>
          <p:nvSpPr>
            <p:cNvPr id="426" name="Google Shape;426;p21"/>
            <p:cNvSpPr/>
            <p:nvPr/>
          </p:nvSpPr>
          <p:spPr>
            <a:xfrm>
              <a:off x="9418320" y="6556248"/>
              <a:ext cx="2194560" cy="301752"/>
            </a:xfrm>
            <a:prstGeom prst="rect">
              <a:avLst/>
            </a:prstGeom>
            <a:solidFill>
              <a:srgbClr val="1A2A3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7" name="Google Shape;427;p21"/>
            <p:cNvSpPr txBox="1"/>
            <p:nvPr/>
          </p:nvSpPr>
          <p:spPr>
            <a:xfrm>
              <a:off x="9418320" y="6565392"/>
              <a:ext cx="2194500" cy="24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$29,356</a:t>
              </a:r>
              <a:endParaRPr/>
            </a:p>
          </p:txBody>
        </p:sp>
        <p:sp>
          <p:nvSpPr>
            <p:cNvPr id="428" name="Google Shape;428;p21"/>
            <p:cNvSpPr txBox="1"/>
            <p:nvPr/>
          </p:nvSpPr>
          <p:spPr>
            <a:xfrm>
              <a:off x="457200" y="6400800"/>
              <a:ext cx="10972800" cy="311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432" name="Shape 432"/>
        <p:cNvGrpSpPr/>
        <p:nvPr/>
      </p:nvGrpSpPr>
      <p:grpSpPr>
        <a:xfrm>
          <a:off x="0" y="0"/>
          <a:ext cx="0" cy="0"/>
          <a:chOff x="0" y="0"/>
          <a:chExt cx="0" cy="0"/>
        </a:xfrm>
      </p:grpSpPr>
      <p:sp>
        <p:nvSpPr>
          <p:cNvPr id="433" name="Google Shape;433;p22"/>
          <p:cNvSpPr/>
          <p:nvPr/>
        </p:nvSpPr>
        <p:spPr>
          <a:xfrm>
            <a:off x="0" y="0"/>
            <a:ext cx="12191695" cy="73152"/>
          </a:xfrm>
          <a:prstGeom prst="rect">
            <a:avLst/>
          </a:prstGeom>
          <a:solidFill>
            <a:srgbClr val="1B998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4" name="Google Shape;434;p22"/>
          <p:cNvSpPr txBox="1"/>
          <p:nvPr/>
        </p:nvSpPr>
        <p:spPr>
          <a:xfrm>
            <a:off x="457200" y="274320"/>
            <a:ext cx="109728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u="none" cap="none" strike="noStrike">
                <a:solidFill>
                  <a:srgbClr val="FFFFFF"/>
                </a:solidFill>
                <a:latin typeface="Calibri"/>
                <a:ea typeface="Calibri"/>
                <a:cs typeface="Calibri"/>
                <a:sym typeface="Calibri"/>
              </a:rPr>
              <a:t>Impact vs Effort: Why These 3 — and Why Not the Others</a:t>
            </a:r>
            <a:endParaRPr/>
          </a:p>
        </p:txBody>
      </p:sp>
      <p:sp>
        <p:nvSpPr>
          <p:cNvPr id="435" name="Google Shape;435;p22"/>
          <p:cNvSpPr/>
          <p:nvPr/>
        </p:nvSpPr>
        <p:spPr>
          <a:xfrm>
            <a:off x="457200" y="1005840"/>
            <a:ext cx="731520" cy="36576"/>
          </a:xfrm>
          <a:prstGeom prst="rect">
            <a:avLst/>
          </a:prstGeom>
          <a:solidFill>
            <a:srgbClr val="1B998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6" name="Google Shape;436;p22"/>
          <p:cNvSpPr/>
          <p:nvPr/>
        </p:nvSpPr>
        <p:spPr>
          <a:xfrm>
            <a:off x="457200" y="1280160"/>
            <a:ext cx="6400800" cy="475488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7" name="Google Shape;437;p22"/>
          <p:cNvSpPr txBox="1"/>
          <p:nvPr/>
        </p:nvSpPr>
        <p:spPr>
          <a:xfrm>
            <a:off x="640080" y="1371600"/>
            <a:ext cx="594360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400" u="none" cap="none" strike="noStrike">
                <a:solidFill>
                  <a:srgbClr val="1B998B"/>
                </a:solidFill>
                <a:latin typeface="Calibri"/>
                <a:ea typeface="Calibri"/>
                <a:cs typeface="Calibri"/>
                <a:sym typeface="Calibri"/>
              </a:rPr>
              <a:t>IMPACT vs EFFORT MATRIX</a:t>
            </a:r>
            <a:endParaRPr/>
          </a:p>
        </p:txBody>
      </p:sp>
      <p:sp>
        <p:nvSpPr>
          <p:cNvPr id="438" name="Google Shape;438;p22"/>
          <p:cNvSpPr txBox="1"/>
          <p:nvPr/>
        </p:nvSpPr>
        <p:spPr>
          <a:xfrm rot="-5401218">
            <a:off x="342148" y="3200306"/>
            <a:ext cx="846900" cy="24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A0A0A0"/>
                </a:solidFill>
                <a:latin typeface="Calibri"/>
                <a:ea typeface="Calibri"/>
                <a:cs typeface="Calibri"/>
                <a:sym typeface="Calibri"/>
              </a:rPr>
              <a:t>IMPACT →</a:t>
            </a:r>
            <a:endParaRPr/>
          </a:p>
        </p:txBody>
      </p:sp>
      <p:sp>
        <p:nvSpPr>
          <p:cNvPr id="439" name="Google Shape;439;p22"/>
          <p:cNvSpPr txBox="1"/>
          <p:nvPr/>
        </p:nvSpPr>
        <p:spPr>
          <a:xfrm>
            <a:off x="2834625" y="5774737"/>
            <a:ext cx="1828800" cy="246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A0A0A0"/>
                </a:solidFill>
                <a:latin typeface="Calibri"/>
                <a:ea typeface="Calibri"/>
                <a:cs typeface="Calibri"/>
                <a:sym typeface="Calibri"/>
              </a:rPr>
              <a:t>EFFORT →</a:t>
            </a:r>
            <a:endParaRPr/>
          </a:p>
        </p:txBody>
      </p:sp>
      <p:sp>
        <p:nvSpPr>
          <p:cNvPr id="440" name="Google Shape;440;p22"/>
          <p:cNvSpPr/>
          <p:nvPr/>
        </p:nvSpPr>
        <p:spPr>
          <a:xfrm>
            <a:off x="1097280" y="1828800"/>
            <a:ext cx="2743200" cy="2011680"/>
          </a:xfrm>
          <a:prstGeom prst="rect">
            <a:avLst/>
          </a:prstGeom>
          <a:solidFill>
            <a:srgbClr val="0A3D2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1" name="Google Shape;441;p22"/>
          <p:cNvSpPr txBox="1"/>
          <p:nvPr/>
        </p:nvSpPr>
        <p:spPr>
          <a:xfrm>
            <a:off x="1188720" y="1874519"/>
            <a:ext cx="256032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2ECC71"/>
                </a:solidFill>
                <a:latin typeface="Calibri"/>
                <a:ea typeface="Calibri"/>
                <a:cs typeface="Calibri"/>
                <a:sym typeface="Calibri"/>
              </a:rPr>
              <a:t>★ QUICK WINS</a:t>
            </a:r>
            <a:endParaRPr/>
          </a:p>
        </p:txBody>
      </p:sp>
      <p:sp>
        <p:nvSpPr>
          <p:cNvPr id="442" name="Google Shape;442;p22"/>
          <p:cNvSpPr/>
          <p:nvPr/>
        </p:nvSpPr>
        <p:spPr>
          <a:xfrm>
            <a:off x="3931920" y="1828800"/>
            <a:ext cx="2743200" cy="2011680"/>
          </a:xfrm>
          <a:prstGeom prst="rect">
            <a:avLst/>
          </a:prstGeom>
          <a:solidFill>
            <a:srgbClr val="2A2A0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3" name="Google Shape;443;p22"/>
          <p:cNvSpPr txBox="1"/>
          <p:nvPr/>
        </p:nvSpPr>
        <p:spPr>
          <a:xfrm>
            <a:off x="4023360" y="1874519"/>
            <a:ext cx="256032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F39C12"/>
                </a:solidFill>
                <a:latin typeface="Calibri"/>
                <a:ea typeface="Calibri"/>
                <a:cs typeface="Calibri"/>
                <a:sym typeface="Calibri"/>
              </a:rPr>
              <a:t>STRATEGIC BETS</a:t>
            </a:r>
            <a:endParaRPr/>
          </a:p>
        </p:txBody>
      </p:sp>
      <p:sp>
        <p:nvSpPr>
          <p:cNvPr id="444" name="Google Shape;444;p22"/>
          <p:cNvSpPr/>
          <p:nvPr/>
        </p:nvSpPr>
        <p:spPr>
          <a:xfrm>
            <a:off x="1097280" y="3931920"/>
            <a:ext cx="2743200" cy="1828800"/>
          </a:xfrm>
          <a:prstGeom prst="rect">
            <a:avLst/>
          </a:prstGeom>
          <a:solidFill>
            <a:srgbClr val="15203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5" name="Google Shape;445;p22"/>
          <p:cNvSpPr txBox="1"/>
          <p:nvPr/>
        </p:nvSpPr>
        <p:spPr>
          <a:xfrm>
            <a:off x="1188720" y="3977639"/>
            <a:ext cx="256032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A0A0A0"/>
                </a:solidFill>
                <a:latin typeface="Calibri"/>
                <a:ea typeface="Calibri"/>
                <a:cs typeface="Calibri"/>
                <a:sym typeface="Calibri"/>
              </a:rPr>
              <a:t>FILL-INS</a:t>
            </a:r>
            <a:endParaRPr/>
          </a:p>
        </p:txBody>
      </p:sp>
      <p:sp>
        <p:nvSpPr>
          <p:cNvPr id="446" name="Google Shape;446;p22"/>
          <p:cNvSpPr/>
          <p:nvPr/>
        </p:nvSpPr>
        <p:spPr>
          <a:xfrm>
            <a:off x="3931920" y="3931920"/>
            <a:ext cx="2743200" cy="1828800"/>
          </a:xfrm>
          <a:prstGeom prst="rect">
            <a:avLst/>
          </a:prstGeom>
          <a:solidFill>
            <a:srgbClr val="2A1515"/>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7" name="Google Shape;447;p22"/>
          <p:cNvSpPr txBox="1"/>
          <p:nvPr/>
        </p:nvSpPr>
        <p:spPr>
          <a:xfrm>
            <a:off x="4023360" y="3977639"/>
            <a:ext cx="256032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E74C3C"/>
                </a:solidFill>
                <a:latin typeface="Calibri"/>
                <a:ea typeface="Calibri"/>
                <a:cs typeface="Calibri"/>
                <a:sym typeface="Calibri"/>
              </a:rPr>
              <a:t>DEPRIORITIZE</a:t>
            </a:r>
            <a:endParaRPr/>
          </a:p>
        </p:txBody>
      </p:sp>
      <p:sp>
        <p:nvSpPr>
          <p:cNvPr id="448" name="Google Shape;448;p22"/>
          <p:cNvSpPr/>
          <p:nvPr/>
        </p:nvSpPr>
        <p:spPr>
          <a:xfrm>
            <a:off x="1645920" y="2286000"/>
            <a:ext cx="1097280" cy="822960"/>
          </a:xfrm>
          <a:prstGeom prst="rect">
            <a:avLst/>
          </a:prstGeom>
          <a:solidFill>
            <a:srgbClr val="2ECC71"/>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9" name="Google Shape;449;p22"/>
          <p:cNvSpPr txBox="1"/>
          <p:nvPr/>
        </p:nvSpPr>
        <p:spPr>
          <a:xfrm>
            <a:off x="1645920" y="2331720"/>
            <a:ext cx="109728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000000"/>
                </a:solidFill>
                <a:latin typeface="Calibri"/>
                <a:ea typeface="Calibri"/>
                <a:cs typeface="Calibri"/>
                <a:sym typeface="Calibri"/>
              </a:rPr>
              <a:t>OPT 1</a:t>
            </a:r>
            <a:endParaRPr/>
          </a:p>
        </p:txBody>
      </p:sp>
      <p:sp>
        <p:nvSpPr>
          <p:cNvPr id="450" name="Google Shape;450;p22"/>
          <p:cNvSpPr txBox="1"/>
          <p:nvPr/>
        </p:nvSpPr>
        <p:spPr>
          <a:xfrm>
            <a:off x="1645920" y="2578608"/>
            <a:ext cx="109728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800" u="none" cap="none" strike="noStrike">
                <a:solidFill>
                  <a:srgbClr val="000000"/>
                </a:solidFill>
                <a:latin typeface="Calibri"/>
                <a:ea typeface="Calibri"/>
                <a:cs typeface="Calibri"/>
                <a:sym typeface="Calibri"/>
              </a:rPr>
              <a:t>Auto-Approve</a:t>
            </a:r>
            <a:br>
              <a:rPr b="0" i="0" lang="en-US" sz="800" u="none" cap="none" strike="noStrike">
                <a:solidFill>
                  <a:srgbClr val="000000"/>
                </a:solidFill>
                <a:latin typeface="Calibri"/>
                <a:ea typeface="Calibri"/>
                <a:cs typeface="Calibri"/>
                <a:sym typeface="Calibri"/>
              </a:rPr>
            </a:br>
            <a:r>
              <a:rPr b="0" i="0" lang="en-US" sz="800" u="none" cap="none" strike="noStrike">
                <a:solidFill>
                  <a:srgbClr val="000000"/>
                </a:solidFill>
                <a:latin typeface="Calibri"/>
                <a:ea typeface="Calibri"/>
                <a:cs typeface="Calibri"/>
                <a:sym typeface="Calibri"/>
              </a:rPr>
              <a:t>Refundable</a:t>
            </a:r>
            <a:endParaRPr/>
          </a:p>
        </p:txBody>
      </p:sp>
      <p:sp>
        <p:nvSpPr>
          <p:cNvPr id="451" name="Google Shape;451;p22"/>
          <p:cNvSpPr/>
          <p:nvPr/>
        </p:nvSpPr>
        <p:spPr>
          <a:xfrm>
            <a:off x="2926080" y="2560320"/>
            <a:ext cx="1097280" cy="822960"/>
          </a:xfrm>
          <a:prstGeom prst="rect">
            <a:avLst/>
          </a:prstGeom>
          <a:solidFill>
            <a:srgbClr val="2ECC71"/>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2" name="Google Shape;452;p22"/>
          <p:cNvSpPr txBox="1"/>
          <p:nvPr/>
        </p:nvSpPr>
        <p:spPr>
          <a:xfrm>
            <a:off x="2926080" y="2606040"/>
            <a:ext cx="109728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000000"/>
                </a:solidFill>
                <a:latin typeface="Calibri"/>
                <a:ea typeface="Calibri"/>
                <a:cs typeface="Calibri"/>
                <a:sym typeface="Calibri"/>
              </a:rPr>
              <a:t>OPT 2</a:t>
            </a:r>
            <a:endParaRPr/>
          </a:p>
        </p:txBody>
      </p:sp>
      <p:sp>
        <p:nvSpPr>
          <p:cNvPr id="453" name="Google Shape;453;p22"/>
          <p:cNvSpPr txBox="1"/>
          <p:nvPr/>
        </p:nvSpPr>
        <p:spPr>
          <a:xfrm>
            <a:off x="2926080" y="2852928"/>
            <a:ext cx="109728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800" u="none" cap="none" strike="noStrike">
                <a:solidFill>
                  <a:srgbClr val="000000"/>
                </a:solidFill>
                <a:latin typeface="Calibri"/>
                <a:ea typeface="Calibri"/>
                <a:cs typeface="Calibri"/>
                <a:sym typeface="Calibri"/>
              </a:rPr>
              <a:t>Email→Chat</a:t>
            </a:r>
            <a:br>
              <a:rPr b="0" i="0" lang="en-US" sz="800" u="none" cap="none" strike="noStrike">
                <a:solidFill>
                  <a:srgbClr val="000000"/>
                </a:solidFill>
                <a:latin typeface="Calibri"/>
                <a:ea typeface="Calibri"/>
                <a:cs typeface="Calibri"/>
                <a:sym typeface="Calibri"/>
              </a:rPr>
            </a:br>
            <a:r>
              <a:rPr b="0" i="0" lang="en-US" sz="800" u="none" cap="none" strike="noStrike">
                <a:solidFill>
                  <a:srgbClr val="000000"/>
                </a:solidFill>
                <a:latin typeface="Calibri"/>
                <a:ea typeface="Calibri"/>
                <a:cs typeface="Calibri"/>
                <a:sym typeface="Calibri"/>
              </a:rPr>
              <a:t>Migration</a:t>
            </a:r>
            <a:endParaRPr/>
          </a:p>
        </p:txBody>
      </p:sp>
      <p:sp>
        <p:nvSpPr>
          <p:cNvPr id="454" name="Google Shape;454;p22"/>
          <p:cNvSpPr/>
          <p:nvPr/>
        </p:nvSpPr>
        <p:spPr>
          <a:xfrm>
            <a:off x="4389120" y="2377440"/>
            <a:ext cx="1097280" cy="822960"/>
          </a:xfrm>
          <a:prstGeom prst="rect">
            <a:avLst/>
          </a:prstGeom>
          <a:solidFill>
            <a:schemeClr val="accent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5" name="Google Shape;455;p22"/>
          <p:cNvSpPr txBox="1"/>
          <p:nvPr/>
        </p:nvSpPr>
        <p:spPr>
          <a:xfrm>
            <a:off x="4389120" y="2423160"/>
            <a:ext cx="109728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000000"/>
                </a:solidFill>
                <a:latin typeface="Calibri"/>
                <a:ea typeface="Calibri"/>
                <a:cs typeface="Calibri"/>
                <a:sym typeface="Calibri"/>
              </a:rPr>
              <a:t>OPT 3</a:t>
            </a:r>
            <a:endParaRPr/>
          </a:p>
        </p:txBody>
      </p:sp>
      <p:sp>
        <p:nvSpPr>
          <p:cNvPr id="456" name="Google Shape;456;p22"/>
          <p:cNvSpPr txBox="1"/>
          <p:nvPr/>
        </p:nvSpPr>
        <p:spPr>
          <a:xfrm>
            <a:off x="4389120" y="2670048"/>
            <a:ext cx="109728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800" u="none" cap="none" strike="noStrike">
                <a:solidFill>
                  <a:srgbClr val="000000"/>
                </a:solidFill>
                <a:latin typeface="Calibri"/>
                <a:ea typeface="Calibri"/>
                <a:cs typeface="Calibri"/>
                <a:sym typeface="Calibri"/>
              </a:rPr>
              <a:t>NR Rule</a:t>
            </a:r>
            <a:br>
              <a:rPr b="0" i="0" lang="en-US" sz="800" u="none" cap="none" strike="noStrike">
                <a:solidFill>
                  <a:srgbClr val="000000"/>
                </a:solidFill>
                <a:latin typeface="Calibri"/>
                <a:ea typeface="Calibri"/>
                <a:cs typeface="Calibri"/>
                <a:sym typeface="Calibri"/>
              </a:rPr>
            </a:br>
            <a:r>
              <a:rPr b="0" i="0" lang="en-US" sz="800" u="none" cap="none" strike="noStrike">
                <a:solidFill>
                  <a:srgbClr val="000000"/>
                </a:solidFill>
                <a:latin typeface="Calibri"/>
                <a:ea typeface="Calibri"/>
                <a:cs typeface="Calibri"/>
                <a:sym typeface="Calibri"/>
              </a:rPr>
              <a:t>Engine</a:t>
            </a:r>
            <a:endParaRPr/>
          </a:p>
        </p:txBody>
      </p:sp>
      <p:sp>
        <p:nvSpPr>
          <p:cNvPr id="457" name="Google Shape;457;p22"/>
          <p:cNvSpPr/>
          <p:nvPr/>
        </p:nvSpPr>
        <p:spPr>
          <a:xfrm>
            <a:off x="1828800" y="4206240"/>
            <a:ext cx="1097280" cy="822960"/>
          </a:xfrm>
          <a:prstGeom prst="rect">
            <a:avLst/>
          </a:prstGeom>
          <a:solidFill>
            <a:srgbClr val="3498D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8" name="Google Shape;458;p22"/>
          <p:cNvSpPr txBox="1"/>
          <p:nvPr/>
        </p:nvSpPr>
        <p:spPr>
          <a:xfrm>
            <a:off x="1828800" y="4251960"/>
            <a:ext cx="109728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000000"/>
                </a:solidFill>
                <a:latin typeface="Calibri"/>
                <a:ea typeface="Calibri"/>
                <a:cs typeface="Calibri"/>
                <a:sym typeface="Calibri"/>
              </a:rPr>
              <a:t>L1-L3</a:t>
            </a:r>
            <a:endParaRPr/>
          </a:p>
        </p:txBody>
      </p:sp>
      <p:sp>
        <p:nvSpPr>
          <p:cNvPr id="459" name="Google Shape;459;p22"/>
          <p:cNvSpPr txBox="1"/>
          <p:nvPr/>
        </p:nvSpPr>
        <p:spPr>
          <a:xfrm>
            <a:off x="1828800" y="4498848"/>
            <a:ext cx="109728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800" u="none" cap="none" strike="noStrike">
                <a:solidFill>
                  <a:srgbClr val="000000"/>
                </a:solidFill>
                <a:latin typeface="Calibri"/>
                <a:ea typeface="Calibri"/>
                <a:cs typeface="Calibri"/>
                <a:sym typeface="Calibri"/>
              </a:rPr>
              <a:t>Loyalty/Region/</a:t>
            </a:r>
            <a:br>
              <a:rPr b="0" i="0" lang="en-US" sz="800" u="none" cap="none" strike="noStrike">
                <a:solidFill>
                  <a:srgbClr val="000000"/>
                </a:solidFill>
                <a:latin typeface="Calibri"/>
                <a:ea typeface="Calibri"/>
                <a:cs typeface="Calibri"/>
                <a:sym typeface="Calibri"/>
              </a:rPr>
            </a:br>
            <a:r>
              <a:rPr b="0" i="0" lang="en-US" sz="800" u="none" cap="none" strike="noStrike">
                <a:solidFill>
                  <a:srgbClr val="000000"/>
                </a:solidFill>
                <a:latin typeface="Calibri"/>
                <a:ea typeface="Calibri"/>
                <a:cs typeface="Calibri"/>
                <a:sym typeface="Calibri"/>
              </a:rPr>
              <a:t>Shift tuning</a:t>
            </a:r>
            <a:endParaRPr/>
          </a:p>
        </p:txBody>
      </p:sp>
      <p:sp>
        <p:nvSpPr>
          <p:cNvPr id="460" name="Google Shape;460;p22"/>
          <p:cNvSpPr/>
          <p:nvPr/>
        </p:nvSpPr>
        <p:spPr>
          <a:xfrm>
            <a:off x="4754880" y="4389120"/>
            <a:ext cx="1097280" cy="822960"/>
          </a:xfrm>
          <a:prstGeom prst="rect">
            <a:avLst/>
          </a:prstGeom>
          <a:solidFill>
            <a:srgbClr val="EA99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1" name="Google Shape;461;p22"/>
          <p:cNvSpPr txBox="1"/>
          <p:nvPr/>
        </p:nvSpPr>
        <p:spPr>
          <a:xfrm>
            <a:off x="4754880" y="4434840"/>
            <a:ext cx="109728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000000"/>
                </a:solidFill>
                <a:latin typeface="Calibri"/>
                <a:ea typeface="Calibri"/>
                <a:cs typeface="Calibri"/>
                <a:sym typeface="Calibri"/>
              </a:rPr>
              <a:t>M2</a:t>
            </a:r>
            <a:endParaRPr/>
          </a:p>
        </p:txBody>
      </p:sp>
      <p:sp>
        <p:nvSpPr>
          <p:cNvPr id="462" name="Google Shape;462;p22"/>
          <p:cNvSpPr txBox="1"/>
          <p:nvPr/>
        </p:nvSpPr>
        <p:spPr>
          <a:xfrm>
            <a:off x="4754880" y="4681728"/>
            <a:ext cx="109728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800" u="none" cap="none" strike="noStrike">
                <a:solidFill>
                  <a:srgbClr val="000000"/>
                </a:solidFill>
                <a:latin typeface="Calibri"/>
                <a:ea typeface="Calibri"/>
                <a:cs typeface="Calibri"/>
                <a:sym typeface="Calibri"/>
              </a:rPr>
              <a:t>Voice</a:t>
            </a:r>
            <a:br>
              <a:rPr b="0" i="0" lang="en-US" sz="800" u="none" cap="none" strike="noStrike">
                <a:solidFill>
                  <a:srgbClr val="000000"/>
                </a:solidFill>
                <a:latin typeface="Calibri"/>
                <a:ea typeface="Calibri"/>
                <a:cs typeface="Calibri"/>
                <a:sym typeface="Calibri"/>
              </a:rPr>
            </a:br>
            <a:r>
              <a:rPr b="0" i="0" lang="en-US" sz="800" u="none" cap="none" strike="noStrike">
                <a:solidFill>
                  <a:srgbClr val="000000"/>
                </a:solidFill>
                <a:latin typeface="Calibri"/>
                <a:ea typeface="Calibri"/>
                <a:cs typeface="Calibri"/>
                <a:sym typeface="Calibri"/>
              </a:rPr>
              <a:t>deflection</a:t>
            </a:r>
            <a:endParaRPr/>
          </a:p>
        </p:txBody>
      </p:sp>
      <p:sp>
        <p:nvSpPr>
          <p:cNvPr id="463" name="Google Shape;463;p22"/>
          <p:cNvSpPr/>
          <p:nvPr/>
        </p:nvSpPr>
        <p:spPr>
          <a:xfrm>
            <a:off x="3200400" y="4572000"/>
            <a:ext cx="1097280" cy="822960"/>
          </a:xfrm>
          <a:prstGeom prst="rect">
            <a:avLst/>
          </a:prstGeom>
          <a:solidFill>
            <a:srgbClr val="3498D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4" name="Google Shape;464;p22"/>
          <p:cNvSpPr txBox="1"/>
          <p:nvPr/>
        </p:nvSpPr>
        <p:spPr>
          <a:xfrm>
            <a:off x="3200400" y="4617720"/>
            <a:ext cx="109728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000000"/>
                </a:solidFill>
                <a:latin typeface="Calibri"/>
                <a:ea typeface="Calibri"/>
                <a:cs typeface="Calibri"/>
                <a:sym typeface="Calibri"/>
              </a:rPr>
              <a:t>L4</a:t>
            </a:r>
            <a:endParaRPr/>
          </a:p>
        </p:txBody>
      </p:sp>
      <p:sp>
        <p:nvSpPr>
          <p:cNvPr id="465" name="Google Shape;465;p22"/>
          <p:cNvSpPr txBox="1"/>
          <p:nvPr/>
        </p:nvSpPr>
        <p:spPr>
          <a:xfrm>
            <a:off x="3200400" y="4864608"/>
            <a:ext cx="109728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800" u="none" cap="none" strike="noStrike">
                <a:solidFill>
                  <a:srgbClr val="000000"/>
                </a:solidFill>
                <a:latin typeface="Calibri"/>
                <a:ea typeface="Calibri"/>
                <a:cs typeface="Calibri"/>
                <a:sym typeface="Calibri"/>
              </a:rPr>
              <a:t>Dup booking</a:t>
            </a:r>
            <a:br>
              <a:rPr b="0" i="0" lang="en-US" sz="800" u="none" cap="none" strike="noStrike">
                <a:solidFill>
                  <a:srgbClr val="000000"/>
                </a:solidFill>
                <a:latin typeface="Calibri"/>
                <a:ea typeface="Calibri"/>
                <a:cs typeface="Calibri"/>
                <a:sym typeface="Calibri"/>
              </a:rPr>
            </a:br>
            <a:r>
              <a:rPr b="0" i="0" lang="en-US" sz="800" u="none" cap="none" strike="noStrike">
                <a:solidFill>
                  <a:srgbClr val="000000"/>
                </a:solidFill>
                <a:latin typeface="Calibri"/>
                <a:ea typeface="Calibri"/>
                <a:cs typeface="Calibri"/>
                <a:sym typeface="Calibri"/>
              </a:rPr>
              <a:t>auto-deny</a:t>
            </a:r>
            <a:endParaRPr/>
          </a:p>
        </p:txBody>
      </p:sp>
      <p:sp>
        <p:nvSpPr>
          <p:cNvPr id="466" name="Google Shape;466;p22"/>
          <p:cNvSpPr txBox="1"/>
          <p:nvPr/>
        </p:nvSpPr>
        <p:spPr>
          <a:xfrm>
            <a:off x="7315200" y="1280160"/>
            <a:ext cx="457200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1B998B"/>
                </a:solidFill>
                <a:latin typeface="Calibri"/>
                <a:ea typeface="Calibri"/>
                <a:cs typeface="Calibri"/>
                <a:sym typeface="Calibri"/>
              </a:rPr>
              <a:t>SELECTION RATIONALE</a:t>
            </a:r>
            <a:endParaRPr/>
          </a:p>
        </p:txBody>
      </p:sp>
      <p:sp>
        <p:nvSpPr>
          <p:cNvPr id="467" name="Google Shape;467;p22"/>
          <p:cNvSpPr/>
          <p:nvPr/>
        </p:nvSpPr>
        <p:spPr>
          <a:xfrm>
            <a:off x="7315200" y="1737360"/>
            <a:ext cx="1143000" cy="365760"/>
          </a:xfrm>
          <a:prstGeom prst="rect">
            <a:avLst/>
          </a:prstGeom>
          <a:solidFill>
            <a:srgbClr val="1B998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8" name="Google Shape;468;p22"/>
          <p:cNvSpPr txBox="1"/>
          <p:nvPr/>
        </p:nvSpPr>
        <p:spPr>
          <a:xfrm>
            <a:off x="7315200" y="1755648"/>
            <a:ext cx="114300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FFFFFF"/>
                </a:solidFill>
                <a:latin typeface="Calibri"/>
                <a:ea typeface="Calibri"/>
                <a:cs typeface="Calibri"/>
                <a:sym typeface="Calibri"/>
              </a:rPr>
              <a:t>Optimization</a:t>
            </a:r>
            <a:endParaRPr/>
          </a:p>
        </p:txBody>
      </p:sp>
      <p:sp>
        <p:nvSpPr>
          <p:cNvPr id="469" name="Google Shape;469;p22"/>
          <p:cNvSpPr/>
          <p:nvPr/>
        </p:nvSpPr>
        <p:spPr>
          <a:xfrm>
            <a:off x="8503920" y="1737360"/>
            <a:ext cx="1143000" cy="365760"/>
          </a:xfrm>
          <a:prstGeom prst="rect">
            <a:avLst/>
          </a:prstGeom>
          <a:solidFill>
            <a:srgbClr val="1B998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0" name="Google Shape;470;p22"/>
          <p:cNvSpPr txBox="1"/>
          <p:nvPr/>
        </p:nvSpPr>
        <p:spPr>
          <a:xfrm>
            <a:off x="8503920" y="1755648"/>
            <a:ext cx="114300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FFFFFF"/>
                </a:solidFill>
                <a:latin typeface="Calibri"/>
                <a:ea typeface="Calibri"/>
                <a:cs typeface="Calibri"/>
                <a:sym typeface="Calibri"/>
              </a:rPr>
              <a:t>Impact</a:t>
            </a:r>
            <a:endParaRPr/>
          </a:p>
        </p:txBody>
      </p:sp>
      <p:sp>
        <p:nvSpPr>
          <p:cNvPr id="471" name="Google Shape;471;p22"/>
          <p:cNvSpPr/>
          <p:nvPr/>
        </p:nvSpPr>
        <p:spPr>
          <a:xfrm>
            <a:off x="9692640" y="1737360"/>
            <a:ext cx="1143000" cy="365760"/>
          </a:xfrm>
          <a:prstGeom prst="rect">
            <a:avLst/>
          </a:prstGeom>
          <a:solidFill>
            <a:srgbClr val="1B998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2" name="Google Shape;472;p22"/>
          <p:cNvSpPr txBox="1"/>
          <p:nvPr/>
        </p:nvSpPr>
        <p:spPr>
          <a:xfrm>
            <a:off x="9692640" y="1755648"/>
            <a:ext cx="114300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FFFFFF"/>
                </a:solidFill>
                <a:latin typeface="Calibri"/>
                <a:ea typeface="Calibri"/>
                <a:cs typeface="Calibri"/>
                <a:sym typeface="Calibri"/>
              </a:rPr>
              <a:t>Effort</a:t>
            </a:r>
            <a:endParaRPr/>
          </a:p>
        </p:txBody>
      </p:sp>
      <p:sp>
        <p:nvSpPr>
          <p:cNvPr id="473" name="Google Shape;473;p22"/>
          <p:cNvSpPr/>
          <p:nvPr/>
        </p:nvSpPr>
        <p:spPr>
          <a:xfrm>
            <a:off x="10881360" y="1737360"/>
            <a:ext cx="1143000" cy="365760"/>
          </a:xfrm>
          <a:prstGeom prst="rect">
            <a:avLst/>
          </a:prstGeom>
          <a:solidFill>
            <a:srgbClr val="1B998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4" name="Google Shape;474;p22"/>
          <p:cNvSpPr txBox="1"/>
          <p:nvPr/>
        </p:nvSpPr>
        <p:spPr>
          <a:xfrm>
            <a:off x="10881360" y="1755648"/>
            <a:ext cx="1143000" cy="3200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FFFFFF"/>
                </a:solidFill>
                <a:latin typeface="Calibri"/>
                <a:ea typeface="Calibri"/>
                <a:cs typeface="Calibri"/>
                <a:sym typeface="Calibri"/>
              </a:rPr>
              <a:t>ROI</a:t>
            </a:r>
            <a:endParaRPr/>
          </a:p>
        </p:txBody>
      </p:sp>
      <p:sp>
        <p:nvSpPr>
          <p:cNvPr id="475" name="Google Shape;475;p22"/>
          <p:cNvSpPr txBox="1"/>
          <p:nvPr/>
        </p:nvSpPr>
        <p:spPr>
          <a:xfrm>
            <a:off x="7315200" y="2194560"/>
            <a:ext cx="45720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2ECC71"/>
                </a:solidFill>
                <a:latin typeface="Calibri"/>
                <a:ea typeface="Calibri"/>
                <a:cs typeface="Calibri"/>
                <a:sym typeface="Calibri"/>
              </a:rPr>
              <a:t>SELECTED (ROI &gt; 1.5x)</a:t>
            </a:r>
            <a:endParaRPr/>
          </a:p>
        </p:txBody>
      </p:sp>
      <p:sp>
        <p:nvSpPr>
          <p:cNvPr id="476" name="Google Shape;476;p22"/>
          <p:cNvSpPr/>
          <p:nvPr/>
        </p:nvSpPr>
        <p:spPr>
          <a:xfrm>
            <a:off x="7315200" y="2468880"/>
            <a:ext cx="1143000" cy="301752"/>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7" name="Google Shape;477;p22"/>
          <p:cNvSpPr txBox="1"/>
          <p:nvPr/>
        </p:nvSpPr>
        <p:spPr>
          <a:xfrm>
            <a:off x="7315200" y="2487168"/>
            <a:ext cx="114300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2ECC71"/>
                </a:solidFill>
                <a:latin typeface="Calibri"/>
                <a:ea typeface="Calibri"/>
                <a:cs typeface="Calibri"/>
                <a:sym typeface="Calibri"/>
              </a:rPr>
              <a:t>#1 Auto-Approve</a:t>
            </a:r>
            <a:endParaRPr/>
          </a:p>
        </p:txBody>
      </p:sp>
      <p:sp>
        <p:nvSpPr>
          <p:cNvPr id="478" name="Google Shape;478;p22"/>
          <p:cNvSpPr/>
          <p:nvPr/>
        </p:nvSpPr>
        <p:spPr>
          <a:xfrm>
            <a:off x="8503920" y="2468880"/>
            <a:ext cx="1143000" cy="301752"/>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9" name="Google Shape;479;p22"/>
          <p:cNvSpPr txBox="1"/>
          <p:nvPr/>
        </p:nvSpPr>
        <p:spPr>
          <a:xfrm>
            <a:off x="8503920" y="2487168"/>
            <a:ext cx="114300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2ECC71"/>
                </a:solidFill>
                <a:latin typeface="Calibri"/>
                <a:ea typeface="Calibri"/>
                <a:cs typeface="Calibri"/>
                <a:sym typeface="Calibri"/>
              </a:rPr>
              <a:t>9/10</a:t>
            </a:r>
            <a:endParaRPr/>
          </a:p>
        </p:txBody>
      </p:sp>
      <p:sp>
        <p:nvSpPr>
          <p:cNvPr id="480" name="Google Shape;480;p22"/>
          <p:cNvSpPr/>
          <p:nvPr/>
        </p:nvSpPr>
        <p:spPr>
          <a:xfrm>
            <a:off x="9692640" y="2468880"/>
            <a:ext cx="1143000" cy="301752"/>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1" name="Google Shape;481;p22"/>
          <p:cNvSpPr txBox="1"/>
          <p:nvPr/>
        </p:nvSpPr>
        <p:spPr>
          <a:xfrm>
            <a:off x="9692640" y="2487168"/>
            <a:ext cx="114300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2ECC71"/>
                </a:solidFill>
                <a:latin typeface="Calibri"/>
                <a:ea typeface="Calibri"/>
                <a:cs typeface="Calibri"/>
                <a:sym typeface="Calibri"/>
              </a:rPr>
              <a:t>3/10</a:t>
            </a:r>
            <a:endParaRPr/>
          </a:p>
        </p:txBody>
      </p:sp>
      <p:sp>
        <p:nvSpPr>
          <p:cNvPr id="482" name="Google Shape;482;p22"/>
          <p:cNvSpPr/>
          <p:nvPr/>
        </p:nvSpPr>
        <p:spPr>
          <a:xfrm>
            <a:off x="10881360" y="2468880"/>
            <a:ext cx="1143000" cy="301752"/>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3" name="Google Shape;483;p22"/>
          <p:cNvSpPr txBox="1"/>
          <p:nvPr/>
        </p:nvSpPr>
        <p:spPr>
          <a:xfrm>
            <a:off x="10881360" y="2487168"/>
            <a:ext cx="114300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2ECC71"/>
                </a:solidFill>
                <a:latin typeface="Calibri"/>
                <a:ea typeface="Calibri"/>
                <a:cs typeface="Calibri"/>
                <a:sym typeface="Calibri"/>
              </a:rPr>
              <a:t>3.0x</a:t>
            </a:r>
            <a:endParaRPr/>
          </a:p>
        </p:txBody>
      </p:sp>
      <p:sp>
        <p:nvSpPr>
          <p:cNvPr id="484" name="Google Shape;484;p22"/>
          <p:cNvSpPr/>
          <p:nvPr/>
        </p:nvSpPr>
        <p:spPr>
          <a:xfrm>
            <a:off x="7315200" y="2788920"/>
            <a:ext cx="1143000" cy="301752"/>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5" name="Google Shape;485;p22"/>
          <p:cNvSpPr txBox="1"/>
          <p:nvPr/>
        </p:nvSpPr>
        <p:spPr>
          <a:xfrm>
            <a:off x="7315200" y="2807208"/>
            <a:ext cx="114300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2ECC71"/>
                </a:solidFill>
                <a:latin typeface="Calibri"/>
                <a:ea typeface="Calibri"/>
                <a:cs typeface="Calibri"/>
                <a:sym typeface="Calibri"/>
              </a:rPr>
              <a:t>#2 Email→Chat</a:t>
            </a:r>
            <a:endParaRPr/>
          </a:p>
        </p:txBody>
      </p:sp>
      <p:sp>
        <p:nvSpPr>
          <p:cNvPr id="486" name="Google Shape;486;p22"/>
          <p:cNvSpPr/>
          <p:nvPr/>
        </p:nvSpPr>
        <p:spPr>
          <a:xfrm>
            <a:off x="8503920" y="2788920"/>
            <a:ext cx="1143000" cy="301752"/>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7" name="Google Shape;487;p22"/>
          <p:cNvSpPr txBox="1"/>
          <p:nvPr/>
        </p:nvSpPr>
        <p:spPr>
          <a:xfrm>
            <a:off x="8503920" y="2807208"/>
            <a:ext cx="114300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2ECC71"/>
                </a:solidFill>
                <a:latin typeface="Calibri"/>
                <a:ea typeface="Calibri"/>
                <a:cs typeface="Calibri"/>
                <a:sym typeface="Calibri"/>
              </a:rPr>
              <a:t>8/10</a:t>
            </a:r>
            <a:endParaRPr/>
          </a:p>
        </p:txBody>
      </p:sp>
      <p:sp>
        <p:nvSpPr>
          <p:cNvPr id="488" name="Google Shape;488;p22"/>
          <p:cNvSpPr/>
          <p:nvPr/>
        </p:nvSpPr>
        <p:spPr>
          <a:xfrm>
            <a:off x="9692640" y="2788920"/>
            <a:ext cx="1143000" cy="301752"/>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9" name="Google Shape;489;p22"/>
          <p:cNvSpPr txBox="1"/>
          <p:nvPr/>
        </p:nvSpPr>
        <p:spPr>
          <a:xfrm>
            <a:off x="9692640" y="2807208"/>
            <a:ext cx="114300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2ECC71"/>
                </a:solidFill>
                <a:latin typeface="Calibri"/>
                <a:ea typeface="Calibri"/>
                <a:cs typeface="Calibri"/>
                <a:sym typeface="Calibri"/>
              </a:rPr>
              <a:t>4/10</a:t>
            </a:r>
            <a:endParaRPr/>
          </a:p>
        </p:txBody>
      </p:sp>
      <p:sp>
        <p:nvSpPr>
          <p:cNvPr id="490" name="Google Shape;490;p22"/>
          <p:cNvSpPr/>
          <p:nvPr/>
        </p:nvSpPr>
        <p:spPr>
          <a:xfrm>
            <a:off x="10881360" y="2788920"/>
            <a:ext cx="1143000" cy="301752"/>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1" name="Google Shape;491;p22"/>
          <p:cNvSpPr txBox="1"/>
          <p:nvPr/>
        </p:nvSpPr>
        <p:spPr>
          <a:xfrm>
            <a:off x="10881360" y="2807208"/>
            <a:ext cx="114300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2ECC71"/>
                </a:solidFill>
                <a:latin typeface="Calibri"/>
                <a:ea typeface="Calibri"/>
                <a:cs typeface="Calibri"/>
                <a:sym typeface="Calibri"/>
              </a:rPr>
              <a:t>2.0x</a:t>
            </a:r>
            <a:endParaRPr/>
          </a:p>
        </p:txBody>
      </p:sp>
      <p:sp>
        <p:nvSpPr>
          <p:cNvPr id="492" name="Google Shape;492;p22"/>
          <p:cNvSpPr/>
          <p:nvPr/>
        </p:nvSpPr>
        <p:spPr>
          <a:xfrm>
            <a:off x="7315200" y="3108960"/>
            <a:ext cx="1143000" cy="301752"/>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3" name="Google Shape;493;p22"/>
          <p:cNvSpPr txBox="1"/>
          <p:nvPr/>
        </p:nvSpPr>
        <p:spPr>
          <a:xfrm>
            <a:off x="7315200" y="3127248"/>
            <a:ext cx="114300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2ECC71"/>
                </a:solidFill>
                <a:latin typeface="Calibri"/>
                <a:ea typeface="Calibri"/>
                <a:cs typeface="Calibri"/>
                <a:sym typeface="Calibri"/>
              </a:rPr>
              <a:t>#3 NR Rules</a:t>
            </a:r>
            <a:endParaRPr/>
          </a:p>
        </p:txBody>
      </p:sp>
      <p:sp>
        <p:nvSpPr>
          <p:cNvPr id="494" name="Google Shape;494;p22"/>
          <p:cNvSpPr/>
          <p:nvPr/>
        </p:nvSpPr>
        <p:spPr>
          <a:xfrm>
            <a:off x="8503920" y="3108960"/>
            <a:ext cx="1143000" cy="301752"/>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5" name="Google Shape;495;p22"/>
          <p:cNvSpPr txBox="1"/>
          <p:nvPr/>
        </p:nvSpPr>
        <p:spPr>
          <a:xfrm>
            <a:off x="8503920" y="3127248"/>
            <a:ext cx="114300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2ECC71"/>
                </a:solidFill>
                <a:latin typeface="Calibri"/>
                <a:ea typeface="Calibri"/>
                <a:cs typeface="Calibri"/>
                <a:sym typeface="Calibri"/>
              </a:rPr>
              <a:t>9/10</a:t>
            </a:r>
            <a:endParaRPr/>
          </a:p>
        </p:txBody>
      </p:sp>
      <p:sp>
        <p:nvSpPr>
          <p:cNvPr id="496" name="Google Shape;496;p22"/>
          <p:cNvSpPr/>
          <p:nvPr/>
        </p:nvSpPr>
        <p:spPr>
          <a:xfrm>
            <a:off x="9692640" y="3108960"/>
            <a:ext cx="1143000" cy="301752"/>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7" name="Google Shape;497;p22"/>
          <p:cNvSpPr txBox="1"/>
          <p:nvPr/>
        </p:nvSpPr>
        <p:spPr>
          <a:xfrm>
            <a:off x="9692640" y="3127248"/>
            <a:ext cx="114300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2ECC71"/>
                </a:solidFill>
                <a:latin typeface="Calibri"/>
                <a:ea typeface="Calibri"/>
                <a:cs typeface="Calibri"/>
                <a:sym typeface="Calibri"/>
              </a:rPr>
              <a:t>5/10</a:t>
            </a:r>
            <a:endParaRPr/>
          </a:p>
        </p:txBody>
      </p:sp>
      <p:sp>
        <p:nvSpPr>
          <p:cNvPr id="498" name="Google Shape;498;p22"/>
          <p:cNvSpPr/>
          <p:nvPr/>
        </p:nvSpPr>
        <p:spPr>
          <a:xfrm>
            <a:off x="10881360" y="3108960"/>
            <a:ext cx="1143000" cy="301752"/>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9" name="Google Shape;499;p22"/>
          <p:cNvSpPr txBox="1"/>
          <p:nvPr/>
        </p:nvSpPr>
        <p:spPr>
          <a:xfrm>
            <a:off x="10881360" y="3127248"/>
            <a:ext cx="114300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2ECC71"/>
                </a:solidFill>
                <a:latin typeface="Calibri"/>
                <a:ea typeface="Calibri"/>
                <a:cs typeface="Calibri"/>
                <a:sym typeface="Calibri"/>
              </a:rPr>
              <a:t>1.8x</a:t>
            </a:r>
            <a:endParaRPr/>
          </a:p>
        </p:txBody>
      </p:sp>
      <p:sp>
        <p:nvSpPr>
          <p:cNvPr id="500" name="Google Shape;500;p22"/>
          <p:cNvSpPr txBox="1"/>
          <p:nvPr/>
        </p:nvSpPr>
        <p:spPr>
          <a:xfrm>
            <a:off x="7315200" y="3520440"/>
            <a:ext cx="45720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E74C3C"/>
                </a:solidFill>
                <a:latin typeface="Calibri"/>
                <a:ea typeface="Calibri"/>
                <a:cs typeface="Calibri"/>
                <a:sym typeface="Calibri"/>
              </a:rPr>
              <a:t>DEPRIORITIZED (ROI &lt; 1.0x)</a:t>
            </a:r>
            <a:endParaRPr/>
          </a:p>
        </p:txBody>
      </p:sp>
      <p:sp>
        <p:nvSpPr>
          <p:cNvPr id="501" name="Google Shape;501;p22"/>
          <p:cNvSpPr/>
          <p:nvPr/>
        </p:nvSpPr>
        <p:spPr>
          <a:xfrm>
            <a:off x="7315200" y="3794760"/>
            <a:ext cx="1143000" cy="301752"/>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2" name="Google Shape;502;p22"/>
          <p:cNvSpPr txBox="1"/>
          <p:nvPr/>
        </p:nvSpPr>
        <p:spPr>
          <a:xfrm>
            <a:off x="7315200" y="3813048"/>
            <a:ext cx="114300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A0A0A0"/>
                </a:solidFill>
                <a:latin typeface="Calibri"/>
                <a:ea typeface="Calibri"/>
                <a:cs typeface="Calibri"/>
                <a:sym typeface="Calibri"/>
              </a:rPr>
              <a:t>Loyalty SLA</a:t>
            </a:r>
            <a:endParaRPr/>
          </a:p>
        </p:txBody>
      </p:sp>
      <p:sp>
        <p:nvSpPr>
          <p:cNvPr id="503" name="Google Shape;503;p22"/>
          <p:cNvSpPr/>
          <p:nvPr/>
        </p:nvSpPr>
        <p:spPr>
          <a:xfrm>
            <a:off x="8503920" y="3794760"/>
            <a:ext cx="1143000" cy="301752"/>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4" name="Google Shape;504;p22"/>
          <p:cNvSpPr txBox="1"/>
          <p:nvPr/>
        </p:nvSpPr>
        <p:spPr>
          <a:xfrm>
            <a:off x="8503920" y="3813048"/>
            <a:ext cx="114300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A0A0A0"/>
                </a:solidFill>
                <a:latin typeface="Calibri"/>
                <a:ea typeface="Calibri"/>
                <a:cs typeface="Calibri"/>
                <a:sym typeface="Calibri"/>
              </a:rPr>
              <a:t>5/10</a:t>
            </a:r>
            <a:endParaRPr/>
          </a:p>
        </p:txBody>
      </p:sp>
      <p:sp>
        <p:nvSpPr>
          <p:cNvPr id="505" name="Google Shape;505;p22"/>
          <p:cNvSpPr/>
          <p:nvPr/>
        </p:nvSpPr>
        <p:spPr>
          <a:xfrm>
            <a:off x="9692640" y="3794760"/>
            <a:ext cx="1143000" cy="301752"/>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6" name="Google Shape;506;p22"/>
          <p:cNvSpPr txBox="1"/>
          <p:nvPr/>
        </p:nvSpPr>
        <p:spPr>
          <a:xfrm>
            <a:off x="9692640" y="3813048"/>
            <a:ext cx="114300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A0A0A0"/>
                </a:solidFill>
                <a:latin typeface="Calibri"/>
                <a:ea typeface="Calibri"/>
                <a:cs typeface="Calibri"/>
                <a:sym typeface="Calibri"/>
              </a:rPr>
              <a:t>6/10</a:t>
            </a:r>
            <a:endParaRPr/>
          </a:p>
        </p:txBody>
      </p:sp>
      <p:sp>
        <p:nvSpPr>
          <p:cNvPr id="507" name="Google Shape;507;p22"/>
          <p:cNvSpPr/>
          <p:nvPr/>
        </p:nvSpPr>
        <p:spPr>
          <a:xfrm>
            <a:off x="10881360" y="3794760"/>
            <a:ext cx="1143000" cy="301752"/>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8" name="Google Shape;508;p22"/>
          <p:cNvSpPr txBox="1"/>
          <p:nvPr/>
        </p:nvSpPr>
        <p:spPr>
          <a:xfrm>
            <a:off x="10881360" y="3813048"/>
            <a:ext cx="114300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A0A0A0"/>
                </a:solidFill>
                <a:latin typeface="Calibri"/>
                <a:ea typeface="Calibri"/>
                <a:cs typeface="Calibri"/>
                <a:sym typeface="Calibri"/>
              </a:rPr>
              <a:t>0.8x</a:t>
            </a:r>
            <a:endParaRPr/>
          </a:p>
        </p:txBody>
      </p:sp>
      <p:sp>
        <p:nvSpPr>
          <p:cNvPr id="509" name="Google Shape;509;p22"/>
          <p:cNvSpPr/>
          <p:nvPr/>
        </p:nvSpPr>
        <p:spPr>
          <a:xfrm>
            <a:off x="7315200" y="4114800"/>
            <a:ext cx="1143000" cy="301752"/>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0" name="Google Shape;510;p22"/>
          <p:cNvSpPr txBox="1"/>
          <p:nvPr/>
        </p:nvSpPr>
        <p:spPr>
          <a:xfrm>
            <a:off x="7315200" y="4133087"/>
            <a:ext cx="114300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A0A0A0"/>
                </a:solidFill>
                <a:latin typeface="Calibri"/>
                <a:ea typeface="Calibri"/>
                <a:cs typeface="Calibri"/>
                <a:sym typeface="Calibri"/>
              </a:rPr>
              <a:t>Region tuning</a:t>
            </a:r>
            <a:endParaRPr/>
          </a:p>
        </p:txBody>
      </p:sp>
      <p:sp>
        <p:nvSpPr>
          <p:cNvPr id="511" name="Google Shape;511;p22"/>
          <p:cNvSpPr/>
          <p:nvPr/>
        </p:nvSpPr>
        <p:spPr>
          <a:xfrm>
            <a:off x="8503920" y="4114800"/>
            <a:ext cx="1143000" cy="301752"/>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2" name="Google Shape;512;p22"/>
          <p:cNvSpPr txBox="1"/>
          <p:nvPr/>
        </p:nvSpPr>
        <p:spPr>
          <a:xfrm>
            <a:off x="8503920" y="4133087"/>
            <a:ext cx="114300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A0A0A0"/>
                </a:solidFill>
                <a:latin typeface="Calibri"/>
                <a:ea typeface="Calibri"/>
                <a:cs typeface="Calibri"/>
                <a:sym typeface="Calibri"/>
              </a:rPr>
              <a:t>4/10</a:t>
            </a:r>
            <a:endParaRPr/>
          </a:p>
        </p:txBody>
      </p:sp>
      <p:sp>
        <p:nvSpPr>
          <p:cNvPr id="513" name="Google Shape;513;p22"/>
          <p:cNvSpPr/>
          <p:nvPr/>
        </p:nvSpPr>
        <p:spPr>
          <a:xfrm>
            <a:off x="9692640" y="4114800"/>
            <a:ext cx="1143000" cy="301752"/>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4" name="Google Shape;514;p22"/>
          <p:cNvSpPr txBox="1"/>
          <p:nvPr/>
        </p:nvSpPr>
        <p:spPr>
          <a:xfrm>
            <a:off x="9692640" y="4133087"/>
            <a:ext cx="114300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A0A0A0"/>
                </a:solidFill>
                <a:latin typeface="Calibri"/>
                <a:ea typeface="Calibri"/>
                <a:cs typeface="Calibri"/>
                <a:sym typeface="Calibri"/>
              </a:rPr>
              <a:t>5/10</a:t>
            </a:r>
            <a:endParaRPr/>
          </a:p>
        </p:txBody>
      </p:sp>
      <p:sp>
        <p:nvSpPr>
          <p:cNvPr id="515" name="Google Shape;515;p22"/>
          <p:cNvSpPr/>
          <p:nvPr/>
        </p:nvSpPr>
        <p:spPr>
          <a:xfrm>
            <a:off x="10881360" y="4114800"/>
            <a:ext cx="1143000" cy="301752"/>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6" name="Google Shape;516;p22"/>
          <p:cNvSpPr txBox="1"/>
          <p:nvPr/>
        </p:nvSpPr>
        <p:spPr>
          <a:xfrm>
            <a:off x="10881360" y="4133087"/>
            <a:ext cx="114300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A0A0A0"/>
                </a:solidFill>
                <a:latin typeface="Calibri"/>
                <a:ea typeface="Calibri"/>
                <a:cs typeface="Calibri"/>
                <a:sym typeface="Calibri"/>
              </a:rPr>
              <a:t>0.8x</a:t>
            </a:r>
            <a:endParaRPr/>
          </a:p>
        </p:txBody>
      </p:sp>
      <p:sp>
        <p:nvSpPr>
          <p:cNvPr id="517" name="Google Shape;517;p22"/>
          <p:cNvSpPr/>
          <p:nvPr/>
        </p:nvSpPr>
        <p:spPr>
          <a:xfrm>
            <a:off x="7315200" y="4434840"/>
            <a:ext cx="1143000" cy="301752"/>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8" name="Google Shape;518;p22"/>
          <p:cNvSpPr txBox="1"/>
          <p:nvPr/>
        </p:nvSpPr>
        <p:spPr>
          <a:xfrm>
            <a:off x="7315200" y="4453128"/>
            <a:ext cx="114300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A0A0A0"/>
                </a:solidFill>
                <a:latin typeface="Calibri"/>
                <a:ea typeface="Calibri"/>
                <a:cs typeface="Calibri"/>
                <a:sym typeface="Calibri"/>
              </a:rPr>
              <a:t>Shift rebalance</a:t>
            </a:r>
            <a:endParaRPr/>
          </a:p>
        </p:txBody>
      </p:sp>
      <p:sp>
        <p:nvSpPr>
          <p:cNvPr id="519" name="Google Shape;519;p22"/>
          <p:cNvSpPr/>
          <p:nvPr/>
        </p:nvSpPr>
        <p:spPr>
          <a:xfrm>
            <a:off x="8503920" y="4434840"/>
            <a:ext cx="1143000" cy="301752"/>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0" name="Google Shape;520;p22"/>
          <p:cNvSpPr txBox="1"/>
          <p:nvPr/>
        </p:nvSpPr>
        <p:spPr>
          <a:xfrm>
            <a:off x="8503920" y="4453128"/>
            <a:ext cx="114300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A0A0A0"/>
                </a:solidFill>
                <a:latin typeface="Calibri"/>
                <a:ea typeface="Calibri"/>
                <a:cs typeface="Calibri"/>
                <a:sym typeface="Calibri"/>
              </a:rPr>
              <a:t>3/10</a:t>
            </a:r>
            <a:endParaRPr/>
          </a:p>
        </p:txBody>
      </p:sp>
      <p:sp>
        <p:nvSpPr>
          <p:cNvPr id="521" name="Google Shape;521;p22"/>
          <p:cNvSpPr/>
          <p:nvPr/>
        </p:nvSpPr>
        <p:spPr>
          <a:xfrm>
            <a:off x="9692640" y="4434840"/>
            <a:ext cx="1143000" cy="301752"/>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2" name="Google Shape;522;p22"/>
          <p:cNvSpPr txBox="1"/>
          <p:nvPr/>
        </p:nvSpPr>
        <p:spPr>
          <a:xfrm>
            <a:off x="9692640" y="4453128"/>
            <a:ext cx="114300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A0A0A0"/>
                </a:solidFill>
                <a:latin typeface="Calibri"/>
                <a:ea typeface="Calibri"/>
                <a:cs typeface="Calibri"/>
                <a:sym typeface="Calibri"/>
              </a:rPr>
              <a:t>4/10</a:t>
            </a:r>
            <a:endParaRPr/>
          </a:p>
        </p:txBody>
      </p:sp>
      <p:sp>
        <p:nvSpPr>
          <p:cNvPr id="523" name="Google Shape;523;p22"/>
          <p:cNvSpPr/>
          <p:nvPr/>
        </p:nvSpPr>
        <p:spPr>
          <a:xfrm>
            <a:off x="10881360" y="4434840"/>
            <a:ext cx="1143000" cy="301752"/>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4" name="Google Shape;524;p22"/>
          <p:cNvSpPr txBox="1"/>
          <p:nvPr/>
        </p:nvSpPr>
        <p:spPr>
          <a:xfrm>
            <a:off x="10881360" y="4453128"/>
            <a:ext cx="114300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A0A0A0"/>
                </a:solidFill>
                <a:latin typeface="Calibri"/>
                <a:ea typeface="Calibri"/>
                <a:cs typeface="Calibri"/>
                <a:sym typeface="Calibri"/>
              </a:rPr>
              <a:t>0.75x</a:t>
            </a:r>
            <a:endParaRPr/>
          </a:p>
        </p:txBody>
      </p:sp>
      <p:sp>
        <p:nvSpPr>
          <p:cNvPr id="525" name="Google Shape;525;p22"/>
          <p:cNvSpPr/>
          <p:nvPr/>
        </p:nvSpPr>
        <p:spPr>
          <a:xfrm>
            <a:off x="7315200" y="4754880"/>
            <a:ext cx="1143000" cy="301752"/>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6" name="Google Shape;526;p22"/>
          <p:cNvSpPr txBox="1"/>
          <p:nvPr/>
        </p:nvSpPr>
        <p:spPr>
          <a:xfrm>
            <a:off x="7315200" y="4773168"/>
            <a:ext cx="114300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A0A0A0"/>
                </a:solidFill>
                <a:latin typeface="Calibri"/>
                <a:ea typeface="Calibri"/>
                <a:cs typeface="Calibri"/>
                <a:sym typeface="Calibri"/>
              </a:rPr>
              <a:t>Payment opt</a:t>
            </a:r>
            <a:endParaRPr/>
          </a:p>
        </p:txBody>
      </p:sp>
      <p:sp>
        <p:nvSpPr>
          <p:cNvPr id="527" name="Google Shape;527;p22"/>
          <p:cNvSpPr/>
          <p:nvPr/>
        </p:nvSpPr>
        <p:spPr>
          <a:xfrm>
            <a:off x="8503920" y="4754880"/>
            <a:ext cx="1143000" cy="301752"/>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8" name="Google Shape;528;p22"/>
          <p:cNvSpPr txBox="1"/>
          <p:nvPr/>
        </p:nvSpPr>
        <p:spPr>
          <a:xfrm>
            <a:off x="8503920" y="4773168"/>
            <a:ext cx="114300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A0A0A0"/>
                </a:solidFill>
                <a:latin typeface="Calibri"/>
                <a:ea typeface="Calibri"/>
                <a:cs typeface="Calibri"/>
                <a:sym typeface="Calibri"/>
              </a:rPr>
              <a:t>2/10</a:t>
            </a:r>
            <a:endParaRPr/>
          </a:p>
        </p:txBody>
      </p:sp>
      <p:sp>
        <p:nvSpPr>
          <p:cNvPr id="529" name="Google Shape;529;p22"/>
          <p:cNvSpPr/>
          <p:nvPr/>
        </p:nvSpPr>
        <p:spPr>
          <a:xfrm>
            <a:off x="9692640" y="4754880"/>
            <a:ext cx="1143000" cy="301752"/>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0" name="Google Shape;530;p22"/>
          <p:cNvSpPr txBox="1"/>
          <p:nvPr/>
        </p:nvSpPr>
        <p:spPr>
          <a:xfrm>
            <a:off x="9692640" y="4773168"/>
            <a:ext cx="114300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A0A0A0"/>
                </a:solidFill>
                <a:latin typeface="Calibri"/>
                <a:ea typeface="Calibri"/>
                <a:cs typeface="Calibri"/>
                <a:sym typeface="Calibri"/>
              </a:rPr>
              <a:t>6/10</a:t>
            </a:r>
            <a:endParaRPr/>
          </a:p>
        </p:txBody>
      </p:sp>
      <p:sp>
        <p:nvSpPr>
          <p:cNvPr id="531" name="Google Shape;531;p22"/>
          <p:cNvSpPr/>
          <p:nvPr/>
        </p:nvSpPr>
        <p:spPr>
          <a:xfrm>
            <a:off x="10881360" y="4754880"/>
            <a:ext cx="1143000" cy="301752"/>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2" name="Google Shape;532;p22"/>
          <p:cNvSpPr txBox="1"/>
          <p:nvPr/>
        </p:nvSpPr>
        <p:spPr>
          <a:xfrm>
            <a:off x="10881360" y="4773168"/>
            <a:ext cx="1143000"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A0A0A0"/>
                </a:solidFill>
                <a:latin typeface="Calibri"/>
                <a:ea typeface="Calibri"/>
                <a:cs typeface="Calibri"/>
                <a:sym typeface="Calibri"/>
              </a:rPr>
              <a:t>0.3x</a:t>
            </a:r>
            <a:endParaRPr/>
          </a:p>
        </p:txBody>
      </p:sp>
      <p:sp>
        <p:nvSpPr>
          <p:cNvPr id="533" name="Google Shape;533;p22"/>
          <p:cNvSpPr txBox="1"/>
          <p:nvPr/>
        </p:nvSpPr>
        <p:spPr>
          <a:xfrm>
            <a:off x="7315200" y="5212080"/>
            <a:ext cx="45720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F39C12"/>
                </a:solidFill>
                <a:latin typeface="Calibri"/>
                <a:ea typeface="Calibri"/>
                <a:cs typeface="Calibri"/>
                <a:sym typeface="Calibri"/>
              </a:rPr>
              <a:t>WHY OTHERS WERE DEPRIORITIZED:</a:t>
            </a:r>
            <a:endParaRPr/>
          </a:p>
        </p:txBody>
      </p:sp>
      <p:sp>
        <p:nvSpPr>
          <p:cNvPr id="534" name="Google Shape;534;p22"/>
          <p:cNvSpPr txBox="1"/>
          <p:nvPr/>
        </p:nvSpPr>
        <p:spPr>
          <a:xfrm>
            <a:off x="7315200" y="5486400"/>
            <a:ext cx="45720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A0A0A0"/>
                </a:solidFill>
                <a:latin typeface="Calibri"/>
                <a:ea typeface="Calibri"/>
                <a:cs typeface="Calibri"/>
                <a:sym typeface="Calibri"/>
              </a:rPr>
              <a:t>• Loyalty/Region/Shift: &lt;3 min FCRT variance — effort exceeds benefit</a:t>
            </a:r>
            <a:endParaRPr/>
          </a:p>
        </p:txBody>
      </p:sp>
      <p:sp>
        <p:nvSpPr>
          <p:cNvPr id="535" name="Google Shape;535;p22"/>
          <p:cNvSpPr txBox="1"/>
          <p:nvPr/>
        </p:nvSpPr>
        <p:spPr>
          <a:xfrm>
            <a:off x="7315200" y="5760720"/>
            <a:ext cx="45720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A0A0A0"/>
                </a:solidFill>
                <a:latin typeface="Calibri"/>
                <a:ea typeface="Calibri"/>
                <a:cs typeface="Calibri"/>
                <a:sym typeface="Calibri"/>
              </a:rPr>
              <a:t>• Voice deflection: High CSAT (3.26) — customers prefer it</a:t>
            </a:r>
            <a:endParaRPr/>
          </a:p>
        </p:txBody>
      </p:sp>
      <p:sp>
        <p:nvSpPr>
          <p:cNvPr id="536" name="Google Shape;536;p22"/>
          <p:cNvSpPr txBox="1"/>
          <p:nvPr/>
        </p:nvSpPr>
        <p:spPr>
          <a:xfrm>
            <a:off x="7315200" y="6035040"/>
            <a:ext cx="45720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A0A0A0"/>
                </a:solidFill>
                <a:latin typeface="Calibri"/>
                <a:ea typeface="Calibri"/>
                <a:cs typeface="Calibri"/>
                <a:sym typeface="Calibri"/>
              </a:rPr>
              <a:t>• Payment optimization: No correlation to FCRT/CSAT found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540" name="Shape 540"/>
        <p:cNvGrpSpPr/>
        <p:nvPr/>
      </p:nvGrpSpPr>
      <p:grpSpPr>
        <a:xfrm>
          <a:off x="0" y="0"/>
          <a:ext cx="0" cy="0"/>
          <a:chOff x="0" y="0"/>
          <a:chExt cx="0" cy="0"/>
        </a:xfrm>
      </p:grpSpPr>
      <p:sp>
        <p:nvSpPr>
          <p:cNvPr id="541" name="Google Shape;541;p23"/>
          <p:cNvSpPr/>
          <p:nvPr/>
        </p:nvSpPr>
        <p:spPr>
          <a:xfrm>
            <a:off x="0" y="0"/>
            <a:ext cx="12191695" cy="73152"/>
          </a:xfrm>
          <a:prstGeom prst="rect">
            <a:avLst/>
          </a:prstGeom>
          <a:solidFill>
            <a:srgbClr val="E67E2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2" name="Google Shape;542;p23"/>
          <p:cNvSpPr txBox="1"/>
          <p:nvPr/>
        </p:nvSpPr>
        <p:spPr>
          <a:xfrm>
            <a:off x="457200" y="164592"/>
            <a:ext cx="109728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u="none" cap="none" strike="noStrike">
                <a:solidFill>
                  <a:srgbClr val="FFFFFF"/>
                </a:solidFill>
                <a:latin typeface="Calibri"/>
                <a:ea typeface="Calibri"/>
                <a:cs typeface="Calibri"/>
                <a:sym typeface="Calibri"/>
              </a:rPr>
              <a:t>Risk Mitigations &amp; Guardrails: Stress-Testing Our Assumptions</a:t>
            </a:r>
            <a:endParaRPr/>
          </a:p>
        </p:txBody>
      </p:sp>
      <p:sp>
        <p:nvSpPr>
          <p:cNvPr id="543" name="Google Shape;543;p23"/>
          <p:cNvSpPr/>
          <p:nvPr/>
        </p:nvSpPr>
        <p:spPr>
          <a:xfrm>
            <a:off x="457200" y="868680"/>
            <a:ext cx="731520" cy="36576"/>
          </a:xfrm>
          <a:prstGeom prst="rect">
            <a:avLst/>
          </a:prstGeom>
          <a:solidFill>
            <a:srgbClr val="E67E2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4" name="Google Shape;544;p23"/>
          <p:cNvSpPr/>
          <p:nvPr/>
        </p:nvSpPr>
        <p:spPr>
          <a:xfrm>
            <a:off x="457200" y="1051560"/>
            <a:ext cx="5394960" cy="237744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5" name="Google Shape;545;p23"/>
          <p:cNvSpPr/>
          <p:nvPr/>
        </p:nvSpPr>
        <p:spPr>
          <a:xfrm>
            <a:off x="457200" y="1051560"/>
            <a:ext cx="5394960" cy="45720"/>
          </a:xfrm>
          <a:prstGeom prst="rect">
            <a:avLst/>
          </a:prstGeom>
          <a:solidFill>
            <a:srgbClr val="E67E2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6" name="Google Shape;546;p23"/>
          <p:cNvSpPr txBox="1"/>
          <p:nvPr/>
        </p:nvSpPr>
        <p:spPr>
          <a:xfrm>
            <a:off x="594360" y="1143000"/>
            <a:ext cx="521208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E67E22"/>
                </a:solidFill>
                <a:latin typeface="Calibri"/>
                <a:ea typeface="Calibri"/>
                <a:cs typeface="Calibri"/>
                <a:sym typeface="Calibri"/>
              </a:rPr>
              <a:t>⚠  Fraud &amp; Verification Risk (Opt #3 – NR Engine)</a:t>
            </a:r>
            <a:endParaRPr/>
          </a:p>
        </p:txBody>
      </p:sp>
      <p:sp>
        <p:nvSpPr>
          <p:cNvPr id="547" name="Google Shape;547;p23"/>
          <p:cNvSpPr txBox="1"/>
          <p:nvPr/>
        </p:nvSpPr>
        <p:spPr>
          <a:xfrm>
            <a:off x="594360" y="1527048"/>
            <a:ext cx="5166300" cy="384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FFFFFF"/>
                </a:solidFill>
                <a:latin typeface="Calibri"/>
                <a:ea typeface="Calibri"/>
                <a:cs typeface="Calibri"/>
                <a:sym typeface="Calibri"/>
              </a:rPr>
              <a:t>Risk: </a:t>
            </a:r>
            <a:r>
              <a:rPr b="0" i="0" lang="en-US" sz="950" u="none" cap="none" strike="noStrike">
                <a:solidFill>
                  <a:srgbClr val="FFFFFF"/>
                </a:solidFill>
                <a:latin typeface="Calibri"/>
                <a:ea typeface="Calibri"/>
                <a:cs typeface="Calibri"/>
                <a:sym typeface="Calibri"/>
              </a:rPr>
              <a:t>Automated doc acceptance enables fraudulent uploads (fake medical certs, false weather claims).</a:t>
            </a:r>
            <a:endParaRPr/>
          </a:p>
        </p:txBody>
      </p:sp>
      <p:sp>
        <p:nvSpPr>
          <p:cNvPr id="548" name="Google Shape;548;p23"/>
          <p:cNvSpPr txBox="1"/>
          <p:nvPr/>
        </p:nvSpPr>
        <p:spPr>
          <a:xfrm>
            <a:off x="594360" y="1819656"/>
            <a:ext cx="5166300" cy="238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FFFFFF"/>
                </a:solidFill>
                <a:latin typeface="Calibri"/>
                <a:ea typeface="Calibri"/>
                <a:cs typeface="Calibri"/>
                <a:sym typeface="Calibri"/>
              </a:rPr>
              <a:t>Mitigation A </a:t>
            </a:r>
            <a:r>
              <a:rPr b="0" i="0" lang="en-US" sz="950" u="none" cap="none" strike="noStrike">
                <a:solidFill>
                  <a:srgbClr val="FFFFFF"/>
                </a:solidFill>
                <a:latin typeface="Calibri"/>
                <a:ea typeface="Calibri"/>
                <a:cs typeface="Calibri"/>
                <a:sym typeface="Calibri"/>
              </a:rPr>
              <a:t>– Multi-layer verification: Cross-reference weather claims vs. govt advisories API;</a:t>
            </a:r>
            <a:endParaRPr/>
          </a:p>
        </p:txBody>
      </p:sp>
      <p:sp>
        <p:nvSpPr>
          <p:cNvPr id="549" name="Google Shape;549;p23"/>
          <p:cNvSpPr txBox="1"/>
          <p:nvPr/>
        </p:nvSpPr>
        <p:spPr>
          <a:xfrm>
            <a:off x="594360" y="2112264"/>
            <a:ext cx="5166360"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FFFFFF"/>
                </a:solidFill>
                <a:latin typeface="Calibri"/>
                <a:ea typeface="Calibri"/>
                <a:cs typeface="Calibri"/>
                <a:sym typeface="Calibri"/>
              </a:rPr>
              <a:t>  medical certs verified by third-party OCR + cert registry check before auto-approval triggers.</a:t>
            </a:r>
            <a:endParaRPr/>
          </a:p>
        </p:txBody>
      </p:sp>
      <p:sp>
        <p:nvSpPr>
          <p:cNvPr id="550" name="Google Shape;550;p23"/>
          <p:cNvSpPr txBox="1"/>
          <p:nvPr/>
        </p:nvSpPr>
        <p:spPr>
          <a:xfrm>
            <a:off x="594360" y="2404872"/>
            <a:ext cx="5166300" cy="238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FFFFFF"/>
                </a:solidFill>
                <a:latin typeface="Calibri"/>
                <a:ea typeface="Calibri"/>
                <a:cs typeface="Calibri"/>
                <a:sym typeface="Calibri"/>
              </a:rPr>
              <a:t>Mitigation B</a:t>
            </a:r>
            <a:r>
              <a:rPr b="0" i="0" lang="en-US" sz="950" u="none" cap="none" strike="noStrike">
                <a:solidFill>
                  <a:srgbClr val="FFFFFF"/>
                </a:solidFill>
                <a:latin typeface="Calibri"/>
                <a:ea typeface="Calibri"/>
                <a:cs typeface="Calibri"/>
                <a:sym typeface="Calibri"/>
              </a:rPr>
              <a:t> – Random 5% Supervisor Audit: Every 20th auto-approved case flagged for manual</a:t>
            </a:r>
            <a:endParaRPr/>
          </a:p>
        </p:txBody>
      </p:sp>
      <p:sp>
        <p:nvSpPr>
          <p:cNvPr id="551" name="Google Shape;551;p23"/>
          <p:cNvSpPr txBox="1"/>
          <p:nvPr/>
        </p:nvSpPr>
        <p:spPr>
          <a:xfrm>
            <a:off x="594360" y="2697480"/>
            <a:ext cx="5166360"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FFFFFF"/>
                </a:solidFill>
                <a:latin typeface="Calibri"/>
                <a:ea typeface="Calibri"/>
                <a:cs typeface="Calibri"/>
                <a:sym typeface="Calibri"/>
              </a:rPr>
              <a:t>  spot-check. Anomaly spikes (&gt;10% rejection in audit) pause the engine automatically.</a:t>
            </a:r>
            <a:endParaRPr/>
          </a:p>
        </p:txBody>
      </p:sp>
      <p:sp>
        <p:nvSpPr>
          <p:cNvPr id="552" name="Google Shape;552;p23"/>
          <p:cNvSpPr txBox="1"/>
          <p:nvPr/>
        </p:nvSpPr>
        <p:spPr>
          <a:xfrm>
            <a:off x="594360" y="2990088"/>
            <a:ext cx="5166300" cy="238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FFFFFF"/>
                </a:solidFill>
                <a:latin typeface="Calibri"/>
                <a:ea typeface="Calibri"/>
                <a:cs typeface="Calibri"/>
                <a:sym typeface="Calibri"/>
              </a:rPr>
              <a:t>Mitigation C </a:t>
            </a:r>
            <a:r>
              <a:rPr b="0" i="0" lang="en-US" sz="950" u="none" cap="none" strike="noStrike">
                <a:solidFill>
                  <a:srgbClr val="FFFFFF"/>
                </a:solidFill>
                <a:latin typeface="Calibri"/>
                <a:ea typeface="Calibri"/>
                <a:cs typeface="Calibri"/>
                <a:sym typeface="Calibri"/>
              </a:rPr>
              <a:t>– Velocity cap: Max 3 compassionate approvals per customer/per 12 months.</a:t>
            </a:r>
            <a:endParaRPr/>
          </a:p>
        </p:txBody>
      </p:sp>
      <p:sp>
        <p:nvSpPr>
          <p:cNvPr id="553" name="Google Shape;553;p23"/>
          <p:cNvSpPr/>
          <p:nvPr/>
        </p:nvSpPr>
        <p:spPr>
          <a:xfrm>
            <a:off x="6217920" y="1051560"/>
            <a:ext cx="5394960" cy="237744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4" name="Google Shape;554;p23"/>
          <p:cNvSpPr/>
          <p:nvPr/>
        </p:nvSpPr>
        <p:spPr>
          <a:xfrm>
            <a:off x="6217920" y="1051560"/>
            <a:ext cx="5394960" cy="45720"/>
          </a:xfrm>
          <a:prstGeom prst="rect">
            <a:avLst/>
          </a:prstGeom>
          <a:solidFill>
            <a:srgbClr val="F39C1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5" name="Google Shape;555;p23"/>
          <p:cNvSpPr txBox="1"/>
          <p:nvPr/>
        </p:nvSpPr>
        <p:spPr>
          <a:xfrm>
            <a:off x="6355080" y="1143000"/>
            <a:ext cx="521208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F39C12"/>
                </a:solidFill>
                <a:latin typeface="Calibri"/>
                <a:ea typeface="Calibri"/>
                <a:cs typeface="Calibri"/>
                <a:sym typeface="Calibri"/>
              </a:rPr>
              <a:t>⚙  Engineering Cost &amp; Timeline (Agent Capacity Unlock)</a:t>
            </a:r>
            <a:endParaRPr/>
          </a:p>
        </p:txBody>
      </p:sp>
      <p:sp>
        <p:nvSpPr>
          <p:cNvPr id="556" name="Google Shape;556;p23"/>
          <p:cNvSpPr txBox="1"/>
          <p:nvPr/>
        </p:nvSpPr>
        <p:spPr>
          <a:xfrm>
            <a:off x="6355075" y="1527048"/>
            <a:ext cx="51663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sp>
        <p:nvSpPr>
          <p:cNvPr id="557" name="Google Shape;557;p23"/>
          <p:cNvSpPr txBox="1"/>
          <p:nvPr/>
        </p:nvSpPr>
        <p:spPr>
          <a:xfrm>
            <a:off x="6355118" y="1854306"/>
            <a:ext cx="5166300" cy="238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FFFFFF"/>
                </a:solidFill>
                <a:latin typeface="Calibri"/>
                <a:ea typeface="Calibri"/>
                <a:cs typeface="Calibri"/>
                <a:sym typeface="Calibri"/>
              </a:rPr>
              <a:t>Opt #1 (Auto-approve Refundable): Config change in existing rule engine. Est. ~2-week sprint.</a:t>
            </a:r>
            <a:endParaRPr/>
          </a:p>
        </p:txBody>
      </p:sp>
      <p:sp>
        <p:nvSpPr>
          <p:cNvPr id="558" name="Google Shape;558;p23"/>
          <p:cNvSpPr txBox="1"/>
          <p:nvPr/>
        </p:nvSpPr>
        <p:spPr>
          <a:xfrm>
            <a:off x="6355080" y="2112264"/>
            <a:ext cx="5166360"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FFFFFF"/>
                </a:solidFill>
                <a:latin typeface="Calibri"/>
                <a:ea typeface="Calibri"/>
                <a:cs typeface="Calibri"/>
                <a:sym typeface="Calibri"/>
              </a:rPr>
              <a:t>Opt #2 (Email→Chat migration): Chatbot decision-tree build + routing. Est. ~6-8 week sprint.</a:t>
            </a:r>
            <a:endParaRPr/>
          </a:p>
        </p:txBody>
      </p:sp>
      <p:sp>
        <p:nvSpPr>
          <p:cNvPr id="559" name="Google Shape;559;p23"/>
          <p:cNvSpPr txBox="1"/>
          <p:nvPr/>
        </p:nvSpPr>
        <p:spPr>
          <a:xfrm>
            <a:off x="6355080" y="2404872"/>
            <a:ext cx="5166360"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FFFFFF"/>
                </a:solidFill>
                <a:latin typeface="Calibri"/>
                <a:ea typeface="Calibri"/>
                <a:cs typeface="Calibri"/>
                <a:sym typeface="Calibri"/>
              </a:rPr>
              <a:t>Opt #3 (NR Exception Engine): Rule engine + doc verification integration. Est. ~10-12 week sprint.</a:t>
            </a:r>
            <a:endParaRPr/>
          </a:p>
        </p:txBody>
      </p:sp>
      <p:sp>
        <p:nvSpPr>
          <p:cNvPr id="560" name="Google Shape;560;p23"/>
          <p:cNvSpPr txBox="1"/>
          <p:nvPr/>
        </p:nvSpPr>
        <p:spPr>
          <a:xfrm>
            <a:off x="6355080" y="2697480"/>
            <a:ext cx="51663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sp>
        <p:nvSpPr>
          <p:cNvPr id="561" name="Google Shape;561;p23"/>
          <p:cNvSpPr/>
          <p:nvPr/>
        </p:nvSpPr>
        <p:spPr>
          <a:xfrm>
            <a:off x="457200" y="3657600"/>
            <a:ext cx="5394960" cy="237744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2" name="Google Shape;562;p23"/>
          <p:cNvSpPr/>
          <p:nvPr/>
        </p:nvSpPr>
        <p:spPr>
          <a:xfrm>
            <a:off x="457200" y="3657600"/>
            <a:ext cx="5394960" cy="45720"/>
          </a:xfrm>
          <a:prstGeom prst="rect">
            <a:avLst/>
          </a:prstGeom>
          <a:solidFill>
            <a:srgbClr val="3498D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3" name="Google Shape;563;p23"/>
          <p:cNvSpPr txBox="1"/>
          <p:nvPr/>
        </p:nvSpPr>
        <p:spPr>
          <a:xfrm>
            <a:off x="594360" y="3749040"/>
            <a:ext cx="521208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3498DB"/>
                </a:solidFill>
                <a:latin typeface="Calibri"/>
                <a:ea typeface="Calibri"/>
                <a:cs typeface="Calibri"/>
                <a:sym typeface="Calibri"/>
              </a:rPr>
              <a:t>📧  Root Cause of Email Slowness (The 'Why' Behind 9x Delay)</a:t>
            </a:r>
            <a:endParaRPr/>
          </a:p>
        </p:txBody>
      </p:sp>
      <p:sp>
        <p:nvSpPr>
          <p:cNvPr id="564" name="Google Shape;564;p23"/>
          <p:cNvSpPr txBox="1"/>
          <p:nvPr/>
        </p:nvSpPr>
        <p:spPr>
          <a:xfrm>
            <a:off x="594360" y="4133088"/>
            <a:ext cx="5166300" cy="238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FFFFFF"/>
                </a:solidFill>
                <a:latin typeface="Calibri"/>
                <a:ea typeface="Calibri"/>
                <a:cs typeface="Calibri"/>
                <a:sym typeface="Calibri"/>
              </a:rPr>
              <a:t>Risk:</a:t>
            </a:r>
            <a:r>
              <a:rPr b="0" i="0" lang="en-US" sz="950" u="none" cap="none" strike="noStrike">
                <a:solidFill>
                  <a:srgbClr val="FFFFFF"/>
                </a:solidFill>
                <a:latin typeface="Calibri"/>
                <a:ea typeface="Calibri"/>
                <a:cs typeface="Calibri"/>
                <a:sym typeface="Calibri"/>
              </a:rPr>
              <a:t> If email is slow due to outdated internal tooling, channel migration alone won't fix FCRT.</a:t>
            </a:r>
            <a:endParaRPr/>
          </a:p>
        </p:txBody>
      </p:sp>
      <p:sp>
        <p:nvSpPr>
          <p:cNvPr id="565" name="Google Shape;565;p23"/>
          <p:cNvSpPr txBox="1"/>
          <p:nvPr/>
        </p:nvSpPr>
        <p:spPr>
          <a:xfrm>
            <a:off x="594360" y="4425696"/>
            <a:ext cx="5166300" cy="238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FFFFFF"/>
                </a:solidFill>
                <a:latin typeface="Calibri"/>
                <a:ea typeface="Calibri"/>
                <a:cs typeface="Calibri"/>
                <a:sym typeface="Calibri"/>
              </a:rPr>
              <a:t>Data shows: </a:t>
            </a:r>
            <a:r>
              <a:rPr b="0" i="0" lang="en-US" sz="950" u="none" cap="none" strike="noStrike">
                <a:solidFill>
                  <a:srgbClr val="FFFFFF"/>
                </a:solidFill>
                <a:latin typeface="Calibri"/>
                <a:ea typeface="Calibri"/>
                <a:cs typeface="Calibri"/>
                <a:sym typeface="Calibri"/>
              </a:rPr>
              <a:t>Email AHT (13.9 min) is actually LOWER than Voice (18.1 min) — agents aren't lazy.</a:t>
            </a:r>
            <a:endParaRPr/>
          </a:p>
        </p:txBody>
      </p:sp>
      <p:sp>
        <p:nvSpPr>
          <p:cNvPr id="566" name="Google Shape;566;p23"/>
          <p:cNvSpPr txBox="1"/>
          <p:nvPr/>
        </p:nvSpPr>
        <p:spPr>
          <a:xfrm>
            <a:off x="594360" y="4718304"/>
            <a:ext cx="5166300" cy="238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FFFFFF"/>
                </a:solidFill>
                <a:latin typeface="Calibri"/>
                <a:ea typeface="Calibri"/>
                <a:cs typeface="Calibri"/>
                <a:sym typeface="Calibri"/>
              </a:rPr>
              <a:t>Inference: </a:t>
            </a:r>
            <a:r>
              <a:rPr b="0" i="0" lang="en-US" sz="950" u="none" cap="none" strike="noStrike">
                <a:solidFill>
                  <a:srgbClr val="FFFFFF"/>
                </a:solidFill>
                <a:latin typeface="Calibri"/>
                <a:ea typeface="Calibri"/>
                <a:cs typeface="Calibri"/>
                <a:sym typeface="Calibri"/>
              </a:rPr>
              <a:t>The delay is structural (async reply cycles, no real-time queue, no SLA alerting).</a:t>
            </a:r>
            <a:endParaRPr/>
          </a:p>
        </p:txBody>
      </p:sp>
      <p:sp>
        <p:nvSpPr>
          <p:cNvPr id="567" name="Google Shape;567;p23"/>
          <p:cNvSpPr txBox="1"/>
          <p:nvPr/>
        </p:nvSpPr>
        <p:spPr>
          <a:xfrm>
            <a:off x="594360" y="5010912"/>
            <a:ext cx="5166300" cy="238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FFFFFF"/>
                </a:solidFill>
                <a:latin typeface="Calibri"/>
                <a:ea typeface="Calibri"/>
                <a:cs typeface="Calibri"/>
                <a:sym typeface="Calibri"/>
              </a:rPr>
              <a:t>Recommendation:</a:t>
            </a:r>
            <a:r>
              <a:rPr b="0" i="0" lang="en-US" sz="950" u="none" cap="none" strike="noStrike">
                <a:solidFill>
                  <a:srgbClr val="FFFFFF"/>
                </a:solidFill>
                <a:latin typeface="Calibri"/>
                <a:ea typeface="Calibri"/>
                <a:cs typeface="Calibri"/>
                <a:sym typeface="Calibri"/>
              </a:rPr>
              <a:t> Conduct 2-week tooling audit BEFORE migration to confirm async is the driver.</a:t>
            </a:r>
            <a:endParaRPr/>
          </a:p>
        </p:txBody>
      </p:sp>
      <p:sp>
        <p:nvSpPr>
          <p:cNvPr id="568" name="Google Shape;568;p23"/>
          <p:cNvSpPr txBox="1"/>
          <p:nvPr/>
        </p:nvSpPr>
        <p:spPr>
          <a:xfrm>
            <a:off x="594360" y="5303520"/>
            <a:ext cx="5166360"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FFFFFF"/>
                </a:solidFill>
                <a:latin typeface="Calibri"/>
                <a:ea typeface="Calibri"/>
                <a:cs typeface="Calibri"/>
                <a:sym typeface="Calibri"/>
              </a:rPr>
              <a:t>  If tools ARE the issue: Parallel-track tool upgrade + migration for compounded FCRT benefit.</a:t>
            </a:r>
            <a:endParaRPr/>
          </a:p>
        </p:txBody>
      </p:sp>
      <p:sp>
        <p:nvSpPr>
          <p:cNvPr id="569" name="Google Shape;569;p23"/>
          <p:cNvSpPr/>
          <p:nvPr/>
        </p:nvSpPr>
        <p:spPr>
          <a:xfrm>
            <a:off x="6217920" y="3657600"/>
            <a:ext cx="5394960" cy="237744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0" name="Google Shape;570;p23"/>
          <p:cNvSpPr/>
          <p:nvPr/>
        </p:nvSpPr>
        <p:spPr>
          <a:xfrm>
            <a:off x="6217920" y="3657600"/>
            <a:ext cx="5394960" cy="45720"/>
          </a:xfrm>
          <a:prstGeom prst="rect">
            <a:avLst/>
          </a:prstGeom>
          <a:solidFill>
            <a:srgbClr val="E74C3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1" name="Google Shape;571;p23"/>
          <p:cNvSpPr txBox="1"/>
          <p:nvPr/>
        </p:nvSpPr>
        <p:spPr>
          <a:xfrm>
            <a:off x="6355080" y="3749040"/>
            <a:ext cx="521208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E74C3C"/>
                </a:solidFill>
                <a:latin typeface="Calibri"/>
                <a:ea typeface="Calibri"/>
                <a:cs typeface="Calibri"/>
                <a:sym typeface="Calibri"/>
              </a:rPr>
              <a:t>🏦  Refundable CSAT Cap: The Banking Lag Problem</a:t>
            </a:r>
            <a:endParaRPr/>
          </a:p>
        </p:txBody>
      </p:sp>
      <p:sp>
        <p:nvSpPr>
          <p:cNvPr id="572" name="Google Shape;572;p23"/>
          <p:cNvSpPr txBox="1"/>
          <p:nvPr/>
        </p:nvSpPr>
        <p:spPr>
          <a:xfrm>
            <a:off x="6355080" y="4133088"/>
            <a:ext cx="5166300" cy="238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FFFFFF"/>
                </a:solidFill>
                <a:latin typeface="Calibri"/>
                <a:ea typeface="Calibri"/>
                <a:cs typeface="Calibri"/>
                <a:sym typeface="Calibri"/>
              </a:rPr>
              <a:t>Risk:</a:t>
            </a:r>
            <a:r>
              <a:rPr b="0" i="0" lang="en-US" sz="950" u="none" cap="none" strike="noStrike">
                <a:solidFill>
                  <a:srgbClr val="FFFFFF"/>
                </a:solidFill>
                <a:latin typeface="Calibri"/>
                <a:ea typeface="Calibri"/>
                <a:cs typeface="Calibri"/>
                <a:sym typeface="Calibri"/>
              </a:rPr>
              <a:t> Even with instant approval, refund hitting bank in 5-7 days caps CSAT below 4.8 target.</a:t>
            </a:r>
            <a:endParaRPr/>
          </a:p>
        </p:txBody>
      </p:sp>
      <p:sp>
        <p:nvSpPr>
          <p:cNvPr id="573" name="Google Shape;573;p23"/>
          <p:cNvSpPr txBox="1"/>
          <p:nvPr/>
        </p:nvSpPr>
        <p:spPr>
          <a:xfrm>
            <a:off x="6355080" y="4425696"/>
            <a:ext cx="5166300" cy="238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FFFFFF"/>
                </a:solidFill>
                <a:latin typeface="Calibri"/>
                <a:ea typeface="Calibri"/>
                <a:cs typeface="Calibri"/>
                <a:sym typeface="Calibri"/>
              </a:rPr>
              <a:t>Data: </a:t>
            </a:r>
            <a:r>
              <a:rPr b="0" i="0" lang="en-US" sz="950" u="none" cap="none" strike="noStrike">
                <a:solidFill>
                  <a:srgbClr val="FFFFFF"/>
                </a:solidFill>
                <a:latin typeface="Calibri"/>
                <a:ea typeface="Calibri"/>
                <a:cs typeface="Calibri"/>
                <a:sym typeface="Calibri"/>
              </a:rPr>
              <a:t>Our CSAT measures 'interaction satisfaction', not 'money received satisfaction'.</a:t>
            </a:r>
            <a:endParaRPr/>
          </a:p>
        </p:txBody>
      </p:sp>
      <p:sp>
        <p:nvSpPr>
          <p:cNvPr id="574" name="Google Shape;574;p23"/>
          <p:cNvSpPr txBox="1"/>
          <p:nvPr/>
        </p:nvSpPr>
        <p:spPr>
          <a:xfrm>
            <a:off x="6355080" y="4718304"/>
            <a:ext cx="5166300" cy="238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FFFFFF"/>
                </a:solidFill>
                <a:latin typeface="Calibri"/>
                <a:ea typeface="Calibri"/>
                <a:cs typeface="Calibri"/>
                <a:sym typeface="Calibri"/>
              </a:rPr>
              <a:t>Mitigation A </a:t>
            </a:r>
            <a:r>
              <a:rPr b="0" i="0" lang="en-US" sz="950" u="none" cap="none" strike="noStrike">
                <a:solidFill>
                  <a:srgbClr val="FFFFFF"/>
                </a:solidFill>
                <a:latin typeface="Calibri"/>
                <a:ea typeface="Calibri"/>
                <a:cs typeface="Calibri"/>
                <a:sym typeface="Calibri"/>
              </a:rPr>
              <a:t>– Decouple metrics: Track 'Approval CSAT' (immediate) vs. 'Refund CSAT' (D+7).</a:t>
            </a:r>
            <a:endParaRPr/>
          </a:p>
        </p:txBody>
      </p:sp>
      <p:sp>
        <p:nvSpPr>
          <p:cNvPr id="575" name="Google Shape;575;p23"/>
          <p:cNvSpPr txBox="1"/>
          <p:nvPr/>
        </p:nvSpPr>
        <p:spPr>
          <a:xfrm>
            <a:off x="6355080" y="5010912"/>
            <a:ext cx="5166300" cy="238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FFFFFF"/>
                </a:solidFill>
                <a:latin typeface="Calibri"/>
                <a:ea typeface="Calibri"/>
                <a:cs typeface="Calibri"/>
                <a:sym typeface="Calibri"/>
              </a:rPr>
              <a:t>Mitigation B</a:t>
            </a:r>
            <a:r>
              <a:rPr b="0" i="0" lang="en-US" sz="950" u="none" cap="none" strike="noStrike">
                <a:solidFill>
                  <a:srgbClr val="FFFFFF"/>
                </a:solidFill>
                <a:latin typeface="Calibri"/>
                <a:ea typeface="Calibri"/>
                <a:cs typeface="Calibri"/>
                <a:sym typeface="Calibri"/>
              </a:rPr>
              <a:t> – Proactive comms: Send automated refund status SMS/email at D+1, D+3, D+7.</a:t>
            </a:r>
            <a:endParaRPr/>
          </a:p>
        </p:txBody>
      </p:sp>
      <p:sp>
        <p:nvSpPr>
          <p:cNvPr id="576" name="Google Shape;576;p23"/>
          <p:cNvSpPr txBox="1"/>
          <p:nvPr/>
        </p:nvSpPr>
        <p:spPr>
          <a:xfrm>
            <a:off x="6355080" y="5303520"/>
            <a:ext cx="5166360"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FFFFFF"/>
                </a:solidFill>
                <a:latin typeface="Calibri"/>
                <a:ea typeface="Calibri"/>
                <a:cs typeface="Calibri"/>
                <a:sym typeface="Calibri"/>
              </a:rPr>
              <a:t>  Proactive updates shown to raise post-refund CSAT by ~0.3 pts (industry benchmark).</a:t>
            </a:r>
            <a:endParaRPr/>
          </a:p>
        </p:txBody>
      </p:sp>
      <p:sp>
        <p:nvSpPr>
          <p:cNvPr id="577" name="Google Shape;577;p23"/>
          <p:cNvSpPr txBox="1"/>
          <p:nvPr/>
        </p:nvSpPr>
        <p:spPr>
          <a:xfrm>
            <a:off x="6355080" y="5596128"/>
            <a:ext cx="5166360"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FFFFFF"/>
                </a:solidFill>
                <a:latin typeface="Calibri"/>
                <a:ea typeface="Calibri"/>
                <a:cs typeface="Calibri"/>
                <a:sym typeface="Calibri"/>
              </a:rPr>
              <a:t>Revised forecast: Approval CSAT → 4.8+; Post-refund CSAT → 4.3-4.5 (banking-gated ceiling).</a:t>
            </a:r>
            <a:endParaRPr/>
          </a:p>
        </p:txBody>
      </p:sp>
      <p:sp>
        <p:nvSpPr>
          <p:cNvPr id="578" name="Google Shape;578;p23"/>
          <p:cNvSpPr/>
          <p:nvPr/>
        </p:nvSpPr>
        <p:spPr>
          <a:xfrm>
            <a:off x="457200" y="6172200"/>
            <a:ext cx="11247120" cy="530352"/>
          </a:xfrm>
          <a:prstGeom prst="rect">
            <a:avLst/>
          </a:prstGeom>
          <a:solidFill>
            <a:srgbClr val="0A2A1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9" name="Google Shape;579;p23"/>
          <p:cNvSpPr/>
          <p:nvPr/>
        </p:nvSpPr>
        <p:spPr>
          <a:xfrm>
            <a:off x="457200" y="6172200"/>
            <a:ext cx="54864" cy="530352"/>
          </a:xfrm>
          <a:prstGeom prst="rect">
            <a:avLst/>
          </a:prstGeom>
          <a:solidFill>
            <a:srgbClr val="2ECC71"/>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0" name="Google Shape;580;p23"/>
          <p:cNvSpPr txBox="1"/>
          <p:nvPr/>
        </p:nvSpPr>
        <p:spPr>
          <a:xfrm>
            <a:off x="512075" y="6235445"/>
            <a:ext cx="50292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2ECC71"/>
                </a:solidFill>
                <a:latin typeface="Calibri"/>
                <a:ea typeface="Calibri"/>
                <a:cs typeface="Calibri"/>
                <a:sym typeface="Calibri"/>
              </a:rPr>
              <a:t>GUARDRAIL #1 – Human-in-the-Loop:</a:t>
            </a:r>
            <a:endParaRPr/>
          </a:p>
        </p:txBody>
      </p:sp>
      <p:sp>
        <p:nvSpPr>
          <p:cNvPr id="581" name="Google Shape;581;p23"/>
          <p:cNvSpPr txBox="1"/>
          <p:nvPr/>
        </p:nvSpPr>
        <p:spPr>
          <a:xfrm>
            <a:off x="512075" y="6464050"/>
            <a:ext cx="5577900" cy="238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A0A0A0"/>
                </a:solidFill>
                <a:latin typeface="Calibri"/>
                <a:ea typeface="Calibri"/>
                <a:cs typeface="Calibri"/>
                <a:sym typeface="Calibri"/>
              </a:rPr>
              <a:t>Random 5% audit on all auto-approvals (NR engine). Supervisor override halts engine if fraud rate &gt;5%.</a:t>
            </a:r>
            <a:endParaRPr b="1"/>
          </a:p>
        </p:txBody>
      </p:sp>
      <p:sp>
        <p:nvSpPr>
          <p:cNvPr id="582" name="Google Shape;582;p23"/>
          <p:cNvSpPr txBox="1"/>
          <p:nvPr/>
        </p:nvSpPr>
        <p:spPr>
          <a:xfrm>
            <a:off x="6217902" y="6187695"/>
            <a:ext cx="50292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2ECC71"/>
                </a:solidFill>
                <a:latin typeface="Calibri"/>
                <a:ea typeface="Calibri"/>
                <a:cs typeface="Calibri"/>
                <a:sym typeface="Calibri"/>
              </a:rPr>
              <a:t>GUARDRAIL #2 – Phased Rollout (Opt #1 &amp; #2):</a:t>
            </a:r>
            <a:endParaRPr/>
          </a:p>
        </p:txBody>
      </p:sp>
      <p:sp>
        <p:nvSpPr>
          <p:cNvPr id="583" name="Google Shape;583;p23"/>
          <p:cNvSpPr txBox="1"/>
          <p:nvPr/>
        </p:nvSpPr>
        <p:spPr>
          <a:xfrm>
            <a:off x="6217902" y="6448920"/>
            <a:ext cx="5486400" cy="238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950" u="none" cap="none" strike="noStrike">
                <a:solidFill>
                  <a:srgbClr val="A0A0A0"/>
                </a:solidFill>
                <a:latin typeface="Calibri"/>
                <a:ea typeface="Calibri"/>
                <a:cs typeface="Calibri"/>
                <a:sym typeface="Calibri"/>
              </a:rPr>
              <a:t>10% traffic ramp → monitor margin leakage + CSAT for 2 weeks → then 50% → 100% if KPIs green.</a:t>
            </a:r>
            <a:endParaRPr b="1"/>
          </a:p>
        </p:txBody>
      </p:sp>
      <p:sp>
        <p:nvSpPr>
          <p:cNvPr id="584" name="Google Shape;584;p23"/>
          <p:cNvSpPr txBox="1"/>
          <p:nvPr/>
        </p:nvSpPr>
        <p:spPr>
          <a:xfrm>
            <a:off x="457200" y="6748272"/>
            <a:ext cx="109728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588" name="Shape 588"/>
        <p:cNvGrpSpPr/>
        <p:nvPr/>
      </p:nvGrpSpPr>
      <p:grpSpPr>
        <a:xfrm>
          <a:off x="0" y="0"/>
          <a:ext cx="0" cy="0"/>
          <a:chOff x="0" y="0"/>
          <a:chExt cx="0" cy="0"/>
        </a:xfrm>
      </p:grpSpPr>
      <p:sp>
        <p:nvSpPr>
          <p:cNvPr id="589" name="Google Shape;589;p24"/>
          <p:cNvSpPr/>
          <p:nvPr/>
        </p:nvSpPr>
        <p:spPr>
          <a:xfrm>
            <a:off x="0" y="0"/>
            <a:ext cx="12191695" cy="73152"/>
          </a:xfrm>
          <a:prstGeom prst="rect">
            <a:avLst/>
          </a:prstGeom>
          <a:solidFill>
            <a:srgbClr val="8E44A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0" name="Google Shape;590;p24"/>
          <p:cNvSpPr txBox="1"/>
          <p:nvPr/>
        </p:nvSpPr>
        <p:spPr>
          <a:xfrm>
            <a:off x="457200" y="164592"/>
            <a:ext cx="1097280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u="none" cap="none" strike="noStrike">
                <a:solidFill>
                  <a:srgbClr val="FFFFFF"/>
                </a:solidFill>
                <a:latin typeface="Calibri"/>
                <a:ea typeface="Calibri"/>
                <a:cs typeface="Calibri"/>
                <a:sym typeface="Calibri"/>
              </a:rPr>
              <a:t>Customer Lifetime Value Overlay: The Stakes Are Bigger Than One Booking</a:t>
            </a:r>
            <a:endParaRPr/>
          </a:p>
        </p:txBody>
      </p:sp>
      <p:sp>
        <p:nvSpPr>
          <p:cNvPr id="591" name="Google Shape;591;p24"/>
          <p:cNvSpPr/>
          <p:nvPr/>
        </p:nvSpPr>
        <p:spPr>
          <a:xfrm>
            <a:off x="457200" y="868680"/>
            <a:ext cx="731520" cy="36576"/>
          </a:xfrm>
          <a:prstGeom prst="rect">
            <a:avLst/>
          </a:prstGeom>
          <a:solidFill>
            <a:srgbClr val="8E44A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2" name="Google Shape;592;p24"/>
          <p:cNvSpPr/>
          <p:nvPr/>
        </p:nvSpPr>
        <p:spPr>
          <a:xfrm>
            <a:off x="457200" y="1051546"/>
            <a:ext cx="11247000" cy="868800"/>
          </a:xfrm>
          <a:prstGeom prst="rect">
            <a:avLst/>
          </a:prstGeom>
          <a:solidFill>
            <a:srgbClr val="280A3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3" name="Google Shape;593;p24"/>
          <p:cNvSpPr/>
          <p:nvPr/>
        </p:nvSpPr>
        <p:spPr>
          <a:xfrm>
            <a:off x="457200" y="1051560"/>
            <a:ext cx="54864" cy="640080"/>
          </a:xfrm>
          <a:prstGeom prst="rect">
            <a:avLst/>
          </a:prstGeom>
          <a:solidFill>
            <a:srgbClr val="8E44A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4" name="Google Shape;594;p24"/>
          <p:cNvSpPr txBox="1"/>
          <p:nvPr/>
        </p:nvSpPr>
        <p:spPr>
          <a:xfrm>
            <a:off x="685800" y="1097280"/>
            <a:ext cx="105156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FFFFFF"/>
                </a:solidFill>
                <a:latin typeface="Calibri"/>
                <a:ea typeface="Calibri"/>
                <a:cs typeface="Calibri"/>
                <a:sym typeface="Calibri"/>
              </a:rPr>
              <a:t>L1 flagged as 'Low Criticality'</a:t>
            </a:r>
            <a:r>
              <a:rPr b="1" lang="en-US">
                <a:solidFill>
                  <a:srgbClr val="FFFFFF"/>
                </a:solidFill>
                <a:latin typeface="Calibri"/>
                <a:ea typeface="Calibri"/>
                <a:cs typeface="Calibri"/>
                <a:sym typeface="Calibri"/>
              </a:rPr>
              <a:t>, </a:t>
            </a:r>
            <a:r>
              <a:rPr b="1" i="0" lang="en-US" sz="1400" u="none" cap="none" strike="noStrike">
                <a:solidFill>
                  <a:srgbClr val="FFFFFF"/>
                </a:solidFill>
                <a:latin typeface="Calibri"/>
                <a:ea typeface="Calibri"/>
                <a:cs typeface="Calibri"/>
                <a:sym typeface="Calibri"/>
              </a:rPr>
              <a:t> but a Platinum member stuck in the 120-min Email queue risks $10,000/yr(industry benchmark) spend, not just $200.</a:t>
            </a:r>
            <a:endParaRPr/>
          </a:p>
        </p:txBody>
      </p:sp>
      <p:sp>
        <p:nvSpPr>
          <p:cNvPr id="595" name="Google Shape;595;p24"/>
          <p:cNvSpPr txBox="1"/>
          <p:nvPr/>
        </p:nvSpPr>
        <p:spPr>
          <a:xfrm>
            <a:off x="685800" y="1639570"/>
            <a:ext cx="105156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sng" cap="none" strike="noStrike">
                <a:solidFill>
                  <a:schemeClr val="lt1"/>
                </a:solidFill>
                <a:latin typeface="Calibri"/>
                <a:ea typeface="Calibri"/>
                <a:cs typeface="Calibri"/>
                <a:sym typeface="Calibri"/>
              </a:rPr>
              <a:t>Even if FCRT is similar across tiers, the COST OF A BAD EXPERIENCE differs by 50x.</a:t>
            </a:r>
            <a:endParaRPr b="1" u="sng">
              <a:solidFill>
                <a:schemeClr val="lt1"/>
              </a:solidFill>
            </a:endParaRPr>
          </a:p>
        </p:txBody>
      </p:sp>
      <p:sp>
        <p:nvSpPr>
          <p:cNvPr id="596" name="Google Shape;596;p24"/>
          <p:cNvSpPr txBox="1"/>
          <p:nvPr/>
        </p:nvSpPr>
        <p:spPr>
          <a:xfrm>
            <a:off x="457200" y="1920240"/>
            <a:ext cx="109728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1B998B"/>
                </a:solidFill>
                <a:latin typeface="Calibri"/>
                <a:ea typeface="Calibri"/>
                <a:cs typeface="Calibri"/>
                <a:sym typeface="Calibri"/>
              </a:rPr>
              <a:t>LOYALTY TIER CLV RISK MATRIX</a:t>
            </a:r>
            <a:endParaRPr/>
          </a:p>
        </p:txBody>
      </p:sp>
      <p:sp>
        <p:nvSpPr>
          <p:cNvPr id="597" name="Google Shape;597;p24"/>
          <p:cNvSpPr/>
          <p:nvPr/>
        </p:nvSpPr>
        <p:spPr>
          <a:xfrm>
            <a:off x="457200" y="2331720"/>
            <a:ext cx="1645920" cy="384048"/>
          </a:xfrm>
          <a:prstGeom prst="rect">
            <a:avLst/>
          </a:prstGeom>
          <a:solidFill>
            <a:srgbClr val="8E44A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8" name="Google Shape;598;p24"/>
          <p:cNvSpPr txBox="1"/>
          <p:nvPr/>
        </p:nvSpPr>
        <p:spPr>
          <a:xfrm>
            <a:off x="457200" y="2350008"/>
            <a:ext cx="1645920" cy="34747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FFFFFF"/>
                </a:solidFill>
                <a:latin typeface="Calibri"/>
                <a:ea typeface="Calibri"/>
                <a:cs typeface="Calibri"/>
                <a:sym typeface="Calibri"/>
              </a:rPr>
              <a:t>Loyalty Tier</a:t>
            </a:r>
            <a:endParaRPr/>
          </a:p>
        </p:txBody>
      </p:sp>
      <p:sp>
        <p:nvSpPr>
          <p:cNvPr id="599" name="Google Shape;599;p24"/>
          <p:cNvSpPr/>
          <p:nvPr/>
        </p:nvSpPr>
        <p:spPr>
          <a:xfrm>
            <a:off x="2130552" y="2331720"/>
            <a:ext cx="1645920" cy="384048"/>
          </a:xfrm>
          <a:prstGeom prst="rect">
            <a:avLst/>
          </a:prstGeom>
          <a:solidFill>
            <a:srgbClr val="8E44A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0" name="Google Shape;600;p24"/>
          <p:cNvSpPr txBox="1"/>
          <p:nvPr/>
        </p:nvSpPr>
        <p:spPr>
          <a:xfrm>
            <a:off x="2130552" y="2350008"/>
            <a:ext cx="1645920" cy="34747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FFFFFF"/>
                </a:solidFill>
                <a:latin typeface="Calibri"/>
                <a:ea typeface="Calibri"/>
                <a:cs typeface="Calibri"/>
                <a:sym typeface="Calibri"/>
              </a:rPr>
              <a:t>Est. Annual Spend</a:t>
            </a:r>
            <a:endParaRPr/>
          </a:p>
        </p:txBody>
      </p:sp>
      <p:sp>
        <p:nvSpPr>
          <p:cNvPr id="601" name="Google Shape;601;p24"/>
          <p:cNvSpPr/>
          <p:nvPr/>
        </p:nvSpPr>
        <p:spPr>
          <a:xfrm>
            <a:off x="3803904" y="2331720"/>
            <a:ext cx="1645920" cy="384048"/>
          </a:xfrm>
          <a:prstGeom prst="rect">
            <a:avLst/>
          </a:prstGeom>
          <a:solidFill>
            <a:srgbClr val="8E44A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2" name="Google Shape;602;p24"/>
          <p:cNvSpPr txBox="1"/>
          <p:nvPr/>
        </p:nvSpPr>
        <p:spPr>
          <a:xfrm>
            <a:off x="3803904" y="2350008"/>
            <a:ext cx="1645920" cy="34747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FFFFFF"/>
                </a:solidFill>
                <a:latin typeface="Calibri"/>
                <a:ea typeface="Calibri"/>
                <a:cs typeface="Calibri"/>
                <a:sym typeface="Calibri"/>
              </a:rPr>
              <a:t>Booking at Risk</a:t>
            </a:r>
            <a:endParaRPr/>
          </a:p>
        </p:txBody>
      </p:sp>
      <p:sp>
        <p:nvSpPr>
          <p:cNvPr id="603" name="Google Shape;603;p24"/>
          <p:cNvSpPr/>
          <p:nvPr/>
        </p:nvSpPr>
        <p:spPr>
          <a:xfrm>
            <a:off x="5477256" y="2331720"/>
            <a:ext cx="1371600" cy="384048"/>
          </a:xfrm>
          <a:prstGeom prst="rect">
            <a:avLst/>
          </a:prstGeom>
          <a:solidFill>
            <a:srgbClr val="8E44A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4" name="Google Shape;604;p24"/>
          <p:cNvSpPr txBox="1"/>
          <p:nvPr/>
        </p:nvSpPr>
        <p:spPr>
          <a:xfrm>
            <a:off x="5477256" y="2350008"/>
            <a:ext cx="1371600" cy="34747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FFFFFF"/>
                </a:solidFill>
                <a:latin typeface="Calibri"/>
                <a:ea typeface="Calibri"/>
                <a:cs typeface="Calibri"/>
                <a:sym typeface="Calibri"/>
              </a:rPr>
              <a:t>CLV at Stake</a:t>
            </a:r>
            <a:endParaRPr/>
          </a:p>
        </p:txBody>
      </p:sp>
      <p:sp>
        <p:nvSpPr>
          <p:cNvPr id="605" name="Google Shape;605;p24"/>
          <p:cNvSpPr/>
          <p:nvPr/>
        </p:nvSpPr>
        <p:spPr>
          <a:xfrm>
            <a:off x="6876288" y="2331720"/>
            <a:ext cx="2011680" cy="384048"/>
          </a:xfrm>
          <a:prstGeom prst="rect">
            <a:avLst/>
          </a:prstGeom>
          <a:solidFill>
            <a:srgbClr val="8E44A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6" name="Google Shape;606;p24"/>
          <p:cNvSpPr txBox="1"/>
          <p:nvPr/>
        </p:nvSpPr>
        <p:spPr>
          <a:xfrm>
            <a:off x="6876288" y="2350008"/>
            <a:ext cx="2011680" cy="34747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FFFFFF"/>
                </a:solidFill>
                <a:latin typeface="Calibri"/>
                <a:ea typeface="Calibri"/>
                <a:cs typeface="Calibri"/>
                <a:sym typeface="Calibri"/>
              </a:rPr>
              <a:t>120-min Email Risk</a:t>
            </a:r>
            <a:endParaRPr/>
          </a:p>
        </p:txBody>
      </p:sp>
      <p:sp>
        <p:nvSpPr>
          <p:cNvPr id="607" name="Google Shape;607;p24"/>
          <p:cNvSpPr/>
          <p:nvPr/>
        </p:nvSpPr>
        <p:spPr>
          <a:xfrm>
            <a:off x="8915400" y="2331720"/>
            <a:ext cx="2377440" cy="384048"/>
          </a:xfrm>
          <a:prstGeom prst="rect">
            <a:avLst/>
          </a:prstGeom>
          <a:solidFill>
            <a:srgbClr val="8E44A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8" name="Google Shape;608;p24"/>
          <p:cNvSpPr txBox="1"/>
          <p:nvPr/>
        </p:nvSpPr>
        <p:spPr>
          <a:xfrm>
            <a:off x="8915400" y="2350008"/>
            <a:ext cx="2377440" cy="34747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FFFFFF"/>
                </a:solidFill>
                <a:latin typeface="Calibri"/>
                <a:ea typeface="Calibri"/>
                <a:cs typeface="Calibri"/>
                <a:sym typeface="Calibri"/>
              </a:rPr>
              <a:t>Priority</a:t>
            </a:r>
            <a:endParaRPr/>
          </a:p>
        </p:txBody>
      </p:sp>
      <p:sp>
        <p:nvSpPr>
          <p:cNvPr id="609" name="Google Shape;609;p24"/>
          <p:cNvSpPr/>
          <p:nvPr/>
        </p:nvSpPr>
        <p:spPr>
          <a:xfrm>
            <a:off x="457200" y="2743200"/>
            <a:ext cx="1645920" cy="36576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0" name="Google Shape;610;p24"/>
          <p:cNvSpPr txBox="1"/>
          <p:nvPr/>
        </p:nvSpPr>
        <p:spPr>
          <a:xfrm>
            <a:off x="457200" y="2761488"/>
            <a:ext cx="1645920" cy="33832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Platinum</a:t>
            </a:r>
            <a:endParaRPr/>
          </a:p>
        </p:txBody>
      </p:sp>
      <p:sp>
        <p:nvSpPr>
          <p:cNvPr id="611" name="Google Shape;611;p24"/>
          <p:cNvSpPr/>
          <p:nvPr/>
        </p:nvSpPr>
        <p:spPr>
          <a:xfrm>
            <a:off x="2130552" y="2743200"/>
            <a:ext cx="1645920" cy="36576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2" name="Google Shape;612;p24"/>
          <p:cNvSpPr txBox="1"/>
          <p:nvPr/>
        </p:nvSpPr>
        <p:spPr>
          <a:xfrm>
            <a:off x="2130552" y="2761488"/>
            <a:ext cx="1645920" cy="33832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$10,000/yr</a:t>
            </a:r>
            <a:endParaRPr/>
          </a:p>
        </p:txBody>
      </p:sp>
      <p:sp>
        <p:nvSpPr>
          <p:cNvPr id="613" name="Google Shape;613;p24"/>
          <p:cNvSpPr/>
          <p:nvPr/>
        </p:nvSpPr>
        <p:spPr>
          <a:xfrm>
            <a:off x="3803904" y="2743200"/>
            <a:ext cx="1645920" cy="36576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4" name="Google Shape;614;p24"/>
          <p:cNvSpPr txBox="1"/>
          <p:nvPr/>
        </p:nvSpPr>
        <p:spPr>
          <a:xfrm>
            <a:off x="3803904" y="2761488"/>
            <a:ext cx="1645920" cy="33832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$200–$500</a:t>
            </a:r>
            <a:endParaRPr/>
          </a:p>
        </p:txBody>
      </p:sp>
      <p:sp>
        <p:nvSpPr>
          <p:cNvPr id="615" name="Google Shape;615;p24"/>
          <p:cNvSpPr/>
          <p:nvPr/>
        </p:nvSpPr>
        <p:spPr>
          <a:xfrm>
            <a:off x="5477256" y="2743200"/>
            <a:ext cx="1371600" cy="36576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6" name="Google Shape;616;p24"/>
          <p:cNvSpPr txBox="1"/>
          <p:nvPr/>
        </p:nvSpPr>
        <p:spPr>
          <a:xfrm>
            <a:off x="5477256" y="2761488"/>
            <a:ext cx="1371600" cy="33832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39C12"/>
                </a:solidFill>
                <a:latin typeface="Calibri"/>
                <a:ea typeface="Calibri"/>
                <a:cs typeface="Calibri"/>
                <a:sym typeface="Calibri"/>
              </a:rPr>
              <a:t>$10,000</a:t>
            </a:r>
            <a:endParaRPr/>
          </a:p>
        </p:txBody>
      </p:sp>
      <p:sp>
        <p:nvSpPr>
          <p:cNvPr id="617" name="Google Shape;617;p24"/>
          <p:cNvSpPr/>
          <p:nvPr/>
        </p:nvSpPr>
        <p:spPr>
          <a:xfrm>
            <a:off x="6876288" y="2743200"/>
            <a:ext cx="2011680" cy="36576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8" name="Google Shape;618;p24"/>
          <p:cNvSpPr txBox="1"/>
          <p:nvPr/>
        </p:nvSpPr>
        <p:spPr>
          <a:xfrm>
            <a:off x="6876288" y="2761488"/>
            <a:ext cx="2011680" cy="33832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E74C3C"/>
                </a:solidFill>
                <a:latin typeface="Calibri"/>
                <a:ea typeface="Calibri"/>
                <a:cs typeface="Calibri"/>
                <a:sym typeface="Calibri"/>
              </a:rPr>
              <a:t>CATASTROPHIC</a:t>
            </a:r>
            <a:endParaRPr/>
          </a:p>
        </p:txBody>
      </p:sp>
      <p:sp>
        <p:nvSpPr>
          <p:cNvPr id="619" name="Google Shape;619;p24"/>
          <p:cNvSpPr/>
          <p:nvPr/>
        </p:nvSpPr>
        <p:spPr>
          <a:xfrm>
            <a:off x="8915400" y="2743200"/>
            <a:ext cx="2377440" cy="36576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0" name="Google Shape;620;p24"/>
          <p:cNvSpPr txBox="1"/>
          <p:nvPr/>
        </p:nvSpPr>
        <p:spPr>
          <a:xfrm>
            <a:off x="8915400" y="2761488"/>
            <a:ext cx="2377440" cy="33832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2ECC71"/>
                </a:solidFill>
                <a:latin typeface="Calibri"/>
                <a:ea typeface="Calibri"/>
                <a:cs typeface="Calibri"/>
                <a:sym typeface="Calibri"/>
              </a:rPr>
              <a:t>1st — Automate NOW</a:t>
            </a:r>
            <a:endParaRPr/>
          </a:p>
        </p:txBody>
      </p:sp>
      <p:sp>
        <p:nvSpPr>
          <p:cNvPr id="621" name="Google Shape;621;p24"/>
          <p:cNvSpPr/>
          <p:nvPr/>
        </p:nvSpPr>
        <p:spPr>
          <a:xfrm>
            <a:off x="457200" y="3127248"/>
            <a:ext cx="1645920" cy="365760"/>
          </a:xfrm>
          <a:prstGeom prst="rect">
            <a:avLst/>
          </a:prstGeom>
          <a:solidFill>
            <a:srgbClr val="1A2A3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2" name="Google Shape;622;p24"/>
          <p:cNvSpPr txBox="1"/>
          <p:nvPr/>
        </p:nvSpPr>
        <p:spPr>
          <a:xfrm>
            <a:off x="457200" y="3145536"/>
            <a:ext cx="1645920" cy="33832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Gold</a:t>
            </a:r>
            <a:endParaRPr/>
          </a:p>
        </p:txBody>
      </p:sp>
      <p:sp>
        <p:nvSpPr>
          <p:cNvPr id="623" name="Google Shape;623;p24"/>
          <p:cNvSpPr/>
          <p:nvPr/>
        </p:nvSpPr>
        <p:spPr>
          <a:xfrm>
            <a:off x="2130552" y="3127248"/>
            <a:ext cx="1645920" cy="365760"/>
          </a:xfrm>
          <a:prstGeom prst="rect">
            <a:avLst/>
          </a:prstGeom>
          <a:solidFill>
            <a:srgbClr val="1A2A3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4" name="Google Shape;624;p24"/>
          <p:cNvSpPr txBox="1"/>
          <p:nvPr/>
        </p:nvSpPr>
        <p:spPr>
          <a:xfrm>
            <a:off x="2130552" y="3145536"/>
            <a:ext cx="1645920" cy="33832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$5,000/yr</a:t>
            </a:r>
            <a:endParaRPr/>
          </a:p>
        </p:txBody>
      </p:sp>
      <p:sp>
        <p:nvSpPr>
          <p:cNvPr id="625" name="Google Shape;625;p24"/>
          <p:cNvSpPr/>
          <p:nvPr/>
        </p:nvSpPr>
        <p:spPr>
          <a:xfrm>
            <a:off x="3803904" y="3127248"/>
            <a:ext cx="1645920" cy="365760"/>
          </a:xfrm>
          <a:prstGeom prst="rect">
            <a:avLst/>
          </a:prstGeom>
          <a:solidFill>
            <a:srgbClr val="1A2A3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6" name="Google Shape;626;p24"/>
          <p:cNvSpPr txBox="1"/>
          <p:nvPr/>
        </p:nvSpPr>
        <p:spPr>
          <a:xfrm>
            <a:off x="3803904" y="3145536"/>
            <a:ext cx="1645920" cy="33832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$150–$400</a:t>
            </a:r>
            <a:endParaRPr/>
          </a:p>
        </p:txBody>
      </p:sp>
      <p:sp>
        <p:nvSpPr>
          <p:cNvPr id="627" name="Google Shape;627;p24"/>
          <p:cNvSpPr/>
          <p:nvPr/>
        </p:nvSpPr>
        <p:spPr>
          <a:xfrm>
            <a:off x="5477256" y="3127248"/>
            <a:ext cx="1371600" cy="365760"/>
          </a:xfrm>
          <a:prstGeom prst="rect">
            <a:avLst/>
          </a:prstGeom>
          <a:solidFill>
            <a:srgbClr val="1A2A3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8" name="Google Shape;628;p24"/>
          <p:cNvSpPr txBox="1"/>
          <p:nvPr/>
        </p:nvSpPr>
        <p:spPr>
          <a:xfrm>
            <a:off x="5477256" y="3145536"/>
            <a:ext cx="1371600" cy="33832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39C12"/>
                </a:solidFill>
                <a:latin typeface="Calibri"/>
                <a:ea typeface="Calibri"/>
                <a:cs typeface="Calibri"/>
                <a:sym typeface="Calibri"/>
              </a:rPr>
              <a:t>$5,000</a:t>
            </a:r>
            <a:endParaRPr/>
          </a:p>
        </p:txBody>
      </p:sp>
      <p:sp>
        <p:nvSpPr>
          <p:cNvPr id="629" name="Google Shape;629;p24"/>
          <p:cNvSpPr/>
          <p:nvPr/>
        </p:nvSpPr>
        <p:spPr>
          <a:xfrm>
            <a:off x="6876288" y="3127248"/>
            <a:ext cx="2011680" cy="365760"/>
          </a:xfrm>
          <a:prstGeom prst="rect">
            <a:avLst/>
          </a:prstGeom>
          <a:solidFill>
            <a:srgbClr val="1A2A3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0" name="Google Shape;630;p24"/>
          <p:cNvSpPr txBox="1"/>
          <p:nvPr/>
        </p:nvSpPr>
        <p:spPr>
          <a:xfrm>
            <a:off x="6876288" y="3145536"/>
            <a:ext cx="2011680" cy="33832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E67E22"/>
                </a:solidFill>
                <a:latin typeface="Calibri"/>
                <a:ea typeface="Calibri"/>
                <a:cs typeface="Calibri"/>
                <a:sym typeface="Calibri"/>
              </a:rPr>
              <a:t>HIGH</a:t>
            </a:r>
            <a:endParaRPr/>
          </a:p>
        </p:txBody>
      </p:sp>
      <p:sp>
        <p:nvSpPr>
          <p:cNvPr id="631" name="Google Shape;631;p24"/>
          <p:cNvSpPr/>
          <p:nvPr/>
        </p:nvSpPr>
        <p:spPr>
          <a:xfrm>
            <a:off x="8915400" y="3127248"/>
            <a:ext cx="2377440" cy="365760"/>
          </a:xfrm>
          <a:prstGeom prst="rect">
            <a:avLst/>
          </a:prstGeom>
          <a:solidFill>
            <a:srgbClr val="1A2A3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2" name="Google Shape;632;p24"/>
          <p:cNvSpPr txBox="1"/>
          <p:nvPr/>
        </p:nvSpPr>
        <p:spPr>
          <a:xfrm>
            <a:off x="8915400" y="3145536"/>
            <a:ext cx="2377440" cy="33832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1B998B"/>
                </a:solidFill>
                <a:latin typeface="Calibri"/>
                <a:ea typeface="Calibri"/>
                <a:cs typeface="Calibri"/>
                <a:sym typeface="Calibri"/>
              </a:rPr>
              <a:t>2nd — Phase 1 bundle</a:t>
            </a:r>
            <a:endParaRPr/>
          </a:p>
        </p:txBody>
      </p:sp>
      <p:sp>
        <p:nvSpPr>
          <p:cNvPr id="633" name="Google Shape;633;p24"/>
          <p:cNvSpPr/>
          <p:nvPr/>
        </p:nvSpPr>
        <p:spPr>
          <a:xfrm>
            <a:off x="457200" y="3511296"/>
            <a:ext cx="1645920" cy="36576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4" name="Google Shape;634;p24"/>
          <p:cNvSpPr txBox="1"/>
          <p:nvPr/>
        </p:nvSpPr>
        <p:spPr>
          <a:xfrm>
            <a:off x="457200" y="3529584"/>
            <a:ext cx="1645920" cy="33832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Silver</a:t>
            </a:r>
            <a:endParaRPr/>
          </a:p>
        </p:txBody>
      </p:sp>
      <p:sp>
        <p:nvSpPr>
          <p:cNvPr id="635" name="Google Shape;635;p24"/>
          <p:cNvSpPr/>
          <p:nvPr/>
        </p:nvSpPr>
        <p:spPr>
          <a:xfrm>
            <a:off x="2130552" y="3511296"/>
            <a:ext cx="1645920" cy="36576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6" name="Google Shape;636;p24"/>
          <p:cNvSpPr txBox="1"/>
          <p:nvPr/>
        </p:nvSpPr>
        <p:spPr>
          <a:xfrm>
            <a:off x="2130552" y="3529584"/>
            <a:ext cx="1645920" cy="33832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$2,000/yr</a:t>
            </a:r>
            <a:endParaRPr/>
          </a:p>
        </p:txBody>
      </p:sp>
      <p:sp>
        <p:nvSpPr>
          <p:cNvPr id="637" name="Google Shape;637;p24"/>
          <p:cNvSpPr/>
          <p:nvPr/>
        </p:nvSpPr>
        <p:spPr>
          <a:xfrm>
            <a:off x="3803904" y="3511296"/>
            <a:ext cx="1645920" cy="36576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8" name="Google Shape;638;p24"/>
          <p:cNvSpPr txBox="1"/>
          <p:nvPr/>
        </p:nvSpPr>
        <p:spPr>
          <a:xfrm>
            <a:off x="3803904" y="3529584"/>
            <a:ext cx="1645920" cy="33832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$100–$300</a:t>
            </a:r>
            <a:endParaRPr/>
          </a:p>
        </p:txBody>
      </p:sp>
      <p:sp>
        <p:nvSpPr>
          <p:cNvPr id="639" name="Google Shape;639;p24"/>
          <p:cNvSpPr/>
          <p:nvPr/>
        </p:nvSpPr>
        <p:spPr>
          <a:xfrm>
            <a:off x="5477256" y="3511296"/>
            <a:ext cx="1371600" cy="36576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0" name="Google Shape;640;p24"/>
          <p:cNvSpPr txBox="1"/>
          <p:nvPr/>
        </p:nvSpPr>
        <p:spPr>
          <a:xfrm>
            <a:off x="5477256" y="3529584"/>
            <a:ext cx="1371600" cy="33832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39C12"/>
                </a:solidFill>
                <a:latin typeface="Calibri"/>
                <a:ea typeface="Calibri"/>
                <a:cs typeface="Calibri"/>
                <a:sym typeface="Calibri"/>
              </a:rPr>
              <a:t>$2,000</a:t>
            </a:r>
            <a:endParaRPr/>
          </a:p>
        </p:txBody>
      </p:sp>
      <p:sp>
        <p:nvSpPr>
          <p:cNvPr id="641" name="Google Shape;641;p24"/>
          <p:cNvSpPr/>
          <p:nvPr/>
        </p:nvSpPr>
        <p:spPr>
          <a:xfrm>
            <a:off x="6876288" y="3511296"/>
            <a:ext cx="2011680" cy="36576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2" name="Google Shape;642;p24"/>
          <p:cNvSpPr txBox="1"/>
          <p:nvPr/>
        </p:nvSpPr>
        <p:spPr>
          <a:xfrm>
            <a:off x="6876288" y="3529584"/>
            <a:ext cx="2011680" cy="33832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39C12"/>
                </a:solidFill>
                <a:latin typeface="Calibri"/>
                <a:ea typeface="Calibri"/>
                <a:cs typeface="Calibri"/>
                <a:sym typeface="Calibri"/>
              </a:rPr>
              <a:t>MODERATE</a:t>
            </a:r>
            <a:endParaRPr/>
          </a:p>
        </p:txBody>
      </p:sp>
      <p:sp>
        <p:nvSpPr>
          <p:cNvPr id="643" name="Google Shape;643;p24"/>
          <p:cNvSpPr/>
          <p:nvPr/>
        </p:nvSpPr>
        <p:spPr>
          <a:xfrm>
            <a:off x="8915400" y="3511296"/>
            <a:ext cx="2377440" cy="36576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4" name="Google Shape;644;p24"/>
          <p:cNvSpPr txBox="1"/>
          <p:nvPr/>
        </p:nvSpPr>
        <p:spPr>
          <a:xfrm>
            <a:off x="8915400" y="3529584"/>
            <a:ext cx="2377440" cy="33832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1B998B"/>
                </a:solidFill>
                <a:latin typeface="Calibri"/>
                <a:ea typeface="Calibri"/>
                <a:cs typeface="Calibri"/>
                <a:sym typeface="Calibri"/>
              </a:rPr>
              <a:t>3rd — Phase 2</a:t>
            </a:r>
            <a:endParaRPr/>
          </a:p>
        </p:txBody>
      </p:sp>
      <p:sp>
        <p:nvSpPr>
          <p:cNvPr id="645" name="Google Shape;645;p24"/>
          <p:cNvSpPr/>
          <p:nvPr/>
        </p:nvSpPr>
        <p:spPr>
          <a:xfrm>
            <a:off x="457200" y="3895344"/>
            <a:ext cx="1645920" cy="365760"/>
          </a:xfrm>
          <a:prstGeom prst="rect">
            <a:avLst/>
          </a:prstGeom>
          <a:solidFill>
            <a:srgbClr val="1A2A3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6" name="Google Shape;646;p24"/>
          <p:cNvSpPr txBox="1"/>
          <p:nvPr/>
        </p:nvSpPr>
        <p:spPr>
          <a:xfrm>
            <a:off x="457200" y="3913632"/>
            <a:ext cx="1645920" cy="33832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Bronze</a:t>
            </a:r>
            <a:endParaRPr/>
          </a:p>
        </p:txBody>
      </p:sp>
      <p:sp>
        <p:nvSpPr>
          <p:cNvPr id="647" name="Google Shape;647;p24"/>
          <p:cNvSpPr/>
          <p:nvPr/>
        </p:nvSpPr>
        <p:spPr>
          <a:xfrm>
            <a:off x="2130552" y="3895344"/>
            <a:ext cx="1645920" cy="365760"/>
          </a:xfrm>
          <a:prstGeom prst="rect">
            <a:avLst/>
          </a:prstGeom>
          <a:solidFill>
            <a:srgbClr val="1A2A3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8" name="Google Shape;648;p24"/>
          <p:cNvSpPr txBox="1"/>
          <p:nvPr/>
        </p:nvSpPr>
        <p:spPr>
          <a:xfrm>
            <a:off x="2130552" y="3913632"/>
            <a:ext cx="1645920" cy="33832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$500/yr</a:t>
            </a:r>
            <a:endParaRPr/>
          </a:p>
        </p:txBody>
      </p:sp>
      <p:sp>
        <p:nvSpPr>
          <p:cNvPr id="649" name="Google Shape;649;p24"/>
          <p:cNvSpPr/>
          <p:nvPr/>
        </p:nvSpPr>
        <p:spPr>
          <a:xfrm>
            <a:off x="3803904" y="3895344"/>
            <a:ext cx="1645920" cy="365760"/>
          </a:xfrm>
          <a:prstGeom prst="rect">
            <a:avLst/>
          </a:prstGeom>
          <a:solidFill>
            <a:srgbClr val="1A2A3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0" name="Google Shape;650;p24"/>
          <p:cNvSpPr txBox="1"/>
          <p:nvPr/>
        </p:nvSpPr>
        <p:spPr>
          <a:xfrm>
            <a:off x="3803904" y="3913632"/>
            <a:ext cx="1645920" cy="33832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FFFFF"/>
                </a:solidFill>
                <a:latin typeface="Calibri"/>
                <a:ea typeface="Calibri"/>
                <a:cs typeface="Calibri"/>
                <a:sym typeface="Calibri"/>
              </a:rPr>
              <a:t>$50–$200</a:t>
            </a:r>
            <a:endParaRPr/>
          </a:p>
        </p:txBody>
      </p:sp>
      <p:sp>
        <p:nvSpPr>
          <p:cNvPr id="651" name="Google Shape;651;p24"/>
          <p:cNvSpPr/>
          <p:nvPr/>
        </p:nvSpPr>
        <p:spPr>
          <a:xfrm>
            <a:off x="5477256" y="3895344"/>
            <a:ext cx="1371600" cy="365760"/>
          </a:xfrm>
          <a:prstGeom prst="rect">
            <a:avLst/>
          </a:prstGeom>
          <a:solidFill>
            <a:srgbClr val="1A2A3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2" name="Google Shape;652;p24"/>
          <p:cNvSpPr txBox="1"/>
          <p:nvPr/>
        </p:nvSpPr>
        <p:spPr>
          <a:xfrm>
            <a:off x="5477256" y="3913632"/>
            <a:ext cx="1371600" cy="33832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F39C12"/>
                </a:solidFill>
                <a:latin typeface="Calibri"/>
                <a:ea typeface="Calibri"/>
                <a:cs typeface="Calibri"/>
                <a:sym typeface="Calibri"/>
              </a:rPr>
              <a:t>$500</a:t>
            </a:r>
            <a:endParaRPr/>
          </a:p>
        </p:txBody>
      </p:sp>
      <p:sp>
        <p:nvSpPr>
          <p:cNvPr id="653" name="Google Shape;653;p24"/>
          <p:cNvSpPr/>
          <p:nvPr/>
        </p:nvSpPr>
        <p:spPr>
          <a:xfrm>
            <a:off x="6876288" y="3895344"/>
            <a:ext cx="2011680" cy="365760"/>
          </a:xfrm>
          <a:prstGeom prst="rect">
            <a:avLst/>
          </a:prstGeom>
          <a:solidFill>
            <a:srgbClr val="1A2A3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4" name="Google Shape;654;p24"/>
          <p:cNvSpPr txBox="1"/>
          <p:nvPr/>
        </p:nvSpPr>
        <p:spPr>
          <a:xfrm>
            <a:off x="6876288" y="3913632"/>
            <a:ext cx="2011680" cy="33832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2ECC71"/>
                </a:solidFill>
                <a:latin typeface="Calibri"/>
                <a:ea typeface="Calibri"/>
                <a:cs typeface="Calibri"/>
                <a:sym typeface="Calibri"/>
              </a:rPr>
              <a:t>LOW</a:t>
            </a:r>
            <a:endParaRPr/>
          </a:p>
        </p:txBody>
      </p:sp>
      <p:sp>
        <p:nvSpPr>
          <p:cNvPr id="655" name="Google Shape;655;p24"/>
          <p:cNvSpPr/>
          <p:nvPr/>
        </p:nvSpPr>
        <p:spPr>
          <a:xfrm>
            <a:off x="8915400" y="3895344"/>
            <a:ext cx="2377440" cy="365760"/>
          </a:xfrm>
          <a:prstGeom prst="rect">
            <a:avLst/>
          </a:prstGeom>
          <a:solidFill>
            <a:srgbClr val="1A2A3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6" name="Google Shape;656;p24"/>
          <p:cNvSpPr txBox="1"/>
          <p:nvPr/>
        </p:nvSpPr>
        <p:spPr>
          <a:xfrm>
            <a:off x="8915400" y="3913632"/>
            <a:ext cx="2377440" cy="33832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rgbClr val="1B998B"/>
                </a:solidFill>
                <a:latin typeface="Calibri"/>
                <a:ea typeface="Calibri"/>
                <a:cs typeface="Calibri"/>
                <a:sym typeface="Calibri"/>
              </a:rPr>
              <a:t>Standard queue</a:t>
            </a:r>
            <a:endParaRPr/>
          </a:p>
        </p:txBody>
      </p:sp>
      <p:sp>
        <p:nvSpPr>
          <p:cNvPr id="657" name="Google Shape;657;p24"/>
          <p:cNvSpPr txBox="1"/>
          <p:nvPr/>
        </p:nvSpPr>
        <p:spPr>
          <a:xfrm>
            <a:off x="457200" y="4480560"/>
            <a:ext cx="109728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1B998B"/>
                </a:solidFill>
                <a:latin typeface="Calibri"/>
                <a:ea typeface="Calibri"/>
                <a:cs typeface="Calibri"/>
                <a:sym typeface="Calibri"/>
              </a:rPr>
              <a:t>STRATEGIC RECOMMENDATION: CLV-Tiered Automation Rollout</a:t>
            </a:r>
            <a:endParaRPr/>
          </a:p>
        </p:txBody>
      </p:sp>
      <p:sp>
        <p:nvSpPr>
          <p:cNvPr id="658" name="Google Shape;658;p24"/>
          <p:cNvSpPr/>
          <p:nvPr/>
        </p:nvSpPr>
        <p:spPr>
          <a:xfrm>
            <a:off x="457200" y="4892040"/>
            <a:ext cx="3657600" cy="169164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9" name="Google Shape;659;p24"/>
          <p:cNvSpPr/>
          <p:nvPr/>
        </p:nvSpPr>
        <p:spPr>
          <a:xfrm>
            <a:off x="457200" y="4892040"/>
            <a:ext cx="3657600" cy="45720"/>
          </a:xfrm>
          <a:prstGeom prst="rect">
            <a:avLst/>
          </a:prstGeom>
          <a:solidFill>
            <a:srgbClr val="8E44A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0" name="Google Shape;660;p24"/>
          <p:cNvSpPr txBox="1"/>
          <p:nvPr/>
        </p:nvSpPr>
        <p:spPr>
          <a:xfrm>
            <a:off x="566928" y="4983480"/>
            <a:ext cx="3474720"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8E44AD"/>
                </a:solidFill>
                <a:latin typeface="Calibri"/>
                <a:ea typeface="Calibri"/>
                <a:cs typeface="Calibri"/>
                <a:sym typeface="Calibri"/>
              </a:rPr>
              <a:t>🥇 Phase 0 (Pre-launch)</a:t>
            </a:r>
            <a:endParaRPr/>
          </a:p>
        </p:txBody>
      </p:sp>
      <p:sp>
        <p:nvSpPr>
          <p:cNvPr id="661" name="Google Shape;661;p24"/>
          <p:cNvSpPr txBox="1"/>
          <p:nvPr/>
        </p:nvSpPr>
        <p:spPr>
          <a:xfrm>
            <a:off x="566928" y="5303520"/>
            <a:ext cx="347472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FFFFFF"/>
                </a:solidFill>
                <a:latin typeface="Calibri"/>
                <a:ea typeface="Calibri"/>
                <a:cs typeface="Calibri"/>
                <a:sym typeface="Calibri"/>
              </a:rPr>
              <a:t>Surprise &amp; Delight Platinum + Gold first.</a:t>
            </a:r>
            <a:endParaRPr/>
          </a:p>
        </p:txBody>
      </p:sp>
      <p:sp>
        <p:nvSpPr>
          <p:cNvPr id="662" name="Google Shape;662;p24"/>
          <p:cNvSpPr txBox="1"/>
          <p:nvPr/>
        </p:nvSpPr>
        <p:spPr>
          <a:xfrm>
            <a:off x="566928" y="5577840"/>
            <a:ext cx="34747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A0A0A0"/>
                </a:solidFill>
                <a:latin typeface="Calibri"/>
                <a:ea typeface="Calibri"/>
                <a:cs typeface="Calibri"/>
                <a:sym typeface="Calibri"/>
              </a:rPr>
              <a:t>Configure auto-approve AND priority routing for Tier 1-2 members 2 weeks BEFORE general rollout.</a:t>
            </a:r>
            <a:endParaRPr/>
          </a:p>
        </p:txBody>
      </p:sp>
      <p:sp>
        <p:nvSpPr>
          <p:cNvPr id="663" name="Google Shape;663;p24"/>
          <p:cNvSpPr txBox="1"/>
          <p:nvPr/>
        </p:nvSpPr>
        <p:spPr>
          <a:xfrm>
            <a:off x="566928" y="6126480"/>
            <a:ext cx="34746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1B998B"/>
                </a:solidFill>
                <a:latin typeface="Calibri"/>
                <a:ea typeface="Calibri"/>
                <a:cs typeface="Calibri"/>
                <a:sym typeface="Calibri"/>
              </a:rPr>
              <a:t>Impact: Turn top 20% of customers into brand advocates before scaling.</a:t>
            </a:r>
            <a:endParaRPr b="1" sz="1500"/>
          </a:p>
        </p:txBody>
      </p:sp>
      <p:sp>
        <p:nvSpPr>
          <p:cNvPr id="664" name="Google Shape;664;p24"/>
          <p:cNvSpPr/>
          <p:nvPr/>
        </p:nvSpPr>
        <p:spPr>
          <a:xfrm>
            <a:off x="4251960" y="4892040"/>
            <a:ext cx="3657600" cy="169164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5" name="Google Shape;665;p24"/>
          <p:cNvSpPr/>
          <p:nvPr/>
        </p:nvSpPr>
        <p:spPr>
          <a:xfrm>
            <a:off x="4251960" y="4892040"/>
            <a:ext cx="3657600" cy="45720"/>
          </a:xfrm>
          <a:prstGeom prst="rect">
            <a:avLst/>
          </a:prstGeom>
          <a:solidFill>
            <a:srgbClr val="1B998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6" name="Google Shape;666;p24"/>
          <p:cNvSpPr txBox="1"/>
          <p:nvPr/>
        </p:nvSpPr>
        <p:spPr>
          <a:xfrm>
            <a:off x="4361688" y="4983480"/>
            <a:ext cx="3474720"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1B998B"/>
                </a:solidFill>
                <a:latin typeface="Calibri"/>
                <a:ea typeface="Calibri"/>
                <a:cs typeface="Calibri"/>
                <a:sym typeface="Calibri"/>
              </a:rPr>
              <a:t>📊 FCRT SLA Tiers</a:t>
            </a:r>
            <a:endParaRPr/>
          </a:p>
        </p:txBody>
      </p:sp>
      <p:sp>
        <p:nvSpPr>
          <p:cNvPr id="667" name="Google Shape;667;p24"/>
          <p:cNvSpPr txBox="1"/>
          <p:nvPr/>
        </p:nvSpPr>
        <p:spPr>
          <a:xfrm>
            <a:off x="4361688" y="5303520"/>
            <a:ext cx="347472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FFFFFF"/>
                </a:solidFill>
                <a:latin typeface="Calibri"/>
                <a:ea typeface="Calibri"/>
                <a:cs typeface="Calibri"/>
                <a:sym typeface="Calibri"/>
              </a:rPr>
              <a:t>Set differentiated SLA targets by tier.</a:t>
            </a:r>
            <a:endParaRPr/>
          </a:p>
        </p:txBody>
      </p:sp>
      <p:sp>
        <p:nvSpPr>
          <p:cNvPr id="668" name="Google Shape;668;p24"/>
          <p:cNvSpPr txBox="1"/>
          <p:nvPr/>
        </p:nvSpPr>
        <p:spPr>
          <a:xfrm>
            <a:off x="4361688" y="5577840"/>
            <a:ext cx="34747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A0A0A0"/>
                </a:solidFill>
                <a:latin typeface="Calibri"/>
                <a:ea typeface="Calibri"/>
                <a:cs typeface="Calibri"/>
                <a:sym typeface="Calibri"/>
              </a:rPr>
              <a:t>Platinum: &lt;5 min FCRT target | Gold: &lt;15 min | Silver: &lt;30 min | Bronze: &lt;60 min.</a:t>
            </a:r>
            <a:endParaRPr/>
          </a:p>
        </p:txBody>
      </p:sp>
      <p:sp>
        <p:nvSpPr>
          <p:cNvPr id="669" name="Google Shape;669;p24"/>
          <p:cNvSpPr txBox="1"/>
          <p:nvPr/>
        </p:nvSpPr>
        <p:spPr>
          <a:xfrm>
            <a:off x="4361688" y="6126480"/>
            <a:ext cx="34746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1B998B"/>
                </a:solidFill>
                <a:latin typeface="Calibri"/>
                <a:ea typeface="Calibri"/>
                <a:cs typeface="Calibri"/>
                <a:sym typeface="Calibri"/>
              </a:rPr>
              <a:t>Even small FCRT gains matter 20x more for Platinum than Bronze in CLV terms.</a:t>
            </a:r>
            <a:endParaRPr b="1" sz="1500"/>
          </a:p>
        </p:txBody>
      </p:sp>
      <p:sp>
        <p:nvSpPr>
          <p:cNvPr id="670" name="Google Shape;670;p24"/>
          <p:cNvSpPr/>
          <p:nvPr/>
        </p:nvSpPr>
        <p:spPr>
          <a:xfrm>
            <a:off x="8046720" y="4892040"/>
            <a:ext cx="3657600" cy="169164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1" name="Google Shape;671;p24"/>
          <p:cNvSpPr/>
          <p:nvPr/>
        </p:nvSpPr>
        <p:spPr>
          <a:xfrm>
            <a:off x="8046720" y="4892040"/>
            <a:ext cx="3657600" cy="45720"/>
          </a:xfrm>
          <a:prstGeom prst="rect">
            <a:avLst/>
          </a:prstGeom>
          <a:solidFill>
            <a:srgbClr val="2ECC71"/>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2" name="Google Shape;672;p24"/>
          <p:cNvSpPr txBox="1"/>
          <p:nvPr/>
        </p:nvSpPr>
        <p:spPr>
          <a:xfrm>
            <a:off x="8156448" y="4983480"/>
            <a:ext cx="3474720" cy="292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2ECC71"/>
                </a:solidFill>
                <a:latin typeface="Calibri"/>
                <a:ea typeface="Calibri"/>
                <a:cs typeface="Calibri"/>
                <a:sym typeface="Calibri"/>
              </a:rPr>
              <a:t>🔔 Proactive Escalation</a:t>
            </a:r>
            <a:endParaRPr/>
          </a:p>
        </p:txBody>
      </p:sp>
      <p:sp>
        <p:nvSpPr>
          <p:cNvPr id="673" name="Google Shape;673;p24"/>
          <p:cNvSpPr txBox="1"/>
          <p:nvPr/>
        </p:nvSpPr>
        <p:spPr>
          <a:xfrm>
            <a:off x="8156448" y="5303520"/>
            <a:ext cx="347472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FFFFFF"/>
                </a:solidFill>
                <a:latin typeface="Calibri"/>
                <a:ea typeface="Calibri"/>
                <a:cs typeface="Calibri"/>
                <a:sym typeface="Calibri"/>
              </a:rPr>
              <a:t>Auto-flag Platinum/Gold cases breaching 30 mins.</a:t>
            </a:r>
            <a:endParaRPr/>
          </a:p>
        </p:txBody>
      </p:sp>
      <p:sp>
        <p:nvSpPr>
          <p:cNvPr id="674" name="Google Shape;674;p24"/>
          <p:cNvSpPr txBox="1"/>
          <p:nvPr/>
        </p:nvSpPr>
        <p:spPr>
          <a:xfrm>
            <a:off x="8156448" y="5577840"/>
            <a:ext cx="347472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50" u="none" cap="none" strike="noStrike">
                <a:solidFill>
                  <a:srgbClr val="A0A0A0"/>
                </a:solidFill>
                <a:latin typeface="Calibri"/>
                <a:ea typeface="Calibri"/>
                <a:cs typeface="Calibri"/>
                <a:sym typeface="Calibri"/>
              </a:rPr>
              <a:t>Supervisor alert triggered at 30-min mark for top-tier cases (vs. 120-min general SLA).</a:t>
            </a:r>
            <a:endParaRPr/>
          </a:p>
        </p:txBody>
      </p:sp>
      <p:sp>
        <p:nvSpPr>
          <p:cNvPr id="675" name="Google Shape;675;p24"/>
          <p:cNvSpPr txBox="1"/>
          <p:nvPr/>
        </p:nvSpPr>
        <p:spPr>
          <a:xfrm>
            <a:off x="8156448" y="6126480"/>
            <a:ext cx="34746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1B998B"/>
                </a:solidFill>
                <a:latin typeface="Calibri"/>
                <a:ea typeface="Calibri"/>
                <a:cs typeface="Calibri"/>
                <a:sym typeface="Calibri"/>
              </a:rPr>
              <a:t>Cost: ~0 engineering effort (config change). Benefit: Protect $10K+/yr accounts.</a:t>
            </a:r>
            <a:endParaRPr b="1" sz="15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825"/>
        </a:solidFill>
      </p:bgPr>
    </p:bg>
    <p:spTree>
      <p:nvGrpSpPr>
        <p:cNvPr id="680" name="Shape 680"/>
        <p:cNvGrpSpPr/>
        <p:nvPr/>
      </p:nvGrpSpPr>
      <p:grpSpPr>
        <a:xfrm>
          <a:off x="0" y="0"/>
          <a:ext cx="0" cy="0"/>
          <a:chOff x="0" y="0"/>
          <a:chExt cx="0" cy="0"/>
        </a:xfrm>
      </p:grpSpPr>
      <p:sp>
        <p:nvSpPr>
          <p:cNvPr id="681" name="Google Shape;681;p25"/>
          <p:cNvSpPr/>
          <p:nvPr/>
        </p:nvSpPr>
        <p:spPr>
          <a:xfrm>
            <a:off x="548625" y="268224"/>
            <a:ext cx="11094600" cy="670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00"/>
              <a:buFont typeface="Calibri"/>
              <a:buNone/>
            </a:pPr>
            <a:r>
              <a:rPr b="1" i="0" lang="en-US" sz="2900" u="none" cap="none" strike="noStrike">
                <a:solidFill>
                  <a:srgbClr val="FFFFFF"/>
                </a:solidFill>
                <a:latin typeface="Calibri"/>
                <a:ea typeface="Calibri"/>
                <a:cs typeface="Calibri"/>
                <a:sym typeface="Calibri"/>
              </a:rPr>
              <a:t>The Cost of Doing Nothing Is Not Zero</a:t>
            </a:r>
            <a:endParaRPr b="0" i="0" sz="2900" u="none" cap="none" strike="noStrike">
              <a:solidFill>
                <a:schemeClr val="dk1"/>
              </a:solidFill>
              <a:latin typeface="Calibri"/>
              <a:ea typeface="Calibri"/>
              <a:cs typeface="Calibri"/>
              <a:sym typeface="Calibri"/>
            </a:endParaRPr>
          </a:p>
        </p:txBody>
      </p:sp>
      <p:sp>
        <p:nvSpPr>
          <p:cNvPr id="682" name="Google Shape;682;p25"/>
          <p:cNvSpPr/>
          <p:nvPr/>
        </p:nvSpPr>
        <p:spPr>
          <a:xfrm>
            <a:off x="548625" y="1097280"/>
            <a:ext cx="11094600" cy="536400"/>
          </a:xfrm>
          <a:prstGeom prst="rect">
            <a:avLst/>
          </a:prstGeom>
          <a:solidFill>
            <a:srgbClr val="2A1215"/>
          </a:solidFill>
          <a:ln cap="flat" cmpd="sng" w="16925">
            <a:solidFill>
              <a:srgbClr val="EF444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83" name="Google Shape;683;p25"/>
          <p:cNvSpPr/>
          <p:nvPr/>
        </p:nvSpPr>
        <p:spPr>
          <a:xfrm>
            <a:off x="548625" y="1097280"/>
            <a:ext cx="73200" cy="536400"/>
          </a:xfrm>
          <a:prstGeom prst="rect">
            <a:avLst/>
          </a:prstGeom>
          <a:solidFill>
            <a:srgbClr val="EF4444"/>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84" name="Google Shape;684;p25"/>
          <p:cNvSpPr/>
          <p:nvPr/>
        </p:nvSpPr>
        <p:spPr>
          <a:xfrm>
            <a:off x="731500" y="1097280"/>
            <a:ext cx="10789800" cy="53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1500"/>
              <a:buFont typeface="Calibri"/>
              <a:buNone/>
            </a:pPr>
            <a:r>
              <a:rPr b="0" i="1" lang="en-US" sz="1500" u="none" cap="none" strike="noStrike">
                <a:solidFill>
                  <a:srgbClr val="CBD5E1"/>
                </a:solidFill>
                <a:latin typeface="Calibri"/>
                <a:ea typeface="Calibri"/>
                <a:cs typeface="Calibri"/>
                <a:sym typeface="Calibri"/>
              </a:rPr>
              <a:t>At current trajectory, every year the refund process continues unchanged costs Agoda:</a:t>
            </a:r>
            <a:endParaRPr b="0" i="0" sz="1500" u="none" cap="none" strike="noStrike">
              <a:solidFill>
                <a:schemeClr val="dk1"/>
              </a:solidFill>
              <a:latin typeface="Calibri"/>
              <a:ea typeface="Calibri"/>
              <a:cs typeface="Calibri"/>
              <a:sym typeface="Calibri"/>
            </a:endParaRPr>
          </a:p>
        </p:txBody>
      </p:sp>
      <p:sp>
        <p:nvSpPr>
          <p:cNvPr id="685" name="Google Shape;685;p25"/>
          <p:cNvSpPr/>
          <p:nvPr/>
        </p:nvSpPr>
        <p:spPr>
          <a:xfrm>
            <a:off x="548625" y="1731264"/>
            <a:ext cx="3633000" cy="54900"/>
          </a:xfrm>
          <a:prstGeom prst="rect">
            <a:avLst/>
          </a:prstGeom>
          <a:solidFill>
            <a:srgbClr val="EF4444"/>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86" name="Google Shape;686;p25"/>
          <p:cNvSpPr/>
          <p:nvPr/>
        </p:nvSpPr>
        <p:spPr>
          <a:xfrm>
            <a:off x="4303661" y="1731264"/>
            <a:ext cx="3633000" cy="54900"/>
          </a:xfrm>
          <a:prstGeom prst="rect">
            <a:avLst/>
          </a:prstGeom>
          <a:solidFill>
            <a:srgbClr val="EF4444"/>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87" name="Google Shape;687;p25"/>
          <p:cNvSpPr/>
          <p:nvPr/>
        </p:nvSpPr>
        <p:spPr>
          <a:xfrm>
            <a:off x="8058697" y="1731264"/>
            <a:ext cx="3633000" cy="54900"/>
          </a:xfrm>
          <a:prstGeom prst="rect">
            <a:avLst/>
          </a:prstGeom>
          <a:solidFill>
            <a:srgbClr val="EF4444"/>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688" name="Google Shape;688;p25"/>
          <p:cNvGrpSpPr/>
          <p:nvPr/>
        </p:nvGrpSpPr>
        <p:grpSpPr>
          <a:xfrm>
            <a:off x="548625" y="1731208"/>
            <a:ext cx="11143072" cy="1950911"/>
            <a:chOff x="548625" y="1731264"/>
            <a:chExt cx="11143072" cy="2194500"/>
          </a:xfrm>
        </p:grpSpPr>
        <p:sp>
          <p:nvSpPr>
            <p:cNvPr id="689" name="Google Shape;689;p25"/>
            <p:cNvSpPr/>
            <p:nvPr/>
          </p:nvSpPr>
          <p:spPr>
            <a:xfrm>
              <a:off x="548625" y="1731264"/>
              <a:ext cx="3633000" cy="2194500"/>
            </a:xfrm>
            <a:prstGeom prst="rect">
              <a:avLst/>
            </a:prstGeom>
            <a:solidFill>
              <a:srgbClr val="200D0D"/>
            </a:solidFill>
            <a:ln cap="flat" cmpd="sng" w="12700">
              <a:solidFill>
                <a:srgbClr val="EF4444"/>
              </a:solidFill>
              <a:prstDash val="solid"/>
              <a:round/>
              <a:headEnd len="sm" w="sm" type="none"/>
              <a:tailEnd len="sm" w="sm" type="none"/>
            </a:ln>
            <a:effectLst>
              <a:outerShdw blurRad="169330" rotWithShape="0" algn="bl" dir="8100000" dist="50799">
                <a:srgbClr val="000000">
                  <a:alpha val="25099"/>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pic>
          <p:nvPicPr>
            <p:cNvPr descr="preencoded.png" id="690" name="Google Shape;690;p25"/>
            <p:cNvPicPr preferRelativeResize="0"/>
            <p:nvPr/>
          </p:nvPicPr>
          <p:blipFill rotWithShape="1">
            <a:blip r:embed="rId3">
              <a:alphaModFix/>
            </a:blip>
            <a:srcRect b="0" l="0" r="0" t="0"/>
            <a:stretch/>
          </p:blipFill>
          <p:spPr>
            <a:xfrm>
              <a:off x="731501" y="1901952"/>
              <a:ext cx="438900" cy="438900"/>
            </a:xfrm>
            <a:prstGeom prst="rect">
              <a:avLst/>
            </a:prstGeom>
            <a:noFill/>
            <a:ln>
              <a:noFill/>
            </a:ln>
          </p:spPr>
        </p:pic>
        <p:sp>
          <p:nvSpPr>
            <p:cNvPr id="691" name="Google Shape;691;p25"/>
            <p:cNvSpPr/>
            <p:nvPr/>
          </p:nvSpPr>
          <p:spPr>
            <a:xfrm>
              <a:off x="694925" y="2365248"/>
              <a:ext cx="3413400" cy="68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4000"/>
                <a:buFont typeface="Calibri"/>
                <a:buNone/>
              </a:pPr>
              <a:r>
                <a:rPr b="1" i="0" lang="en-US" sz="4000" u="none" cap="none" strike="noStrike">
                  <a:solidFill>
                    <a:srgbClr val="EF4444"/>
                  </a:solidFill>
                  <a:latin typeface="Calibri"/>
                  <a:ea typeface="Calibri"/>
                  <a:cs typeface="Calibri"/>
                  <a:sym typeface="Calibri"/>
                </a:rPr>
                <a:t>167,000</a:t>
              </a:r>
              <a:endParaRPr b="0" i="0" sz="4000" u="none" cap="none" strike="noStrike">
                <a:solidFill>
                  <a:schemeClr val="dk1"/>
                </a:solidFill>
                <a:latin typeface="Calibri"/>
                <a:ea typeface="Calibri"/>
                <a:cs typeface="Calibri"/>
                <a:sym typeface="Calibri"/>
              </a:endParaRPr>
            </a:p>
          </p:txBody>
        </p:sp>
        <p:sp>
          <p:nvSpPr>
            <p:cNvPr id="692" name="Google Shape;692;p25"/>
            <p:cNvSpPr/>
            <p:nvPr/>
          </p:nvSpPr>
          <p:spPr>
            <a:xfrm>
              <a:off x="694925" y="3035808"/>
              <a:ext cx="3413400" cy="26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300"/>
                <a:buFont typeface="Calibri"/>
                <a:buNone/>
              </a:pPr>
              <a:r>
                <a:rPr b="1" i="0" lang="en-US" sz="1300" u="none" cap="none" strike="noStrike">
                  <a:solidFill>
                    <a:srgbClr val="F59E0B"/>
                  </a:solidFill>
                  <a:latin typeface="Calibri"/>
                  <a:ea typeface="Calibri"/>
                  <a:cs typeface="Calibri"/>
                  <a:sym typeface="Calibri"/>
                </a:rPr>
                <a:t>agent-minutes</a:t>
              </a:r>
              <a:endParaRPr b="0" i="0" sz="1300" u="none" cap="none" strike="noStrike">
                <a:solidFill>
                  <a:schemeClr val="dk1"/>
                </a:solidFill>
                <a:latin typeface="Calibri"/>
                <a:ea typeface="Calibri"/>
                <a:cs typeface="Calibri"/>
                <a:sym typeface="Calibri"/>
              </a:endParaRPr>
            </a:p>
          </p:txBody>
        </p:sp>
        <p:sp>
          <p:nvSpPr>
            <p:cNvPr id="693" name="Google Shape;693;p25"/>
            <p:cNvSpPr/>
            <p:nvPr/>
          </p:nvSpPr>
          <p:spPr>
            <a:xfrm>
              <a:off x="694925" y="3291840"/>
              <a:ext cx="3413400" cy="243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1200"/>
                <a:buFont typeface="Calibri"/>
                <a:buNone/>
              </a:pPr>
              <a:r>
                <a:rPr b="0" i="0" lang="en-US" sz="1200" u="none" cap="none" strike="noStrike">
                  <a:solidFill>
                    <a:srgbClr val="CBD5E1"/>
                  </a:solidFill>
                  <a:latin typeface="Calibri"/>
                  <a:ea typeface="Calibri"/>
                  <a:cs typeface="Calibri"/>
                  <a:sym typeface="Calibri"/>
                </a:rPr>
                <a:t>wasted on automatable cases</a:t>
              </a:r>
              <a:endParaRPr b="0" i="0" sz="1200" u="none" cap="none" strike="noStrike">
                <a:solidFill>
                  <a:schemeClr val="dk1"/>
                </a:solidFill>
                <a:latin typeface="Calibri"/>
                <a:ea typeface="Calibri"/>
                <a:cs typeface="Calibri"/>
                <a:sym typeface="Calibri"/>
              </a:endParaRPr>
            </a:p>
          </p:txBody>
        </p:sp>
        <p:sp>
          <p:nvSpPr>
            <p:cNvPr id="694" name="Google Shape;694;p25"/>
            <p:cNvSpPr/>
            <p:nvPr/>
          </p:nvSpPr>
          <p:spPr>
            <a:xfrm>
              <a:off x="694925" y="3523488"/>
              <a:ext cx="3413400" cy="341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100"/>
                <a:buFont typeface="Calibri"/>
                <a:buNone/>
              </a:pPr>
              <a:r>
                <a:rPr b="0" i="1" lang="en-US" sz="1100" u="none" cap="none" strike="noStrike">
                  <a:solidFill>
                    <a:srgbClr val="94A3B8"/>
                  </a:solidFill>
                  <a:latin typeface="Calibri"/>
                  <a:ea typeface="Calibri"/>
                  <a:cs typeface="Calibri"/>
                  <a:sym typeface="Calibri"/>
                </a:rPr>
                <a:t>= 1 full-time agent's annual output consumed by rubber-stamping</a:t>
              </a:r>
              <a:endParaRPr b="0" i="0" sz="1100" u="none" cap="none" strike="noStrike">
                <a:solidFill>
                  <a:schemeClr val="dk1"/>
                </a:solidFill>
                <a:latin typeface="Calibri"/>
                <a:ea typeface="Calibri"/>
                <a:cs typeface="Calibri"/>
                <a:sym typeface="Calibri"/>
              </a:endParaRPr>
            </a:p>
          </p:txBody>
        </p:sp>
        <p:sp>
          <p:nvSpPr>
            <p:cNvPr id="695" name="Google Shape;695;p25"/>
            <p:cNvSpPr/>
            <p:nvPr/>
          </p:nvSpPr>
          <p:spPr>
            <a:xfrm>
              <a:off x="4303661" y="1731264"/>
              <a:ext cx="3633000" cy="2194500"/>
            </a:xfrm>
            <a:prstGeom prst="rect">
              <a:avLst/>
            </a:prstGeom>
            <a:solidFill>
              <a:srgbClr val="200D0D"/>
            </a:solidFill>
            <a:ln cap="flat" cmpd="sng" w="12700">
              <a:solidFill>
                <a:srgbClr val="EF4444"/>
              </a:solidFill>
              <a:prstDash val="solid"/>
              <a:round/>
              <a:headEnd len="sm" w="sm" type="none"/>
              <a:tailEnd len="sm" w="sm" type="none"/>
            </a:ln>
            <a:effectLst>
              <a:outerShdw blurRad="169330" rotWithShape="0" algn="bl" dir="8100000" dist="50799">
                <a:srgbClr val="000000">
                  <a:alpha val="25099"/>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pic>
          <p:nvPicPr>
            <p:cNvPr descr="preencoded.png" id="696" name="Google Shape;696;p25"/>
            <p:cNvPicPr preferRelativeResize="0"/>
            <p:nvPr/>
          </p:nvPicPr>
          <p:blipFill rotWithShape="1">
            <a:blip r:embed="rId4">
              <a:alphaModFix/>
            </a:blip>
            <a:srcRect b="0" l="0" r="0" t="0"/>
            <a:stretch/>
          </p:blipFill>
          <p:spPr>
            <a:xfrm>
              <a:off x="4486536" y="1901952"/>
              <a:ext cx="438900" cy="438900"/>
            </a:xfrm>
            <a:prstGeom prst="rect">
              <a:avLst/>
            </a:prstGeom>
            <a:noFill/>
            <a:ln>
              <a:noFill/>
            </a:ln>
          </p:spPr>
        </p:pic>
        <p:sp>
          <p:nvSpPr>
            <p:cNvPr id="697" name="Google Shape;697;p25"/>
            <p:cNvSpPr/>
            <p:nvPr/>
          </p:nvSpPr>
          <p:spPr>
            <a:xfrm>
              <a:off x="4449961" y="2365248"/>
              <a:ext cx="3413400" cy="68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4000"/>
                <a:buFont typeface="Calibri"/>
                <a:buNone/>
              </a:pPr>
              <a:r>
                <a:rPr b="1" i="0" lang="en-US" sz="4000" u="none" cap="none" strike="noStrike">
                  <a:solidFill>
                    <a:srgbClr val="EF4444"/>
                  </a:solidFill>
                  <a:latin typeface="Calibri"/>
                  <a:ea typeface="Calibri"/>
                  <a:cs typeface="Calibri"/>
                  <a:sym typeface="Calibri"/>
                </a:rPr>
                <a:t>$122K</a:t>
              </a:r>
              <a:endParaRPr b="0" i="0" sz="4000" u="none" cap="none" strike="noStrike">
                <a:solidFill>
                  <a:schemeClr val="dk1"/>
                </a:solidFill>
                <a:latin typeface="Calibri"/>
                <a:ea typeface="Calibri"/>
                <a:cs typeface="Calibri"/>
                <a:sym typeface="Calibri"/>
              </a:endParaRPr>
            </a:p>
          </p:txBody>
        </p:sp>
        <p:sp>
          <p:nvSpPr>
            <p:cNvPr id="698" name="Google Shape;698;p25"/>
            <p:cNvSpPr/>
            <p:nvPr/>
          </p:nvSpPr>
          <p:spPr>
            <a:xfrm>
              <a:off x="4449961" y="3035808"/>
              <a:ext cx="3413400" cy="26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300"/>
                <a:buFont typeface="Calibri"/>
                <a:buNone/>
              </a:pPr>
              <a:r>
                <a:rPr b="1" i="0" lang="en-US" sz="1300" u="none" cap="none" strike="noStrike">
                  <a:solidFill>
                    <a:srgbClr val="F59E0B"/>
                  </a:solidFill>
                  <a:latin typeface="Calibri"/>
                  <a:ea typeface="Calibri"/>
                  <a:cs typeface="Calibri"/>
                  <a:sym typeface="Calibri"/>
                </a:rPr>
                <a:t>in NR exceptions</a:t>
              </a:r>
              <a:endParaRPr b="0" i="0" sz="1300" u="none" cap="none" strike="noStrike">
                <a:solidFill>
                  <a:schemeClr val="dk1"/>
                </a:solidFill>
                <a:latin typeface="Calibri"/>
                <a:ea typeface="Calibri"/>
                <a:cs typeface="Calibri"/>
                <a:sym typeface="Calibri"/>
              </a:endParaRPr>
            </a:p>
          </p:txBody>
        </p:sp>
        <p:sp>
          <p:nvSpPr>
            <p:cNvPr id="699" name="Google Shape;699;p25"/>
            <p:cNvSpPr/>
            <p:nvPr/>
          </p:nvSpPr>
          <p:spPr>
            <a:xfrm>
              <a:off x="4449961" y="3291840"/>
              <a:ext cx="3413400" cy="243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1200"/>
                <a:buFont typeface="Calibri"/>
                <a:buNone/>
              </a:pPr>
              <a:r>
                <a:rPr b="0" i="0" lang="en-US" sz="1200" u="none" cap="none" strike="noStrike">
                  <a:solidFill>
                    <a:srgbClr val="CBD5E1"/>
                  </a:solidFill>
                  <a:latin typeface="Calibri"/>
                  <a:ea typeface="Calibri"/>
                  <a:cs typeface="Calibri"/>
                  <a:sym typeface="Calibri"/>
                </a:rPr>
                <a:t>governed by ad-hoc judgment</a:t>
              </a:r>
              <a:endParaRPr b="0" i="0" sz="1200" u="none" cap="none" strike="noStrike">
                <a:solidFill>
                  <a:schemeClr val="dk1"/>
                </a:solidFill>
                <a:latin typeface="Calibri"/>
                <a:ea typeface="Calibri"/>
                <a:cs typeface="Calibri"/>
                <a:sym typeface="Calibri"/>
              </a:endParaRPr>
            </a:p>
          </p:txBody>
        </p:sp>
        <p:sp>
          <p:nvSpPr>
            <p:cNvPr id="700" name="Google Shape;700;p25"/>
            <p:cNvSpPr/>
            <p:nvPr/>
          </p:nvSpPr>
          <p:spPr>
            <a:xfrm>
              <a:off x="4449961" y="3523488"/>
              <a:ext cx="3413400" cy="341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100"/>
                <a:buFont typeface="Calibri"/>
                <a:buNone/>
              </a:pPr>
              <a:r>
                <a:rPr b="0" i="1" lang="en-US" sz="1100" u="none" cap="none" strike="noStrike">
                  <a:solidFill>
                    <a:srgbClr val="94A3B8"/>
                  </a:solidFill>
                  <a:latin typeface="Calibri"/>
                  <a:ea typeface="Calibri"/>
                  <a:cs typeface="Calibri"/>
                  <a:sym typeface="Calibri"/>
                </a:rPr>
                <a:t>Zero audit trail. Zero consistency. One rogue approval, zero recourse.</a:t>
              </a:r>
              <a:endParaRPr b="0" i="0" sz="1100" u="none" cap="none" strike="noStrike">
                <a:solidFill>
                  <a:schemeClr val="dk1"/>
                </a:solidFill>
                <a:latin typeface="Calibri"/>
                <a:ea typeface="Calibri"/>
                <a:cs typeface="Calibri"/>
                <a:sym typeface="Calibri"/>
              </a:endParaRPr>
            </a:p>
          </p:txBody>
        </p:sp>
        <p:sp>
          <p:nvSpPr>
            <p:cNvPr id="701" name="Google Shape;701;p25"/>
            <p:cNvSpPr/>
            <p:nvPr/>
          </p:nvSpPr>
          <p:spPr>
            <a:xfrm>
              <a:off x="8058697" y="1731264"/>
              <a:ext cx="3633000" cy="2194500"/>
            </a:xfrm>
            <a:prstGeom prst="rect">
              <a:avLst/>
            </a:prstGeom>
            <a:solidFill>
              <a:srgbClr val="200D0D"/>
            </a:solidFill>
            <a:ln cap="flat" cmpd="sng" w="12700">
              <a:solidFill>
                <a:srgbClr val="EF4444"/>
              </a:solidFill>
              <a:prstDash val="solid"/>
              <a:round/>
              <a:headEnd len="sm" w="sm" type="none"/>
              <a:tailEnd len="sm" w="sm" type="none"/>
            </a:ln>
            <a:effectLst>
              <a:outerShdw blurRad="169330" rotWithShape="0" algn="bl" dir="8100000" dist="50799">
                <a:srgbClr val="000000">
                  <a:alpha val="25099"/>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pic>
          <p:nvPicPr>
            <p:cNvPr descr="preencoded.png" id="702" name="Google Shape;702;p25"/>
            <p:cNvPicPr preferRelativeResize="0"/>
            <p:nvPr/>
          </p:nvPicPr>
          <p:blipFill rotWithShape="1">
            <a:blip r:embed="rId5">
              <a:alphaModFix/>
            </a:blip>
            <a:srcRect b="0" l="0" r="0" t="0"/>
            <a:stretch/>
          </p:blipFill>
          <p:spPr>
            <a:xfrm>
              <a:off x="8241572" y="1901952"/>
              <a:ext cx="438900" cy="438900"/>
            </a:xfrm>
            <a:prstGeom prst="rect">
              <a:avLst/>
            </a:prstGeom>
            <a:noFill/>
            <a:ln>
              <a:noFill/>
            </a:ln>
          </p:spPr>
        </p:pic>
        <p:sp>
          <p:nvSpPr>
            <p:cNvPr id="703" name="Google Shape;703;p25"/>
            <p:cNvSpPr/>
            <p:nvPr/>
          </p:nvSpPr>
          <p:spPr>
            <a:xfrm>
              <a:off x="8204997" y="2365248"/>
              <a:ext cx="3413400" cy="68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4000"/>
                <a:buFont typeface="Calibri"/>
                <a:buNone/>
              </a:pPr>
              <a:r>
                <a:rPr b="1" i="0" lang="en-US" sz="4000" u="none" cap="none" strike="noStrike">
                  <a:solidFill>
                    <a:srgbClr val="EF4444"/>
                  </a:solidFill>
                  <a:latin typeface="Calibri"/>
                  <a:ea typeface="Calibri"/>
                  <a:cs typeface="Calibri"/>
                  <a:sym typeface="Calibri"/>
                </a:rPr>
                <a:t>403</a:t>
              </a:r>
              <a:endParaRPr b="0" i="0" sz="4000" u="none" cap="none" strike="noStrike">
                <a:solidFill>
                  <a:schemeClr val="dk1"/>
                </a:solidFill>
                <a:latin typeface="Calibri"/>
                <a:ea typeface="Calibri"/>
                <a:cs typeface="Calibri"/>
                <a:sym typeface="Calibri"/>
              </a:endParaRPr>
            </a:p>
          </p:txBody>
        </p:sp>
        <p:sp>
          <p:nvSpPr>
            <p:cNvPr id="704" name="Google Shape;704;p25"/>
            <p:cNvSpPr/>
            <p:nvPr/>
          </p:nvSpPr>
          <p:spPr>
            <a:xfrm>
              <a:off x="8204997" y="3035808"/>
              <a:ext cx="3413400" cy="26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300"/>
                <a:buFont typeface="Calibri"/>
                <a:buNone/>
              </a:pPr>
              <a:r>
                <a:rPr b="1" i="0" lang="en-US" sz="1300" u="none" cap="none" strike="noStrike">
                  <a:solidFill>
                    <a:srgbClr val="F59E0B"/>
                  </a:solidFill>
                  <a:latin typeface="Calibri"/>
                  <a:ea typeface="Calibri"/>
                  <a:cs typeface="Calibri"/>
                  <a:sym typeface="Calibri"/>
                </a:rPr>
                <a:t>SLA breaches / year</a:t>
              </a:r>
              <a:endParaRPr b="0" i="0" sz="1300" u="none" cap="none" strike="noStrike">
                <a:solidFill>
                  <a:schemeClr val="dk1"/>
                </a:solidFill>
                <a:latin typeface="Calibri"/>
                <a:ea typeface="Calibri"/>
                <a:cs typeface="Calibri"/>
                <a:sym typeface="Calibri"/>
              </a:endParaRPr>
            </a:p>
          </p:txBody>
        </p:sp>
        <p:sp>
          <p:nvSpPr>
            <p:cNvPr id="705" name="Google Shape;705;p25"/>
            <p:cNvSpPr/>
            <p:nvPr/>
          </p:nvSpPr>
          <p:spPr>
            <a:xfrm>
              <a:off x="8204997" y="3291840"/>
              <a:ext cx="3413400" cy="243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1200"/>
                <a:buFont typeface="Calibri"/>
                <a:buNone/>
              </a:pPr>
              <a:r>
                <a:rPr b="0" i="0" lang="en-US" sz="1200" u="none" cap="none" strike="noStrike">
                  <a:solidFill>
                    <a:srgbClr val="CBD5E1"/>
                  </a:solidFill>
                  <a:latin typeface="Calibri"/>
                  <a:ea typeface="Calibri"/>
                  <a:cs typeface="Calibri"/>
                  <a:sym typeface="Calibri"/>
                </a:rPr>
                <a:t>ALL from email + non-refundable</a:t>
              </a:r>
              <a:endParaRPr b="0" i="0" sz="1200" u="none" cap="none" strike="noStrike">
                <a:solidFill>
                  <a:schemeClr val="dk1"/>
                </a:solidFill>
                <a:latin typeface="Calibri"/>
                <a:ea typeface="Calibri"/>
                <a:cs typeface="Calibri"/>
                <a:sym typeface="Calibri"/>
              </a:endParaRPr>
            </a:p>
          </p:txBody>
        </p:sp>
        <p:sp>
          <p:nvSpPr>
            <p:cNvPr id="706" name="Google Shape;706;p25"/>
            <p:cNvSpPr/>
            <p:nvPr/>
          </p:nvSpPr>
          <p:spPr>
            <a:xfrm>
              <a:off x="8204997" y="3523488"/>
              <a:ext cx="3413400" cy="341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100"/>
                <a:buFont typeface="Calibri"/>
                <a:buNone/>
              </a:pPr>
              <a:r>
                <a:rPr b="0" i="1" lang="en-US" sz="1100" u="none" cap="none" strike="noStrike">
                  <a:solidFill>
                    <a:srgbClr val="94A3B8"/>
                  </a:solidFill>
                  <a:latin typeface="Calibri"/>
                  <a:ea typeface="Calibri"/>
                  <a:cs typeface="Calibri"/>
                  <a:sym typeface="Calibri"/>
                </a:rPr>
                <a:t>403 customers waiting 120+ minutes. Every single one on a channel we can fix.</a:t>
              </a:r>
              <a:endParaRPr b="0" i="0" sz="1100" u="none" cap="none" strike="noStrike">
                <a:solidFill>
                  <a:schemeClr val="dk1"/>
                </a:solidFill>
                <a:latin typeface="Calibri"/>
                <a:ea typeface="Calibri"/>
                <a:cs typeface="Calibri"/>
                <a:sym typeface="Calibri"/>
              </a:endParaRPr>
            </a:p>
          </p:txBody>
        </p:sp>
      </p:grpSp>
      <p:grpSp>
        <p:nvGrpSpPr>
          <p:cNvPr id="707" name="Google Shape;707;p25"/>
          <p:cNvGrpSpPr/>
          <p:nvPr/>
        </p:nvGrpSpPr>
        <p:grpSpPr>
          <a:xfrm>
            <a:off x="548538" y="3779644"/>
            <a:ext cx="11094600" cy="463200"/>
            <a:chOff x="548625" y="4047744"/>
            <a:chExt cx="11094600" cy="463200"/>
          </a:xfrm>
        </p:grpSpPr>
        <p:sp>
          <p:nvSpPr>
            <p:cNvPr id="708" name="Google Shape;708;p25"/>
            <p:cNvSpPr/>
            <p:nvPr/>
          </p:nvSpPr>
          <p:spPr>
            <a:xfrm>
              <a:off x="548625" y="4047744"/>
              <a:ext cx="11094600" cy="463200"/>
            </a:xfrm>
            <a:prstGeom prst="rect">
              <a:avLst/>
            </a:prstGeom>
            <a:solidFill>
              <a:srgbClr val="16243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pic>
          <p:nvPicPr>
            <p:cNvPr descr="preencoded.png" id="709" name="Google Shape;709;p25"/>
            <p:cNvPicPr preferRelativeResize="0"/>
            <p:nvPr/>
          </p:nvPicPr>
          <p:blipFill rotWithShape="1">
            <a:blip r:embed="rId6">
              <a:alphaModFix/>
            </a:blip>
            <a:srcRect b="0" l="0" r="0" t="0"/>
            <a:stretch/>
          </p:blipFill>
          <p:spPr>
            <a:xfrm>
              <a:off x="670542" y="4108704"/>
              <a:ext cx="341367" cy="341367"/>
            </a:xfrm>
            <a:prstGeom prst="rect">
              <a:avLst/>
            </a:prstGeom>
            <a:noFill/>
            <a:ln>
              <a:noFill/>
            </a:ln>
          </p:spPr>
        </p:pic>
        <p:sp>
          <p:nvSpPr>
            <p:cNvPr id="710" name="Google Shape;710;p25"/>
            <p:cNvSpPr/>
            <p:nvPr/>
          </p:nvSpPr>
          <p:spPr>
            <a:xfrm>
              <a:off x="1121634" y="4047744"/>
              <a:ext cx="10362900" cy="463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400"/>
                <a:buFont typeface="Calibri"/>
                <a:buNone/>
              </a:pPr>
              <a:r>
                <a:rPr b="1" i="0" lang="en-US" sz="1400" u="none" cap="none" strike="noStrike">
                  <a:solidFill>
                    <a:srgbClr val="F59E0B"/>
                  </a:solidFill>
                  <a:latin typeface="Calibri"/>
                  <a:ea typeface="Calibri"/>
                  <a:cs typeface="Calibri"/>
                  <a:sym typeface="Calibri"/>
                </a:rPr>
                <a:t>FCRT has shown zero improvement over 12 months</a:t>
              </a:r>
              <a:r>
                <a:rPr b="0" i="0" lang="en-US" sz="1400" u="none" cap="none" strike="noStrike">
                  <a:solidFill>
                    <a:srgbClr val="CBD5E1"/>
                  </a:solidFill>
                  <a:latin typeface="Calibri"/>
                  <a:ea typeface="Calibri"/>
                  <a:cs typeface="Calibri"/>
                  <a:sym typeface="Calibri"/>
                </a:rPr>
                <a:t> — Jan: 54.7 min → Dec: 57.5 min. The trend is</a:t>
              </a:r>
              <a:r>
                <a:rPr b="1" i="0" lang="en-US" sz="1400" u="none" cap="none" strike="noStrike">
                  <a:solidFill>
                    <a:srgbClr val="EF4444"/>
                  </a:solidFill>
                  <a:latin typeface="Calibri"/>
                  <a:ea typeface="Calibri"/>
                  <a:cs typeface="Calibri"/>
                  <a:sym typeface="Calibri"/>
                </a:rPr>
                <a:t> worsening</a:t>
              </a:r>
              <a:r>
                <a:rPr b="0" i="0" lang="en-US" sz="1400" u="none" cap="none" strike="noStrike">
                  <a:solidFill>
                    <a:srgbClr val="CBD5E1"/>
                  </a:solidFill>
                  <a:latin typeface="Calibri"/>
                  <a:ea typeface="Calibri"/>
                  <a:cs typeface="Calibri"/>
                  <a:sym typeface="Calibri"/>
                </a:rPr>
                <a:t>, not stagnant.</a:t>
              </a:r>
              <a:r>
                <a:rPr b="0" i="0" lang="en-US" sz="1400" u="none" cap="none" strike="noStrike">
                  <a:solidFill>
                    <a:srgbClr val="94A3B8"/>
                  </a:solidFill>
                  <a:latin typeface="Calibri"/>
                  <a:ea typeface="Calibri"/>
                  <a:cs typeface="Calibri"/>
                  <a:sym typeface="Calibri"/>
                </a:rPr>
                <a:t> Without intervention, this is where we will still be in 12 months.</a:t>
              </a:r>
              <a:endParaRPr b="0" i="0" sz="1400" u="none" cap="none" strike="noStrike">
                <a:solidFill>
                  <a:schemeClr val="dk1"/>
                </a:solidFill>
                <a:latin typeface="Calibri"/>
                <a:ea typeface="Calibri"/>
                <a:cs typeface="Calibri"/>
                <a:sym typeface="Calibri"/>
              </a:endParaRPr>
            </a:p>
          </p:txBody>
        </p:sp>
      </p:grpSp>
      <p:pic>
        <p:nvPicPr>
          <p:cNvPr id="711" name="Google Shape;711;p25"/>
          <p:cNvPicPr preferRelativeResize="0"/>
          <p:nvPr/>
        </p:nvPicPr>
        <p:blipFill rotWithShape="1">
          <a:blip r:embed="rId7">
            <a:alphaModFix/>
          </a:blip>
          <a:srcRect b="0" l="0" r="0" t="0"/>
          <a:stretch/>
        </p:blipFill>
        <p:spPr>
          <a:xfrm>
            <a:off x="548625" y="4608576"/>
            <a:ext cx="7071000" cy="1950900"/>
          </a:xfrm>
          <a:prstGeom prst="rect">
            <a:avLst/>
          </a:prstGeom>
          <a:noFill/>
          <a:ln>
            <a:noFill/>
          </a:ln>
        </p:spPr>
      </p:pic>
      <p:sp>
        <p:nvSpPr>
          <p:cNvPr id="712" name="Google Shape;712;p25"/>
          <p:cNvSpPr/>
          <p:nvPr/>
        </p:nvSpPr>
        <p:spPr>
          <a:xfrm>
            <a:off x="7802672" y="4608576"/>
            <a:ext cx="3840300" cy="1950900"/>
          </a:xfrm>
          <a:prstGeom prst="rect">
            <a:avLst/>
          </a:prstGeom>
          <a:solidFill>
            <a:srgbClr val="162436"/>
          </a:solidFill>
          <a:ln>
            <a:noFill/>
          </a:ln>
          <a:effectLst>
            <a:outerShdw blurRad="169330" rotWithShape="0" algn="bl" dir="8100000" dist="50799">
              <a:srgbClr val="000000">
                <a:alpha val="25099"/>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3" name="Google Shape;713;p25"/>
          <p:cNvSpPr/>
          <p:nvPr/>
        </p:nvSpPr>
        <p:spPr>
          <a:xfrm>
            <a:off x="7924589" y="4681728"/>
            <a:ext cx="3596700" cy="341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1200"/>
              <a:buFont typeface="Calibri"/>
              <a:buNone/>
            </a:pPr>
            <a:r>
              <a:rPr b="1" i="0" lang="en-US" sz="1200" u="none" cap="none" strike="noStrike">
                <a:solidFill>
                  <a:srgbClr val="F59E0B"/>
                </a:solidFill>
                <a:latin typeface="Calibri"/>
                <a:ea typeface="Calibri"/>
                <a:cs typeface="Calibri"/>
                <a:sym typeface="Calibri"/>
              </a:rPr>
              <a:t>EVERY WEEK OF DELAY</a:t>
            </a:r>
            <a:endParaRPr b="0" i="0" sz="1200" u="none" cap="none" strike="noStrike">
              <a:solidFill>
                <a:schemeClr val="dk1"/>
              </a:solidFill>
              <a:latin typeface="Calibri"/>
              <a:ea typeface="Calibri"/>
              <a:cs typeface="Calibri"/>
              <a:sym typeface="Calibri"/>
            </a:endParaRPr>
          </a:p>
        </p:txBody>
      </p:sp>
      <p:sp>
        <p:nvSpPr>
          <p:cNvPr id="714" name="Google Shape;714;p25"/>
          <p:cNvSpPr/>
          <p:nvPr/>
        </p:nvSpPr>
        <p:spPr>
          <a:xfrm>
            <a:off x="7924589" y="5084064"/>
            <a:ext cx="3596700" cy="365700"/>
          </a:xfrm>
          <a:prstGeom prst="rect">
            <a:avLst/>
          </a:prstGeom>
          <a:solidFill>
            <a:srgbClr val="1A2D4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5" name="Google Shape;715;p25"/>
          <p:cNvSpPr/>
          <p:nvPr/>
        </p:nvSpPr>
        <p:spPr>
          <a:xfrm>
            <a:off x="7985547" y="5084064"/>
            <a:ext cx="1219200" cy="365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F4444"/>
              </a:buClr>
              <a:buSzPts val="1700"/>
              <a:buFont typeface="Calibri"/>
              <a:buNone/>
            </a:pPr>
            <a:r>
              <a:rPr b="1" i="0" lang="en-US" sz="1700" u="none" cap="none" strike="noStrike">
                <a:solidFill>
                  <a:srgbClr val="EF4444"/>
                </a:solidFill>
                <a:latin typeface="Calibri"/>
                <a:ea typeface="Calibri"/>
                <a:cs typeface="Calibri"/>
                <a:sym typeface="Calibri"/>
              </a:rPr>
              <a:t>3,212</a:t>
            </a:r>
            <a:endParaRPr b="0" i="0" sz="1700" u="none" cap="none" strike="noStrike">
              <a:solidFill>
                <a:schemeClr val="dk1"/>
              </a:solidFill>
              <a:latin typeface="Calibri"/>
              <a:ea typeface="Calibri"/>
              <a:cs typeface="Calibri"/>
              <a:sym typeface="Calibri"/>
            </a:endParaRPr>
          </a:p>
        </p:txBody>
      </p:sp>
      <p:sp>
        <p:nvSpPr>
          <p:cNvPr id="716" name="Google Shape;716;p25"/>
          <p:cNvSpPr/>
          <p:nvPr/>
        </p:nvSpPr>
        <p:spPr>
          <a:xfrm>
            <a:off x="9265673" y="5084064"/>
            <a:ext cx="2194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1300"/>
              <a:buFont typeface="Calibri"/>
              <a:buNone/>
            </a:pPr>
            <a:r>
              <a:rPr b="0" i="0" lang="en-US" sz="1300" u="none" cap="none" strike="noStrike">
                <a:solidFill>
                  <a:srgbClr val="CBD5E1"/>
                </a:solidFill>
                <a:latin typeface="Calibri"/>
                <a:ea typeface="Calibri"/>
                <a:cs typeface="Calibri"/>
                <a:sym typeface="Calibri"/>
              </a:rPr>
              <a:t>agent-mins wasted</a:t>
            </a:r>
            <a:endParaRPr b="0" i="0" sz="1300" u="none" cap="none" strike="noStrike">
              <a:solidFill>
                <a:schemeClr val="dk1"/>
              </a:solidFill>
              <a:latin typeface="Calibri"/>
              <a:ea typeface="Calibri"/>
              <a:cs typeface="Calibri"/>
              <a:sym typeface="Calibri"/>
            </a:endParaRPr>
          </a:p>
        </p:txBody>
      </p:sp>
      <p:sp>
        <p:nvSpPr>
          <p:cNvPr id="717" name="Google Shape;717;p25"/>
          <p:cNvSpPr/>
          <p:nvPr/>
        </p:nvSpPr>
        <p:spPr>
          <a:xfrm>
            <a:off x="7924589" y="5535168"/>
            <a:ext cx="3596700" cy="365700"/>
          </a:xfrm>
          <a:prstGeom prst="rect">
            <a:avLst/>
          </a:prstGeom>
          <a:solidFill>
            <a:srgbClr val="1A2D4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8" name="Google Shape;718;p25"/>
          <p:cNvSpPr/>
          <p:nvPr/>
        </p:nvSpPr>
        <p:spPr>
          <a:xfrm>
            <a:off x="7985547" y="5535168"/>
            <a:ext cx="1219200" cy="365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F4444"/>
              </a:buClr>
              <a:buSzPts val="1700"/>
              <a:buFont typeface="Calibri"/>
              <a:buNone/>
            </a:pPr>
            <a:r>
              <a:rPr b="1" i="0" lang="en-US" sz="1700" u="none" cap="none" strike="noStrike">
                <a:solidFill>
                  <a:srgbClr val="EF4444"/>
                </a:solidFill>
                <a:latin typeface="Calibri"/>
                <a:ea typeface="Calibri"/>
                <a:cs typeface="Calibri"/>
                <a:sym typeface="Calibri"/>
              </a:rPr>
              <a:t>~8</a:t>
            </a:r>
            <a:endParaRPr b="0" i="0" sz="1700" u="none" cap="none" strike="noStrike">
              <a:solidFill>
                <a:schemeClr val="dk1"/>
              </a:solidFill>
              <a:latin typeface="Calibri"/>
              <a:ea typeface="Calibri"/>
              <a:cs typeface="Calibri"/>
              <a:sym typeface="Calibri"/>
            </a:endParaRPr>
          </a:p>
        </p:txBody>
      </p:sp>
      <p:sp>
        <p:nvSpPr>
          <p:cNvPr id="719" name="Google Shape;719;p25"/>
          <p:cNvSpPr/>
          <p:nvPr/>
        </p:nvSpPr>
        <p:spPr>
          <a:xfrm>
            <a:off x="9265673" y="5535168"/>
            <a:ext cx="2194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1300"/>
              <a:buFont typeface="Calibri"/>
              <a:buNone/>
            </a:pPr>
            <a:r>
              <a:rPr b="0" i="0" lang="en-US" sz="1300" u="none" cap="none" strike="noStrike">
                <a:solidFill>
                  <a:srgbClr val="CBD5E1"/>
                </a:solidFill>
                <a:latin typeface="Calibri"/>
                <a:ea typeface="Calibri"/>
                <a:cs typeface="Calibri"/>
                <a:sym typeface="Calibri"/>
              </a:rPr>
              <a:t>new SLA breaches</a:t>
            </a:r>
            <a:endParaRPr b="0" i="0" sz="1300" u="none" cap="none" strike="noStrike">
              <a:solidFill>
                <a:schemeClr val="dk1"/>
              </a:solidFill>
              <a:latin typeface="Calibri"/>
              <a:ea typeface="Calibri"/>
              <a:cs typeface="Calibri"/>
              <a:sym typeface="Calibri"/>
            </a:endParaRPr>
          </a:p>
        </p:txBody>
      </p:sp>
      <p:sp>
        <p:nvSpPr>
          <p:cNvPr id="720" name="Google Shape;720;p25"/>
          <p:cNvSpPr/>
          <p:nvPr/>
        </p:nvSpPr>
        <p:spPr>
          <a:xfrm>
            <a:off x="7924589" y="5986272"/>
            <a:ext cx="3596700" cy="365700"/>
          </a:xfrm>
          <a:prstGeom prst="rect">
            <a:avLst/>
          </a:prstGeom>
          <a:solidFill>
            <a:srgbClr val="1A2D4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21" name="Google Shape;721;p25"/>
          <p:cNvSpPr/>
          <p:nvPr/>
        </p:nvSpPr>
        <p:spPr>
          <a:xfrm>
            <a:off x="7985547" y="5986272"/>
            <a:ext cx="1219200" cy="365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F4444"/>
              </a:buClr>
              <a:buSzPts val="1700"/>
              <a:buFont typeface="Calibri"/>
              <a:buNone/>
            </a:pPr>
            <a:r>
              <a:rPr b="1" i="0" lang="en-US" sz="1700" u="none" cap="none" strike="noStrike">
                <a:solidFill>
                  <a:srgbClr val="EF4444"/>
                </a:solidFill>
                <a:latin typeface="Calibri"/>
                <a:ea typeface="Calibri"/>
                <a:cs typeface="Calibri"/>
                <a:sym typeface="Calibri"/>
              </a:rPr>
              <a:t>$2,348</a:t>
            </a:r>
            <a:endParaRPr b="0" i="0" sz="1700" u="none" cap="none" strike="noStrike">
              <a:solidFill>
                <a:schemeClr val="dk1"/>
              </a:solidFill>
              <a:latin typeface="Calibri"/>
              <a:ea typeface="Calibri"/>
              <a:cs typeface="Calibri"/>
              <a:sym typeface="Calibri"/>
            </a:endParaRPr>
          </a:p>
        </p:txBody>
      </p:sp>
      <p:sp>
        <p:nvSpPr>
          <p:cNvPr id="722" name="Google Shape;722;p25"/>
          <p:cNvSpPr/>
          <p:nvPr/>
        </p:nvSpPr>
        <p:spPr>
          <a:xfrm>
            <a:off x="9265673" y="5986272"/>
            <a:ext cx="2194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1300"/>
              <a:buFont typeface="Calibri"/>
              <a:buNone/>
            </a:pPr>
            <a:r>
              <a:rPr b="0" i="0" lang="en-US" sz="1300" u="none" cap="none" strike="noStrike">
                <a:solidFill>
                  <a:srgbClr val="CBD5E1"/>
                </a:solidFill>
                <a:latin typeface="Calibri"/>
                <a:ea typeface="Calibri"/>
                <a:cs typeface="Calibri"/>
                <a:sym typeface="Calibri"/>
              </a:rPr>
              <a:t>uncontrolled margin</a:t>
            </a:r>
            <a:endParaRPr b="0" i="0" sz="1300" u="none" cap="none" strike="noStrike">
              <a:solidFill>
                <a:schemeClr val="dk1"/>
              </a:solidFill>
              <a:latin typeface="Calibri"/>
              <a:ea typeface="Calibri"/>
              <a:cs typeface="Calibri"/>
              <a:sym typeface="Calibri"/>
            </a:endParaRPr>
          </a:p>
        </p:txBody>
      </p:sp>
      <p:sp>
        <p:nvSpPr>
          <p:cNvPr id="723" name="Google Shape;723;p25"/>
          <p:cNvSpPr/>
          <p:nvPr/>
        </p:nvSpPr>
        <p:spPr>
          <a:xfrm>
            <a:off x="548625" y="6461760"/>
            <a:ext cx="11094600" cy="268500"/>
          </a:xfrm>
          <a:prstGeom prst="rect">
            <a:avLst/>
          </a:prstGeom>
          <a:solidFill>
            <a:srgbClr val="EF4444">
              <a:alpha val="1490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24" name="Google Shape;724;p25"/>
          <p:cNvSpPr/>
          <p:nvPr/>
        </p:nvSpPr>
        <p:spPr>
          <a:xfrm>
            <a:off x="670542" y="6461760"/>
            <a:ext cx="10972500" cy="26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200"/>
              <a:buFont typeface="Calibri"/>
              <a:buNone/>
            </a:pPr>
            <a:r>
              <a:rPr b="0" i="0" lang="en-US" sz="1200" u="none" cap="none" strike="noStrike">
                <a:solidFill>
                  <a:srgbClr val="94A3B8"/>
                </a:solidFill>
                <a:latin typeface="Calibri"/>
                <a:ea typeface="Calibri"/>
                <a:cs typeface="Calibri"/>
                <a:sym typeface="Calibri"/>
              </a:rPr>
              <a:t>Every week Phase 1 is delayed = </a:t>
            </a:r>
            <a:r>
              <a:rPr b="1" i="0" lang="en-US" sz="1200" u="none" cap="none" strike="noStrike">
                <a:solidFill>
                  <a:srgbClr val="FFFFFF"/>
                </a:solidFill>
                <a:latin typeface="Calibri"/>
                <a:ea typeface="Calibri"/>
                <a:cs typeface="Calibri"/>
                <a:sym typeface="Calibri"/>
              </a:rPr>
              <a:t>3,212 avoidable agent-minutes</a:t>
            </a:r>
            <a:r>
              <a:rPr b="0" i="0" lang="en-US" sz="1200" u="none" cap="none" strike="noStrike">
                <a:solidFill>
                  <a:srgbClr val="94A3B8"/>
                </a:solidFill>
                <a:latin typeface="Calibri"/>
                <a:ea typeface="Calibri"/>
                <a:cs typeface="Calibri"/>
                <a:sym typeface="Calibri"/>
              </a:rPr>
              <a:t>  and  </a:t>
            </a:r>
            <a:r>
              <a:rPr b="1" i="0" lang="en-US" sz="1200" u="none" cap="none" strike="noStrike">
                <a:solidFill>
                  <a:srgbClr val="FFFFFF"/>
                </a:solidFill>
                <a:latin typeface="Calibri"/>
                <a:ea typeface="Calibri"/>
                <a:cs typeface="Calibri"/>
                <a:sym typeface="Calibri"/>
              </a:rPr>
              <a:t>~8 customers waiting 2+ hours for a decision that was already made.</a:t>
            </a:r>
            <a:endParaRPr b="0" i="0" sz="1200" u="none" cap="none" strike="noStrike">
              <a:solidFill>
                <a:schemeClr val="dk1"/>
              </a:solidFill>
              <a:latin typeface="Calibri"/>
              <a:ea typeface="Calibri"/>
              <a:cs typeface="Calibri"/>
              <a:sym typeface="Calibri"/>
            </a:endParaRPr>
          </a:p>
        </p:txBody>
      </p:sp>
      <p:pic>
        <p:nvPicPr>
          <p:cNvPr id="725" name="Google Shape;725;p25" title="Chart"/>
          <p:cNvPicPr preferRelativeResize="0"/>
          <p:nvPr/>
        </p:nvPicPr>
        <p:blipFill>
          <a:blip r:embed="rId8">
            <a:alphaModFix/>
          </a:blip>
          <a:stretch>
            <a:fillRect/>
          </a:stretch>
        </p:blipFill>
        <p:spPr>
          <a:xfrm>
            <a:off x="548625" y="4328887"/>
            <a:ext cx="7071001" cy="203861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pic>
        <p:nvPicPr>
          <p:cNvPr descr="make the text in the image concise and with proper alignment maintaining context" id="730" name="Google Shape;730;p26"/>
          <p:cNvPicPr preferRelativeResize="0"/>
          <p:nvPr/>
        </p:nvPicPr>
        <p:blipFill rotWithShape="1">
          <a:blip r:embed="rId3">
            <a:alphaModFix/>
          </a:blip>
          <a:srcRect b="2105" l="0" r="0" t="0"/>
          <a:stretch/>
        </p:blipFill>
        <p:spPr>
          <a:xfrm>
            <a:off x="-47800" y="0"/>
            <a:ext cx="12287250" cy="6858000"/>
          </a:xfrm>
          <a:prstGeom prst="rect">
            <a:avLst/>
          </a:prstGeom>
          <a:noFill/>
          <a:ln>
            <a:noFill/>
          </a:ln>
        </p:spPr>
      </p:pic>
      <p:grpSp>
        <p:nvGrpSpPr>
          <p:cNvPr id="731" name="Google Shape;731;p26"/>
          <p:cNvGrpSpPr/>
          <p:nvPr/>
        </p:nvGrpSpPr>
        <p:grpSpPr>
          <a:xfrm>
            <a:off x="0" y="6180723"/>
            <a:ext cx="11938635" cy="607804"/>
            <a:chOff x="365749" y="6426065"/>
            <a:chExt cx="11430000" cy="615000"/>
          </a:xfrm>
        </p:grpSpPr>
        <p:sp>
          <p:nvSpPr>
            <p:cNvPr id="732" name="Google Shape;732;p26"/>
            <p:cNvSpPr/>
            <p:nvPr/>
          </p:nvSpPr>
          <p:spPr>
            <a:xfrm>
              <a:off x="365749" y="6426065"/>
              <a:ext cx="11430000" cy="615000"/>
            </a:xfrm>
            <a:prstGeom prst="rect">
              <a:avLst/>
            </a:prstGeom>
            <a:solidFill>
              <a:srgbClr val="051A10"/>
            </a:solidFill>
            <a:ln>
              <a:noFill/>
            </a:ln>
            <a:effectLst>
              <a:outerShdw blurRad="41090" rotWithShape="0" dir="5400000" dist="23627">
                <a:srgbClr val="000000">
                  <a:alpha val="34900"/>
                </a:srgbClr>
              </a:outerShdw>
            </a:effectLst>
          </p:spPr>
          <p:txBody>
            <a:bodyPr anchorCtr="0" anchor="ctr" bIns="46950" lIns="93925" spcFirstLastPara="1" rIns="93925" wrap="square" tIns="46950">
              <a:noAutofit/>
            </a:bodyPr>
            <a:lstStyle/>
            <a:p>
              <a:pPr indent="0" lvl="0" marL="0" marR="0" rtl="0" algn="ctr">
                <a:spcBef>
                  <a:spcPts val="0"/>
                </a:spcBef>
                <a:spcAft>
                  <a:spcPts val="0"/>
                </a:spcAft>
                <a:buNone/>
              </a:pPr>
              <a:r>
                <a:t/>
              </a:r>
              <a:endParaRPr b="0" i="0" sz="1849" u="none" cap="none" strike="noStrike">
                <a:solidFill>
                  <a:schemeClr val="dk1"/>
                </a:solidFill>
                <a:latin typeface="Calibri"/>
                <a:ea typeface="Calibri"/>
                <a:cs typeface="Calibri"/>
                <a:sym typeface="Calibri"/>
              </a:endParaRPr>
            </a:p>
          </p:txBody>
        </p:sp>
        <p:sp>
          <p:nvSpPr>
            <p:cNvPr id="733" name="Google Shape;733;p26"/>
            <p:cNvSpPr txBox="1"/>
            <p:nvPr/>
          </p:nvSpPr>
          <p:spPr>
            <a:xfrm>
              <a:off x="548640" y="6519672"/>
              <a:ext cx="2103000" cy="224100"/>
            </a:xfrm>
            <a:prstGeom prst="rect">
              <a:avLst/>
            </a:prstGeom>
            <a:noFill/>
            <a:ln>
              <a:noFill/>
            </a:ln>
          </p:spPr>
          <p:txBody>
            <a:bodyPr anchorCtr="0" anchor="t" bIns="46950" lIns="93925" spcFirstLastPara="1" rIns="93925" wrap="square" tIns="46950">
              <a:spAutoFit/>
            </a:bodyPr>
            <a:lstStyle/>
            <a:p>
              <a:pPr indent="0" lvl="0" marL="0" marR="0" rtl="0" algn="ctr">
                <a:spcBef>
                  <a:spcPts val="0"/>
                </a:spcBef>
                <a:spcAft>
                  <a:spcPts val="0"/>
                </a:spcAft>
                <a:buNone/>
              </a:pPr>
              <a:r>
                <a:rPr b="0" i="0" lang="en-US" sz="822" u="none" cap="none" strike="noStrike">
                  <a:solidFill>
                    <a:srgbClr val="A0A0A0"/>
                  </a:solidFill>
                  <a:latin typeface="Calibri"/>
                  <a:ea typeface="Calibri"/>
                  <a:cs typeface="Calibri"/>
                  <a:sym typeface="Calibri"/>
                </a:rPr>
                <a:t>Agent-Minutes Saved</a:t>
              </a:r>
              <a:endParaRPr sz="1438"/>
            </a:p>
          </p:txBody>
        </p:sp>
        <p:sp>
          <p:nvSpPr>
            <p:cNvPr id="734" name="Google Shape;734;p26"/>
            <p:cNvSpPr txBox="1"/>
            <p:nvPr/>
          </p:nvSpPr>
          <p:spPr>
            <a:xfrm>
              <a:off x="548640" y="6748272"/>
              <a:ext cx="2103000" cy="288000"/>
            </a:xfrm>
            <a:prstGeom prst="rect">
              <a:avLst/>
            </a:prstGeom>
            <a:noFill/>
            <a:ln>
              <a:noFill/>
            </a:ln>
          </p:spPr>
          <p:txBody>
            <a:bodyPr anchorCtr="0" anchor="t" bIns="46950" lIns="93925" spcFirstLastPara="1" rIns="93925" wrap="square" tIns="46950">
              <a:spAutoFit/>
            </a:bodyPr>
            <a:lstStyle/>
            <a:p>
              <a:pPr indent="0" lvl="0" marL="0" marR="0" rtl="0" algn="ctr">
                <a:spcBef>
                  <a:spcPts val="0"/>
                </a:spcBef>
                <a:spcAft>
                  <a:spcPts val="0"/>
                </a:spcAft>
                <a:buNone/>
              </a:pPr>
              <a:r>
                <a:rPr b="1" i="0" lang="en-US" sz="1233" u="none" cap="none" strike="noStrike">
                  <a:solidFill>
                    <a:srgbClr val="2ECC71"/>
                  </a:solidFill>
                  <a:latin typeface="Calibri"/>
                  <a:ea typeface="Calibri"/>
                  <a:cs typeface="Calibri"/>
                  <a:sym typeface="Calibri"/>
                </a:rPr>
                <a:t>~167K min/yr</a:t>
              </a:r>
              <a:endParaRPr sz="1438"/>
            </a:p>
          </p:txBody>
        </p:sp>
        <p:sp>
          <p:nvSpPr>
            <p:cNvPr id="735" name="Google Shape;735;p26"/>
            <p:cNvSpPr txBox="1"/>
            <p:nvPr/>
          </p:nvSpPr>
          <p:spPr>
            <a:xfrm>
              <a:off x="2834640" y="6519672"/>
              <a:ext cx="2103000" cy="224100"/>
            </a:xfrm>
            <a:prstGeom prst="rect">
              <a:avLst/>
            </a:prstGeom>
            <a:noFill/>
            <a:ln>
              <a:noFill/>
            </a:ln>
          </p:spPr>
          <p:txBody>
            <a:bodyPr anchorCtr="0" anchor="t" bIns="46950" lIns="93925" spcFirstLastPara="1" rIns="93925" wrap="square" tIns="46950">
              <a:spAutoFit/>
            </a:bodyPr>
            <a:lstStyle/>
            <a:p>
              <a:pPr indent="0" lvl="0" marL="0" marR="0" rtl="0" algn="ctr">
                <a:spcBef>
                  <a:spcPts val="0"/>
                </a:spcBef>
                <a:spcAft>
                  <a:spcPts val="0"/>
                </a:spcAft>
                <a:buNone/>
              </a:pPr>
              <a:r>
                <a:rPr b="0" i="0" lang="en-US" sz="822" u="none" cap="none" strike="noStrike">
                  <a:solidFill>
                    <a:srgbClr val="A0A0A0"/>
                  </a:solidFill>
                  <a:latin typeface="Calibri"/>
                  <a:ea typeface="Calibri"/>
                  <a:cs typeface="Calibri"/>
                  <a:sym typeface="Calibri"/>
                </a:rPr>
                <a:t>SLA Breaches Eliminated</a:t>
              </a:r>
              <a:endParaRPr sz="1438"/>
            </a:p>
          </p:txBody>
        </p:sp>
        <p:sp>
          <p:nvSpPr>
            <p:cNvPr id="736" name="Google Shape;736;p26"/>
            <p:cNvSpPr txBox="1"/>
            <p:nvPr/>
          </p:nvSpPr>
          <p:spPr>
            <a:xfrm>
              <a:off x="2834640" y="6748272"/>
              <a:ext cx="2103000" cy="288000"/>
            </a:xfrm>
            <a:prstGeom prst="rect">
              <a:avLst/>
            </a:prstGeom>
            <a:noFill/>
            <a:ln>
              <a:noFill/>
            </a:ln>
          </p:spPr>
          <p:txBody>
            <a:bodyPr anchorCtr="0" anchor="t" bIns="46950" lIns="93925" spcFirstLastPara="1" rIns="93925" wrap="square" tIns="46950">
              <a:spAutoFit/>
            </a:bodyPr>
            <a:lstStyle/>
            <a:p>
              <a:pPr indent="0" lvl="0" marL="0" marR="0" rtl="0" algn="ctr">
                <a:spcBef>
                  <a:spcPts val="0"/>
                </a:spcBef>
                <a:spcAft>
                  <a:spcPts val="0"/>
                </a:spcAft>
                <a:buNone/>
              </a:pPr>
              <a:r>
                <a:rPr b="1" i="0" lang="en-US" sz="1233" u="none" cap="none" strike="noStrike">
                  <a:solidFill>
                    <a:srgbClr val="2ECC71"/>
                  </a:solidFill>
                  <a:latin typeface="Calibri"/>
                  <a:ea typeface="Calibri"/>
                  <a:cs typeface="Calibri"/>
                  <a:sym typeface="Calibri"/>
                </a:rPr>
                <a:t>403 → 0</a:t>
              </a:r>
              <a:endParaRPr sz="1438"/>
            </a:p>
          </p:txBody>
        </p:sp>
        <p:sp>
          <p:nvSpPr>
            <p:cNvPr id="737" name="Google Shape;737;p26"/>
            <p:cNvSpPr txBox="1"/>
            <p:nvPr/>
          </p:nvSpPr>
          <p:spPr>
            <a:xfrm>
              <a:off x="5120640" y="6519672"/>
              <a:ext cx="2103000" cy="224100"/>
            </a:xfrm>
            <a:prstGeom prst="rect">
              <a:avLst/>
            </a:prstGeom>
            <a:noFill/>
            <a:ln>
              <a:noFill/>
            </a:ln>
          </p:spPr>
          <p:txBody>
            <a:bodyPr anchorCtr="0" anchor="t" bIns="46950" lIns="93925" spcFirstLastPara="1" rIns="93925" wrap="square" tIns="46950">
              <a:spAutoFit/>
            </a:bodyPr>
            <a:lstStyle/>
            <a:p>
              <a:pPr indent="0" lvl="0" marL="0" marR="0" rtl="0" algn="ctr">
                <a:spcBef>
                  <a:spcPts val="0"/>
                </a:spcBef>
                <a:spcAft>
                  <a:spcPts val="0"/>
                </a:spcAft>
                <a:buNone/>
              </a:pPr>
              <a:r>
                <a:rPr b="0" i="0" lang="en-US" sz="822" u="none" cap="none" strike="noStrike">
                  <a:solidFill>
                    <a:srgbClr val="A0A0A0"/>
                  </a:solidFill>
                  <a:latin typeface="Calibri"/>
                  <a:ea typeface="Calibri"/>
                  <a:cs typeface="Calibri"/>
                  <a:sym typeface="Calibri"/>
                </a:rPr>
                <a:t>CSAT Uplift (Refundable)</a:t>
              </a:r>
              <a:endParaRPr sz="1438"/>
            </a:p>
          </p:txBody>
        </p:sp>
        <p:sp>
          <p:nvSpPr>
            <p:cNvPr id="738" name="Google Shape;738;p26"/>
            <p:cNvSpPr txBox="1"/>
            <p:nvPr/>
          </p:nvSpPr>
          <p:spPr>
            <a:xfrm>
              <a:off x="5120640" y="6748272"/>
              <a:ext cx="2103000" cy="288000"/>
            </a:xfrm>
            <a:prstGeom prst="rect">
              <a:avLst/>
            </a:prstGeom>
            <a:noFill/>
            <a:ln>
              <a:noFill/>
            </a:ln>
          </p:spPr>
          <p:txBody>
            <a:bodyPr anchorCtr="0" anchor="t" bIns="46950" lIns="93925" spcFirstLastPara="1" rIns="93925" wrap="square" tIns="46950">
              <a:spAutoFit/>
            </a:bodyPr>
            <a:lstStyle/>
            <a:p>
              <a:pPr indent="0" lvl="0" marL="0" marR="0" rtl="0" algn="ctr">
                <a:spcBef>
                  <a:spcPts val="0"/>
                </a:spcBef>
                <a:spcAft>
                  <a:spcPts val="0"/>
                </a:spcAft>
                <a:buNone/>
              </a:pPr>
              <a:r>
                <a:rPr b="1" i="0" lang="en-US" sz="1233" u="none" cap="none" strike="noStrike">
                  <a:solidFill>
                    <a:srgbClr val="2ECC71"/>
                  </a:solidFill>
                  <a:latin typeface="Calibri"/>
                  <a:ea typeface="Calibri"/>
                  <a:cs typeface="Calibri"/>
                  <a:sym typeface="Calibri"/>
                </a:rPr>
                <a:t>4.22 → 4.8+</a:t>
              </a:r>
              <a:endParaRPr sz="1438"/>
            </a:p>
          </p:txBody>
        </p:sp>
        <p:sp>
          <p:nvSpPr>
            <p:cNvPr id="739" name="Google Shape;739;p26"/>
            <p:cNvSpPr txBox="1"/>
            <p:nvPr/>
          </p:nvSpPr>
          <p:spPr>
            <a:xfrm>
              <a:off x="7406640" y="6519672"/>
              <a:ext cx="2103000" cy="224100"/>
            </a:xfrm>
            <a:prstGeom prst="rect">
              <a:avLst/>
            </a:prstGeom>
            <a:noFill/>
            <a:ln>
              <a:noFill/>
            </a:ln>
          </p:spPr>
          <p:txBody>
            <a:bodyPr anchorCtr="0" anchor="t" bIns="46950" lIns="93925" spcFirstLastPara="1" rIns="93925" wrap="square" tIns="46950">
              <a:spAutoFit/>
            </a:bodyPr>
            <a:lstStyle/>
            <a:p>
              <a:pPr indent="0" lvl="0" marL="0" marR="0" rtl="0" algn="ctr">
                <a:spcBef>
                  <a:spcPts val="0"/>
                </a:spcBef>
                <a:spcAft>
                  <a:spcPts val="0"/>
                </a:spcAft>
                <a:buNone/>
              </a:pPr>
              <a:r>
                <a:rPr b="0" i="0" lang="en-US" sz="822" u="none" cap="none" strike="noStrike">
                  <a:solidFill>
                    <a:srgbClr val="A0A0A0"/>
                  </a:solidFill>
                  <a:latin typeface="Calibri"/>
                  <a:ea typeface="Calibri"/>
                  <a:cs typeface="Calibri"/>
                  <a:sym typeface="Calibri"/>
                </a:rPr>
                <a:t>Margin Governed</a:t>
              </a:r>
              <a:endParaRPr sz="1438"/>
            </a:p>
          </p:txBody>
        </p:sp>
        <p:sp>
          <p:nvSpPr>
            <p:cNvPr id="740" name="Google Shape;740;p26"/>
            <p:cNvSpPr txBox="1"/>
            <p:nvPr/>
          </p:nvSpPr>
          <p:spPr>
            <a:xfrm>
              <a:off x="7406640" y="6748272"/>
              <a:ext cx="2103000" cy="288000"/>
            </a:xfrm>
            <a:prstGeom prst="rect">
              <a:avLst/>
            </a:prstGeom>
            <a:noFill/>
            <a:ln>
              <a:noFill/>
            </a:ln>
          </p:spPr>
          <p:txBody>
            <a:bodyPr anchorCtr="0" anchor="t" bIns="46950" lIns="93925" spcFirstLastPara="1" rIns="93925" wrap="square" tIns="46950">
              <a:spAutoFit/>
            </a:bodyPr>
            <a:lstStyle/>
            <a:p>
              <a:pPr indent="0" lvl="0" marL="0" marR="0" rtl="0" algn="ctr">
                <a:spcBef>
                  <a:spcPts val="0"/>
                </a:spcBef>
                <a:spcAft>
                  <a:spcPts val="0"/>
                </a:spcAft>
                <a:buNone/>
              </a:pPr>
              <a:r>
                <a:rPr b="1" i="0" lang="en-US" sz="1233" u="none" cap="none" strike="noStrike">
                  <a:solidFill>
                    <a:srgbClr val="F39C12"/>
                  </a:solidFill>
                  <a:latin typeface="Calibri"/>
                  <a:ea typeface="Calibri"/>
                  <a:cs typeface="Calibri"/>
                  <a:sym typeface="Calibri"/>
                </a:rPr>
                <a:t>$92K → Rule-based</a:t>
              </a:r>
              <a:endParaRPr sz="1438"/>
            </a:p>
          </p:txBody>
        </p:sp>
        <p:sp>
          <p:nvSpPr>
            <p:cNvPr id="741" name="Google Shape;741;p26"/>
            <p:cNvSpPr txBox="1"/>
            <p:nvPr/>
          </p:nvSpPr>
          <p:spPr>
            <a:xfrm>
              <a:off x="9692640" y="6519672"/>
              <a:ext cx="2103000" cy="224100"/>
            </a:xfrm>
            <a:prstGeom prst="rect">
              <a:avLst/>
            </a:prstGeom>
            <a:noFill/>
            <a:ln>
              <a:noFill/>
            </a:ln>
          </p:spPr>
          <p:txBody>
            <a:bodyPr anchorCtr="0" anchor="t" bIns="46950" lIns="93925" spcFirstLastPara="1" rIns="93925" wrap="square" tIns="46950">
              <a:spAutoFit/>
            </a:bodyPr>
            <a:lstStyle/>
            <a:p>
              <a:pPr indent="0" lvl="0" marL="0" marR="0" rtl="0" algn="ctr">
                <a:spcBef>
                  <a:spcPts val="0"/>
                </a:spcBef>
                <a:spcAft>
                  <a:spcPts val="0"/>
                </a:spcAft>
                <a:buNone/>
              </a:pPr>
              <a:r>
                <a:rPr b="0" i="0" lang="en-US" sz="822" u="none" cap="none" strike="noStrike">
                  <a:solidFill>
                    <a:srgbClr val="A0A0A0"/>
                  </a:solidFill>
                  <a:latin typeface="Calibri"/>
                  <a:ea typeface="Calibri"/>
                  <a:cs typeface="Calibri"/>
                  <a:sym typeface="Calibri"/>
                </a:rPr>
                <a:t>Engineering Cost</a:t>
              </a:r>
              <a:endParaRPr sz="1438"/>
            </a:p>
          </p:txBody>
        </p:sp>
        <p:sp>
          <p:nvSpPr>
            <p:cNvPr id="742" name="Google Shape;742;p26"/>
            <p:cNvSpPr txBox="1"/>
            <p:nvPr/>
          </p:nvSpPr>
          <p:spPr>
            <a:xfrm>
              <a:off x="9692640" y="6748272"/>
              <a:ext cx="2103000" cy="288000"/>
            </a:xfrm>
            <a:prstGeom prst="rect">
              <a:avLst/>
            </a:prstGeom>
            <a:noFill/>
            <a:ln>
              <a:noFill/>
            </a:ln>
          </p:spPr>
          <p:txBody>
            <a:bodyPr anchorCtr="0" anchor="t" bIns="46950" lIns="93925" spcFirstLastPara="1" rIns="93925" wrap="square" tIns="46950">
              <a:spAutoFit/>
            </a:bodyPr>
            <a:lstStyle/>
            <a:p>
              <a:pPr indent="0" lvl="0" marL="0" marR="0" rtl="0" algn="ctr">
                <a:spcBef>
                  <a:spcPts val="0"/>
                </a:spcBef>
                <a:spcAft>
                  <a:spcPts val="0"/>
                </a:spcAft>
                <a:buNone/>
              </a:pPr>
              <a:r>
                <a:rPr b="1" i="0" lang="en-US" sz="1233" u="none" cap="none" strike="noStrike">
                  <a:solidFill>
                    <a:srgbClr val="1B998B"/>
                  </a:solidFill>
                  <a:latin typeface="Calibri"/>
                  <a:ea typeface="Calibri"/>
                  <a:cs typeface="Calibri"/>
                  <a:sym typeface="Calibri"/>
                </a:rPr>
                <a:t>~5 months phased</a:t>
              </a:r>
              <a:endParaRPr sz="1438"/>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746" name="Shape 746"/>
        <p:cNvGrpSpPr/>
        <p:nvPr/>
      </p:nvGrpSpPr>
      <p:grpSpPr>
        <a:xfrm>
          <a:off x="0" y="0"/>
          <a:ext cx="0" cy="0"/>
          <a:chOff x="0" y="0"/>
          <a:chExt cx="0" cy="0"/>
        </a:xfrm>
      </p:grpSpPr>
      <p:sp>
        <p:nvSpPr>
          <p:cNvPr id="747" name="Google Shape;747;p27"/>
          <p:cNvSpPr/>
          <p:nvPr/>
        </p:nvSpPr>
        <p:spPr>
          <a:xfrm>
            <a:off x="0" y="0"/>
            <a:ext cx="12191695" cy="73152"/>
          </a:xfrm>
          <a:prstGeom prst="rect">
            <a:avLst/>
          </a:prstGeom>
          <a:solidFill>
            <a:srgbClr val="1B998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48" name="Google Shape;748;p27"/>
          <p:cNvSpPr txBox="1"/>
          <p:nvPr/>
        </p:nvSpPr>
        <p:spPr>
          <a:xfrm>
            <a:off x="457200" y="274320"/>
            <a:ext cx="109728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200" u="none" cap="none" strike="noStrike">
                <a:solidFill>
                  <a:srgbClr val="FFFFFF"/>
                </a:solidFill>
                <a:latin typeface="Calibri"/>
                <a:ea typeface="Calibri"/>
                <a:cs typeface="Calibri"/>
                <a:sym typeface="Calibri"/>
              </a:rPr>
              <a:t>Next Steps: 90-Day Roadmap to Refund Process Transformation</a:t>
            </a:r>
            <a:endParaRPr/>
          </a:p>
        </p:txBody>
      </p:sp>
      <p:sp>
        <p:nvSpPr>
          <p:cNvPr id="749" name="Google Shape;749;p27"/>
          <p:cNvSpPr/>
          <p:nvPr/>
        </p:nvSpPr>
        <p:spPr>
          <a:xfrm>
            <a:off x="457200" y="1005840"/>
            <a:ext cx="731520" cy="36576"/>
          </a:xfrm>
          <a:prstGeom prst="rect">
            <a:avLst/>
          </a:prstGeom>
          <a:solidFill>
            <a:srgbClr val="1B998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50" name="Google Shape;750;p27"/>
          <p:cNvSpPr/>
          <p:nvPr/>
        </p:nvSpPr>
        <p:spPr>
          <a:xfrm>
            <a:off x="457200" y="1371600"/>
            <a:ext cx="11247120" cy="141732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51" name="Google Shape;751;p27"/>
          <p:cNvSpPr/>
          <p:nvPr/>
        </p:nvSpPr>
        <p:spPr>
          <a:xfrm>
            <a:off x="457200" y="1371600"/>
            <a:ext cx="54864" cy="1417320"/>
          </a:xfrm>
          <a:prstGeom prst="rect">
            <a:avLst/>
          </a:prstGeom>
          <a:solidFill>
            <a:srgbClr val="2ECC71"/>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52" name="Google Shape;752;p27"/>
          <p:cNvSpPr txBox="1"/>
          <p:nvPr/>
        </p:nvSpPr>
        <p:spPr>
          <a:xfrm>
            <a:off x="731520" y="1444752"/>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2ECC71"/>
                </a:solidFill>
                <a:latin typeface="Calibri"/>
                <a:ea typeface="Calibri"/>
                <a:cs typeface="Calibri"/>
                <a:sym typeface="Calibri"/>
              </a:rPr>
              <a:t>PHASE 1: WEEKS 1-4</a:t>
            </a:r>
            <a:endParaRPr/>
          </a:p>
        </p:txBody>
      </p:sp>
      <p:sp>
        <p:nvSpPr>
          <p:cNvPr id="753" name="Google Shape;753;p27"/>
          <p:cNvSpPr txBox="1"/>
          <p:nvPr/>
        </p:nvSpPr>
        <p:spPr>
          <a:xfrm>
            <a:off x="731520" y="1783080"/>
            <a:ext cx="1051560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FFFFFF"/>
                </a:solidFill>
                <a:latin typeface="Calibri"/>
                <a:ea typeface="Calibri"/>
                <a:cs typeface="Calibri"/>
                <a:sym typeface="Calibri"/>
              </a:rPr>
              <a:t>→ Deploy auto-approval for refundable bookings (OPT #1)</a:t>
            </a:r>
            <a:endParaRPr/>
          </a:p>
        </p:txBody>
      </p:sp>
      <p:sp>
        <p:nvSpPr>
          <p:cNvPr id="754" name="Google Shape;754;p27"/>
          <p:cNvSpPr txBox="1"/>
          <p:nvPr/>
        </p:nvSpPr>
        <p:spPr>
          <a:xfrm>
            <a:off x="731520" y="2039112"/>
            <a:ext cx="1051560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FFFFFF"/>
                </a:solidFill>
                <a:latin typeface="Calibri"/>
                <a:ea typeface="Calibri"/>
                <a:cs typeface="Calibri"/>
                <a:sym typeface="Calibri"/>
              </a:rPr>
              <a:t>→ Configure rule: IF cancellation_policy = refundable → auto-approve + initiate refund</a:t>
            </a:r>
            <a:endParaRPr/>
          </a:p>
        </p:txBody>
      </p:sp>
      <p:sp>
        <p:nvSpPr>
          <p:cNvPr id="755" name="Google Shape;755;p27"/>
          <p:cNvSpPr txBox="1"/>
          <p:nvPr/>
        </p:nvSpPr>
        <p:spPr>
          <a:xfrm>
            <a:off x="731520" y="2295144"/>
            <a:ext cx="1051560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FFFFFF"/>
                </a:solidFill>
                <a:latin typeface="Calibri"/>
                <a:ea typeface="Calibri"/>
                <a:cs typeface="Calibri"/>
                <a:sym typeface="Calibri"/>
              </a:rPr>
              <a:t>→ Expected: 1,762 cases removed from agent queue immediately</a:t>
            </a:r>
            <a:endParaRPr/>
          </a:p>
        </p:txBody>
      </p:sp>
      <p:sp>
        <p:nvSpPr>
          <p:cNvPr id="756" name="Google Shape;756;p27"/>
          <p:cNvSpPr txBox="1"/>
          <p:nvPr/>
        </p:nvSpPr>
        <p:spPr>
          <a:xfrm>
            <a:off x="731520" y="2551176"/>
            <a:ext cx="1051560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FFFFFF"/>
                </a:solidFill>
                <a:latin typeface="Calibri"/>
                <a:ea typeface="Calibri"/>
                <a:cs typeface="Calibri"/>
                <a:sym typeface="Calibri"/>
              </a:rPr>
              <a:t>→ KPI: FCRT for refundable → &lt;1 min | CSAT → 4.8+ | Agent capacity +35%</a:t>
            </a:r>
            <a:endParaRPr/>
          </a:p>
        </p:txBody>
      </p:sp>
      <p:sp>
        <p:nvSpPr>
          <p:cNvPr id="757" name="Google Shape;757;p27"/>
          <p:cNvSpPr/>
          <p:nvPr/>
        </p:nvSpPr>
        <p:spPr>
          <a:xfrm>
            <a:off x="457200" y="2926080"/>
            <a:ext cx="11247120" cy="141732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58" name="Google Shape;758;p27"/>
          <p:cNvSpPr/>
          <p:nvPr/>
        </p:nvSpPr>
        <p:spPr>
          <a:xfrm>
            <a:off x="457200" y="2926080"/>
            <a:ext cx="54864" cy="1417320"/>
          </a:xfrm>
          <a:prstGeom prst="rect">
            <a:avLst/>
          </a:prstGeom>
          <a:solidFill>
            <a:srgbClr val="F39C1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59" name="Google Shape;759;p27"/>
          <p:cNvSpPr txBox="1"/>
          <p:nvPr/>
        </p:nvSpPr>
        <p:spPr>
          <a:xfrm>
            <a:off x="731520" y="2999232"/>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F39C12"/>
                </a:solidFill>
                <a:latin typeface="Calibri"/>
                <a:ea typeface="Calibri"/>
                <a:cs typeface="Calibri"/>
                <a:sym typeface="Calibri"/>
              </a:rPr>
              <a:t>PHASE 2: WEEKS 5-8</a:t>
            </a:r>
            <a:endParaRPr/>
          </a:p>
        </p:txBody>
      </p:sp>
      <p:sp>
        <p:nvSpPr>
          <p:cNvPr id="760" name="Google Shape;760;p27"/>
          <p:cNvSpPr txBox="1"/>
          <p:nvPr/>
        </p:nvSpPr>
        <p:spPr>
          <a:xfrm>
            <a:off x="731520" y="3337560"/>
            <a:ext cx="1051560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FFFFFF"/>
                </a:solidFill>
                <a:latin typeface="Calibri"/>
                <a:ea typeface="Calibri"/>
                <a:cs typeface="Calibri"/>
                <a:sym typeface="Calibri"/>
              </a:rPr>
              <a:t>→ Migrate email NR workflow to chat/messaging (OPT #2)</a:t>
            </a:r>
            <a:endParaRPr/>
          </a:p>
        </p:txBody>
      </p:sp>
      <p:sp>
        <p:nvSpPr>
          <p:cNvPr id="761" name="Google Shape;761;p27"/>
          <p:cNvSpPr txBox="1"/>
          <p:nvPr/>
        </p:nvSpPr>
        <p:spPr>
          <a:xfrm>
            <a:off x="731520" y="3593592"/>
            <a:ext cx="1051560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FFFFFF"/>
                </a:solidFill>
                <a:latin typeface="Calibri"/>
                <a:ea typeface="Calibri"/>
                <a:cs typeface="Calibri"/>
                <a:sym typeface="Calibri"/>
              </a:rPr>
              <a:t>→ Build NR decision-tree chatbot with escalation to live agent</a:t>
            </a:r>
            <a:endParaRPr/>
          </a:p>
        </p:txBody>
      </p:sp>
      <p:sp>
        <p:nvSpPr>
          <p:cNvPr id="762" name="Google Shape;762;p27"/>
          <p:cNvSpPr txBox="1"/>
          <p:nvPr/>
        </p:nvSpPr>
        <p:spPr>
          <a:xfrm>
            <a:off x="731520" y="3849624"/>
            <a:ext cx="1051560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FFFFFF"/>
                </a:solidFill>
                <a:latin typeface="Calibri"/>
                <a:ea typeface="Calibri"/>
                <a:cs typeface="Calibri"/>
                <a:sym typeface="Calibri"/>
              </a:rPr>
              <a:t>→ Redirect email NR requests to chat — sunset email for refund requests</a:t>
            </a:r>
            <a:endParaRPr/>
          </a:p>
        </p:txBody>
      </p:sp>
      <p:sp>
        <p:nvSpPr>
          <p:cNvPr id="763" name="Google Shape;763;p27"/>
          <p:cNvSpPr txBox="1"/>
          <p:nvPr/>
        </p:nvSpPr>
        <p:spPr>
          <a:xfrm>
            <a:off x="731520" y="4105656"/>
            <a:ext cx="1051560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FFFFFF"/>
                </a:solidFill>
                <a:latin typeface="Calibri"/>
                <a:ea typeface="Calibri"/>
                <a:cs typeface="Calibri"/>
                <a:sym typeface="Calibri"/>
              </a:rPr>
              <a:t>→ KPI: SLA breaches → 0 | Email NR FCRT: 119 → 15 min | CSAT: 2.3 → 3.0+</a:t>
            </a:r>
            <a:endParaRPr/>
          </a:p>
        </p:txBody>
      </p:sp>
      <p:sp>
        <p:nvSpPr>
          <p:cNvPr id="764" name="Google Shape;764;p27"/>
          <p:cNvSpPr/>
          <p:nvPr/>
        </p:nvSpPr>
        <p:spPr>
          <a:xfrm>
            <a:off x="457200" y="4480560"/>
            <a:ext cx="11247120" cy="1417320"/>
          </a:xfrm>
          <a:prstGeom prst="rect">
            <a:avLst/>
          </a:prstGeom>
          <a:solidFill>
            <a:srgbClr val="152538"/>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65" name="Google Shape;765;p27"/>
          <p:cNvSpPr/>
          <p:nvPr/>
        </p:nvSpPr>
        <p:spPr>
          <a:xfrm>
            <a:off x="457200" y="4480560"/>
            <a:ext cx="54864" cy="1417320"/>
          </a:xfrm>
          <a:prstGeom prst="rect">
            <a:avLst/>
          </a:prstGeom>
          <a:solidFill>
            <a:srgbClr val="3498D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66" name="Google Shape;766;p27"/>
          <p:cNvSpPr txBox="1"/>
          <p:nvPr/>
        </p:nvSpPr>
        <p:spPr>
          <a:xfrm>
            <a:off x="731520" y="4553712"/>
            <a:ext cx="105156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3498DB"/>
                </a:solidFill>
                <a:latin typeface="Calibri"/>
                <a:ea typeface="Calibri"/>
                <a:cs typeface="Calibri"/>
                <a:sym typeface="Calibri"/>
              </a:rPr>
              <a:t>PHASE 3: WEEKS 9-12</a:t>
            </a:r>
            <a:endParaRPr/>
          </a:p>
        </p:txBody>
      </p:sp>
      <p:sp>
        <p:nvSpPr>
          <p:cNvPr id="767" name="Google Shape;767;p27"/>
          <p:cNvSpPr txBox="1"/>
          <p:nvPr/>
        </p:nvSpPr>
        <p:spPr>
          <a:xfrm>
            <a:off x="731520" y="4892040"/>
            <a:ext cx="1051560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FFFFFF"/>
                </a:solidFill>
                <a:latin typeface="Calibri"/>
                <a:ea typeface="Calibri"/>
                <a:cs typeface="Calibri"/>
                <a:sym typeface="Calibri"/>
              </a:rPr>
              <a:t>→ Launch NR exception rule engine (OPT #3)</a:t>
            </a:r>
            <a:endParaRPr/>
          </a:p>
        </p:txBody>
      </p:sp>
      <p:sp>
        <p:nvSpPr>
          <p:cNvPr id="768" name="Google Shape;768;p27"/>
          <p:cNvSpPr txBox="1"/>
          <p:nvPr/>
        </p:nvSpPr>
        <p:spPr>
          <a:xfrm>
            <a:off x="731520" y="5148072"/>
            <a:ext cx="1051560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FFFFFF"/>
                </a:solidFill>
                <a:latin typeface="Calibri"/>
                <a:ea typeface="Calibri"/>
                <a:cs typeface="Calibri"/>
                <a:sym typeface="Calibri"/>
              </a:rPr>
              <a:t>→ Implement auto-approve rules for top-5 compassionate reasons + doc verification</a:t>
            </a:r>
            <a:endParaRPr/>
          </a:p>
        </p:txBody>
      </p:sp>
      <p:sp>
        <p:nvSpPr>
          <p:cNvPr id="769" name="Google Shape;769;p27"/>
          <p:cNvSpPr txBox="1"/>
          <p:nvPr/>
        </p:nvSpPr>
        <p:spPr>
          <a:xfrm>
            <a:off x="731520" y="5404104"/>
            <a:ext cx="1051560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FFFFFF"/>
                </a:solidFill>
                <a:latin typeface="Calibri"/>
                <a:ea typeface="Calibri"/>
                <a:cs typeface="Calibri"/>
                <a:sym typeface="Calibri"/>
              </a:rPr>
              <a:t>→ Build escalation queue for non-standard NR exceptions (268 cases/yr)</a:t>
            </a:r>
            <a:endParaRPr/>
          </a:p>
        </p:txBody>
      </p:sp>
      <p:sp>
        <p:nvSpPr>
          <p:cNvPr id="770" name="Google Shape;770;p27"/>
          <p:cNvSpPr txBox="1"/>
          <p:nvPr/>
        </p:nvSpPr>
        <p:spPr>
          <a:xfrm>
            <a:off x="731520" y="5660136"/>
            <a:ext cx="1051560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FFFFFF"/>
                </a:solidFill>
                <a:latin typeface="Calibri"/>
                <a:ea typeface="Calibri"/>
                <a:cs typeface="Calibri"/>
                <a:sym typeface="Calibri"/>
              </a:rPr>
              <a:t>→ KPI: NR exception FCRT: 74 → 15 min | Margin governance: $92K under rules</a:t>
            </a:r>
            <a:endParaRPr/>
          </a:p>
        </p:txBody>
      </p:sp>
      <p:sp>
        <p:nvSpPr>
          <p:cNvPr id="771" name="Google Shape;771;p27"/>
          <p:cNvSpPr/>
          <p:nvPr/>
        </p:nvSpPr>
        <p:spPr>
          <a:xfrm>
            <a:off x="457200" y="6126480"/>
            <a:ext cx="11247120" cy="548640"/>
          </a:xfrm>
          <a:prstGeom prst="rect">
            <a:avLst/>
          </a:prstGeom>
          <a:solidFill>
            <a:srgbClr val="1B998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72" name="Google Shape;772;p27"/>
          <p:cNvSpPr txBox="1"/>
          <p:nvPr/>
        </p:nvSpPr>
        <p:spPr>
          <a:xfrm>
            <a:off x="640080" y="6172200"/>
            <a:ext cx="1078992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400" u="none" cap="none" strike="noStrike">
                <a:solidFill>
                  <a:srgbClr val="FFFFFF"/>
                </a:solidFill>
                <a:latin typeface="Calibri"/>
                <a:ea typeface="Calibri"/>
                <a:cs typeface="Calibri"/>
                <a:sym typeface="Calibri"/>
              </a:rPr>
              <a:t>ASK: Approve 90-day pilot for Phase 1 (auto-approve refundable) — zero risk, immediate ROI, 35% agent capacity unlock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776" name="Shape 776"/>
        <p:cNvGrpSpPr/>
        <p:nvPr/>
      </p:nvGrpSpPr>
      <p:grpSpPr>
        <a:xfrm>
          <a:off x="0" y="0"/>
          <a:ext cx="0" cy="0"/>
          <a:chOff x="0" y="0"/>
          <a:chExt cx="0" cy="0"/>
        </a:xfrm>
      </p:grpSpPr>
      <p:sp>
        <p:nvSpPr>
          <p:cNvPr id="777" name="Google Shape;777;p28"/>
          <p:cNvSpPr/>
          <p:nvPr/>
        </p:nvSpPr>
        <p:spPr>
          <a:xfrm>
            <a:off x="0" y="0"/>
            <a:ext cx="12191700" cy="73200"/>
          </a:xfrm>
          <a:prstGeom prst="rect">
            <a:avLst/>
          </a:prstGeom>
          <a:solidFill>
            <a:srgbClr val="1B998B"/>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78" name="Google Shape;778;p28"/>
          <p:cNvSpPr txBox="1"/>
          <p:nvPr/>
        </p:nvSpPr>
        <p:spPr>
          <a:xfrm>
            <a:off x="2214100" y="3111550"/>
            <a:ext cx="7426500" cy="477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500">
                <a:solidFill>
                  <a:srgbClr val="FFFFFF"/>
                </a:solidFill>
                <a:latin typeface="Calibri"/>
                <a:ea typeface="Calibri"/>
                <a:cs typeface="Calibri"/>
                <a:sym typeface="Calibri"/>
              </a:rPr>
              <a:t>Thank You!</a:t>
            </a:r>
            <a:endParaRPr sz="1700"/>
          </a:p>
        </p:txBody>
      </p:sp>
      <p:pic>
        <p:nvPicPr>
          <p:cNvPr descr="Free punctuation marks photos | Hippopx" id="779" name="Google Shape;779;p28"/>
          <p:cNvPicPr preferRelativeResize="0"/>
          <p:nvPr/>
        </p:nvPicPr>
        <p:blipFill>
          <a:blip r:embed="rId3">
            <a:alphaModFix/>
          </a:blip>
          <a:stretch>
            <a:fillRect/>
          </a:stretch>
        </p:blipFill>
        <p:spPr>
          <a:xfrm>
            <a:off x="4323825" y="3772625"/>
            <a:ext cx="3333750" cy="22193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